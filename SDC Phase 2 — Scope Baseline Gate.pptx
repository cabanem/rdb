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2 is already approved. This meeting ratifies what phase 2 means: the scope baseline. Say that in one sentence and move to the next slide, which lists exactly what is being decided.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three decisions aloud, then the change-control line, then the "not decided today" line. Name the change authority by name and role. Saying "that includes changes I propose" out loud is deliberate: it tells the room the baseline is real and that you are bound by it too. Do not open the content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baseline. Walk the four groups in ten seconds each. Point out the D markers: those three elements need an answer from this room before they are baselined. Everything else is proposed as written in the register. The next three slides are the detail, one group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in one breath, left to right: what we will do, the test that closes it, what the supplier will notice. The "done when" column is the one to get agreement on; if someone disputes a test, that is the useful conversation. The footnote is the out-of-scope items a stakeholder might be expecting; the full in/out list is in appendix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reading pattern as the previous slide. R06 is the large element here and carries decision D3. R08–R10 are small and independent; if anyone wants to trade scope, these are not where the leverage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slide that shows how, because it is the largest element and R03 and R11 depend on it. Keep it at the level of the picture: one task becomes several versioned tasks. Do not describe recipes. The bottom row is the same two columns the other groups have, so the slide still answers "done when" and "what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expectation-setting slide: surface the surprises on purpose, especially the "no longer accepted" list. Pause here. If something on the right-hand column makes someone uncomfortable, better to hear it now. Close with the change route so the room knows where requests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so the room can see that the functionality changes on the previous slide are grounded, and so nobody later says they did not know it would touch X. Keep it at the box level. If asked how a part works, answer in one sentence and offer the detail at the next gate; the footnote says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about the shape of the approval: the element is in scope now, with a placeholder where its definition goes. The dark bar matters for the change authority: completing a planned placeholder is not a change request, so they are not asked to rule on things that were always scheduled. Name the SMEs so the room knows whose time the definition work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D1–D3 first; each answer fixes an element's shape, and the register updates this week. Then walk the table row by row and record the outcome per row. Reviewers in a gated process need discrete items to record, not "the deck was approved." If an answer cannot be given today, record the owner and date; it becomes a gate condition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Restate the ask, offer the four gate outcomes, and close. Do not reopen the content. Whatever the outcome, say what they will see at the next gate and when. Record the change authority of record and the baseline version aloud so it is in the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only. Use when a stakeholder asks whether a specific thing is included.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only. R07's lines are a proposal; confirm the supplier-training exclusion with the training owner before the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Decisions are made at the gates; the monthly reporting between them is status, not decision. If asked for dates, give the month and say the dates are fixed at the definition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Sizes justify the planning classes without explaining the build. These are rough-order-of-magnitude; the definition gate replaces them with ranges the room can hold you to. If someone asks for a date from this slide, point to appendix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89794"/>
            <a:ext cx="10566400" cy="749846"/>
          </a:xfrm>
          <a:prstGeom prst="rect">
            <a:avLst/>
          </a:prstGeom>
          <a:noFill/>
          <a:ln/>
        </p:spPr>
        <p:txBody>
          <a:bodyPr wrap="square" lIns="0" tIns="0" rIns="0" bIns="0" rtlCol="0" anchor="t"/>
          <a:lstStyle>
            <a:lvl1pPr algn="l" indent="0" marL="0">
              <a:lnSpc>
                <a:spcPct val="115000"/>
              </a:lnSpc>
              <a:buNone/>
              <a:defRPr lang="en-US" sz="2810" dirty="0">
                <a:solidFill>
                  <a:srgbClr val="1B2A41"/>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2810" dirty="0"/>
          </a:p>
        </p:txBody>
      </p:sp>
      <p:sp>
        <p:nvSpPr>
          <p:cNvPr id="3" name="Text Placeholder 2"/>
          <p:cNvSpPr/>
          <p:nvPr>
            <p:ph idx="101" type="body"/>
          </p:nvPr>
        </p:nvSpPr>
        <p:spPr>
          <a:xfrm>
            <a:off x="812800" y="2344440"/>
            <a:ext cx="10566400" cy="3700760"/>
          </a:xfrm>
          <a:prstGeom prst="rect">
            <a:avLst/>
          </a:prstGeom>
          <a:noFill/>
          <a:ln/>
        </p:spPr>
        <p:txBody>
          <a:bodyPr wrap="square" lIns="0" tIns="0" rIns="0" bIns="0" rtlCol="0" anchor="t"/>
          <a:lstStyle>
            <a:lvl1pPr algn="l" indent="0" marL="0">
              <a:lnSpc>
                <a:spcPct val="140000"/>
              </a:lnSpc>
              <a:buNone/>
              <a:defRPr lang="en-US" sz="1600" dirty="0">
                <a:solidFill>
                  <a:srgbClr val="1B2A41"/>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89794"/>
            <a:ext cx="10566400" cy="749846"/>
          </a:xfrm>
          <a:prstGeom prst="rect">
            <a:avLst/>
          </a:prstGeom>
          <a:noFill/>
          <a:ln/>
        </p:spPr>
        <p:txBody>
          <a:bodyPr wrap="square" lIns="0" tIns="0" rIns="0" bIns="0" rtlCol="0" anchor="t"/>
          <a:lstStyle>
            <a:lvl1pPr algn="l" indent="0" marL="0">
              <a:lnSpc>
                <a:spcPct val="115000"/>
              </a:lnSpc>
              <a:buNone/>
              <a:defRPr lang="en-US" sz="2810" dirty="0">
                <a:solidFill>
                  <a:srgbClr val="1B2A41"/>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2810" dirty="0"/>
          </a:p>
        </p:txBody>
      </p:sp>
      <p:sp>
        <p:nvSpPr>
          <p:cNvPr id="3" name="Text Placeholder 2"/>
          <p:cNvSpPr/>
          <p:nvPr>
            <p:ph idx="101" type="body"/>
          </p:nvPr>
        </p:nvSpPr>
        <p:spPr>
          <a:xfrm>
            <a:off x="812800" y="2344440"/>
            <a:ext cx="10566400" cy="3700760"/>
          </a:xfrm>
          <a:prstGeom prst="rect">
            <a:avLst/>
          </a:prstGeom>
          <a:noFill/>
          <a:ln/>
        </p:spPr>
        <p:txBody>
          <a:bodyPr wrap="square" lIns="0" tIns="0" rIns="0" bIns="0" rtlCol="0" anchor="t"/>
          <a:lstStyle>
            <a:lvl1pPr algn="l" indent="0" marL="0">
              <a:lnSpc>
                <a:spcPct val="140000"/>
              </a:lnSpc>
              <a:buNone/>
              <a:defRPr lang="en-US" sz="1600" dirty="0">
                <a:solidFill>
                  <a:srgbClr val="1B2A41"/>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1"/>
        </a:solidFill>
      </p:bgPr>
    </p:bg>
    <p:spTree>
      <p:nvGrpSpPr>
        <p:cNvPr id="1" name=""/>
        <p:cNvGrpSpPr/>
        <p:nvPr/>
      </p:nvGrpSpPr>
      <p:grpSpPr>
        <a:xfrm>
          <a:off x="0" y="0"/>
          <a:ext cx="0" cy="0"/>
          <a:chOff x="0" y="0"/>
          <a:chExt cx="0" cy="0"/>
        </a:xfrm>
      </p:grpSpPr>
      <p:sp>
        <p:nvSpPr>
          <p:cNvPr id="2" name="Text 0"/>
          <p:cNvSpPr/>
          <p:nvPr/>
        </p:nvSpPr>
        <p:spPr>
          <a:xfrm>
            <a:off x="812800" y="8128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spc="100" kern="0" dirty="0">
                <a:solidFill>
                  <a:srgbClr val="E39A5B"/>
                </a:solidFill>
                <a:latin typeface="IBM Plex Sans" pitchFamily="34" charset="0"/>
                <a:ea typeface="IBM Plex Sans" pitchFamily="34" charset="-122"/>
                <a:cs typeface="IBM Plex Sans" pitchFamily="34" charset="-120"/>
              </a:rPr>
              <a:t>SUPPLIER DATA COLLECTION · PHASE 2</a:t>
            </a:r>
            <a:endParaRPr lang="en-US" sz="1500" dirty="0"/>
          </a:p>
        </p:txBody>
      </p:sp>
      <p:sp>
        <p:nvSpPr>
          <p:cNvPr id="3" name="Text 1"/>
          <p:cNvSpPr/>
          <p:nvPr>
            <p:ph type="title"/>
          </p:nvPr>
        </p:nvSpPr>
        <p:spPr>
          <a:xfrm>
            <a:off x="812800" y="2597150"/>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0" i="0" dirty="0">
                <a:solidFill>
                  <a:srgbClr val="F7F6F2"/>
                </a:solidFill>
                <a:latin typeface="Source Serif 4" pitchFamily="18" charset="0"/>
                <a:ea typeface="Source Serif 4" pitchFamily="18" charset="-122"/>
                <a:cs typeface="Source Serif 4" pitchFamily="18" charset="-120"/>
              </a:rPr>
              <a:t>Scope baseline</a:t>
            </a:r>
            <a:endParaRPr lang="en-US" sz="6000" dirty="0"/>
          </a:p>
        </p:txBody>
      </p:sp>
      <p:sp>
        <p:nvSpPr>
          <p:cNvPr id="4" name="Text 2"/>
          <p:cNvSpPr/>
          <p:nvPr/>
        </p:nvSpPr>
        <p:spPr>
          <a:xfrm>
            <a:off x="812800" y="3600450"/>
            <a:ext cx="8502650"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C9D1DC"/>
                </a:solidFill>
                <a:latin typeface="IBM Plex Sans" pitchFamily="34" charset="0"/>
                <a:ea typeface="IBM Plex Sans" pitchFamily="34" charset="-122"/>
                <a:cs typeface="IBM Plex Sans" pitchFamily="34" charset="-120"/>
              </a:rPr>
              <a:t>What we will build, how we will know each item is done, and what will be different for suppliers and analysts.</a:t>
            </a:r>
            <a:endParaRPr lang="en-US" sz="2000" dirty="0"/>
          </a:p>
        </p:txBody>
      </p:sp>
      <p:sp>
        <p:nvSpPr>
          <p:cNvPr id="5" name="Text 3"/>
          <p:cNvSpPr/>
          <p:nvPr/>
        </p:nvSpPr>
        <p:spPr>
          <a:xfrm>
            <a:off x="812800" y="5778500"/>
            <a:ext cx="503181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C9D1DC"/>
                </a:solidFill>
                <a:latin typeface="IBM Plex Sans" pitchFamily="34" charset="0"/>
                <a:ea typeface="IBM Plex Sans" pitchFamily="34" charset="-122"/>
                <a:cs typeface="IBM Plex Sans" pitchFamily="34" charset="-120"/>
              </a:rPr>
              <a:t>Automation Center of Excellence · [meeting date]</a:t>
            </a:r>
            <a:endParaRPr lang="en-US" sz="1500" dirty="0"/>
          </a:p>
        </p:txBody>
      </p:sp>
      <p:sp>
        <p:nvSpPr>
          <p:cNvPr id="6" name="Text 4"/>
          <p:cNvSpPr/>
          <p:nvPr/>
        </p:nvSpPr>
        <p:spPr>
          <a:xfrm>
            <a:off x="8833406" y="5778500"/>
            <a:ext cx="2545794" cy="292100"/>
          </a:xfrm>
          <a:prstGeom prst="rect">
            <a:avLst/>
          </a:prstGeom>
          <a:noFill/>
          <a:ln/>
        </p:spPr>
        <p:txBody>
          <a:bodyPr wrap="square" lIns="0" tIns="0" rIns="0" bIns="0" rtlCol="0" anchor="t">
            <a:normAutofit/>
          </a:bodyPr>
          <a:lstStyle/>
          <a:p>
            <a:pPr algn="r" indent="0" marL="0">
              <a:lnSpc>
                <a:spcPts val="2100"/>
              </a:lnSpc>
              <a:buNone/>
            </a:pPr>
            <a:r>
              <a:rPr lang="en-US" sz="1500" dirty="0">
                <a:solidFill>
                  <a:srgbClr val="C9D1DC"/>
                </a:solidFill>
                <a:latin typeface="IBM Plex Sans" pitchFamily="34" charset="0"/>
                <a:ea typeface="IBM Plex Sans" pitchFamily="34" charset="-122"/>
                <a:cs typeface="IBM Plex Sans" pitchFamily="34" charset="-120"/>
              </a:rPr>
              <a:t>Scope gate · for approval</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84956"/>
          </a:xfrm>
          <a:prstGeom prst="rect">
            <a:avLst/>
          </a:prstGeom>
          <a:noFill/>
          <a:ln/>
        </p:spPr>
        <p:txBody>
          <a:bodyPr wrap="square" lIns="0" tIns="0" rIns="0" bIns="0" rtlCol="0" anchor="t">
            <a:normAutofit/>
          </a:bodyPr>
          <a:lstStyle/>
          <a:p>
            <a:pPr algn="l" indent="0" marL="0">
              <a:lnSpc>
                <a:spcPts val="2093"/>
              </a:lnSpc>
              <a:buNone/>
            </a:pPr>
            <a:r>
              <a:rPr lang="en-US" sz="1495" spc="100" kern="0" dirty="0">
                <a:solidFill>
                  <a:srgbClr val="C8702A"/>
                </a:solidFill>
                <a:latin typeface="IBM Plex Sans" pitchFamily="34" charset="0"/>
                <a:ea typeface="IBM Plex Sans" pitchFamily="34" charset="-122"/>
                <a:cs typeface="IBM Plex Sans" pitchFamily="34" charset="-120"/>
              </a:rPr>
              <a:t>WHAT THIS GATE DECIDES</a:t>
            </a:r>
            <a:endParaRPr lang="en-US" sz="1495" dirty="0"/>
          </a:p>
        </p:txBody>
      </p:sp>
      <p:sp>
        <p:nvSpPr>
          <p:cNvPr id="3" name="Text 1"/>
          <p:cNvSpPr/>
          <p:nvPr>
            <p:ph type="title"/>
          </p:nvPr>
        </p:nvSpPr>
        <p:spPr>
          <a:xfrm>
            <a:off x="812800" y="1326356"/>
            <a:ext cx="9810750" cy="1378942"/>
          </a:xfrm>
          <a:prstGeom prst="rect">
            <a:avLst/>
          </a:prstGeom>
          <a:noFill/>
          <a:ln/>
        </p:spPr>
        <p:txBody>
          <a:bodyPr wrap="square" lIns="0" tIns="0" rIns="0" bIns="0" rtlCol="0" anchor="t">
            <a:normAutofit/>
          </a:bodyPr>
          <a:lstStyle/>
          <a:p>
            <a:pPr algn="l" indent="0" marL="0">
              <a:lnSpc>
                <a:spcPts val="3599"/>
              </a:lnSpc>
              <a:buNone/>
            </a:pPr>
            <a:r>
              <a:rPr lang="en-US" sz="3130" b="0" i="0" dirty="0">
                <a:solidFill>
                  <a:srgbClr val="1B2A41"/>
                </a:solidFill>
                <a:latin typeface="Source Serif 4" pitchFamily="18" charset="0"/>
                <a:ea typeface="Source Serif 4" pitchFamily="18" charset="-122"/>
                <a:cs typeface="Source Serif 4" pitchFamily="18" charset="-120"/>
              </a:rPr>
              <a:t>Phase 2 is approved. Today we fix what it contains, how each item is judged done, and what changes for the people who use SDC.</a:t>
            </a:r>
            <a:endParaRPr lang="en-US" sz="3130" dirty="0"/>
          </a:p>
        </p:txBody>
      </p:sp>
      <p:sp>
        <p:nvSpPr>
          <p:cNvPr id="4" name="Shape 2"/>
          <p:cNvSpPr/>
          <p:nvPr/>
        </p:nvSpPr>
        <p:spPr>
          <a:xfrm>
            <a:off x="815975" y="2937073"/>
            <a:ext cx="3380284" cy="1421408"/>
          </a:xfrm>
          <a:prstGeom prst="roundRect">
            <a:avLst>
              <a:gd name="adj" fmla="val 5138"/>
            </a:avLst>
          </a:prstGeom>
          <a:solidFill>
            <a:srgbClr val="FFFFFF"/>
          </a:solidFill>
          <a:ln w="6350">
            <a:solidFill>
              <a:srgbClr val="DCD9D0"/>
            </a:solidFill>
            <a:prstDash val="solid"/>
          </a:ln>
        </p:spPr>
      </p:sp>
      <p:sp>
        <p:nvSpPr>
          <p:cNvPr id="5" name="Text 3"/>
          <p:cNvSpPr/>
          <p:nvPr/>
        </p:nvSpPr>
        <p:spPr>
          <a:xfrm>
            <a:off x="1022350" y="3143448"/>
            <a:ext cx="3056560" cy="244773"/>
          </a:xfrm>
          <a:prstGeom prst="rect">
            <a:avLst/>
          </a:prstGeom>
          <a:noFill/>
          <a:ln/>
        </p:spPr>
        <p:txBody>
          <a:bodyPr wrap="square" lIns="0" tIns="0" rIns="0" bIns="0" rtlCol="0" anchor="t">
            <a:normAutofit/>
          </a:bodyPr>
          <a:lstStyle/>
          <a:p>
            <a:pPr algn="l" indent="0" marL="0">
              <a:lnSpc>
                <a:spcPts val="1797"/>
              </a:lnSpc>
              <a:buNone/>
            </a:pPr>
            <a:r>
              <a:rPr lang="en-US" sz="1284" b="1" dirty="0">
                <a:solidFill>
                  <a:srgbClr val="C8702A"/>
                </a:solidFill>
                <a:latin typeface="IBM Plex Sans" pitchFamily="34" charset="0"/>
                <a:ea typeface="IBM Plex Sans" pitchFamily="34" charset="-122"/>
                <a:cs typeface="IBM Plex Sans" pitchFamily="34" charset="-120"/>
              </a:rPr>
              <a:t>1 · Approve</a:t>
            </a:r>
            <a:endParaRPr lang="en-US" sz="1284" dirty="0"/>
          </a:p>
        </p:txBody>
      </p:sp>
      <p:sp>
        <p:nvSpPr>
          <p:cNvPr id="6" name="Text 4"/>
          <p:cNvSpPr/>
          <p:nvPr/>
        </p:nvSpPr>
        <p:spPr>
          <a:xfrm>
            <a:off x="1022350" y="3439021"/>
            <a:ext cx="3056560" cy="738485"/>
          </a:xfrm>
          <a:prstGeom prst="rect">
            <a:avLst/>
          </a:prstGeom>
          <a:noFill/>
          <a:ln/>
        </p:spPr>
        <p:txBody>
          <a:bodyPr wrap="square" lIns="0" tIns="0" rIns="0" bIns="0" rtlCol="0" anchor="t">
            <a:normAutofit/>
          </a:bodyPr>
          <a:lstStyle/>
          <a:p>
            <a:pPr algn="l" indent="0" marL="0">
              <a:lnSpc>
                <a:spcPts val="1899"/>
              </a:lnSpc>
              <a:buNone/>
            </a:pPr>
            <a:r>
              <a:rPr lang="en-US" sz="1356" dirty="0">
                <a:solidFill>
                  <a:srgbClr val="1B2A41"/>
                </a:solidFill>
                <a:latin typeface="IBM Plex Sans" pitchFamily="34" charset="0"/>
                <a:ea typeface="IBM Plex Sans" pitchFamily="34" charset="-122"/>
                <a:cs typeface="IBM Plex Sans" pitchFamily="34" charset="-120"/>
              </a:rPr>
              <a:t>The eleven scope elements as defined in the requirements register, baseline v1.0.</a:t>
            </a:r>
            <a:endParaRPr lang="en-US" sz="1356" dirty="0"/>
          </a:p>
        </p:txBody>
      </p:sp>
      <p:sp>
        <p:nvSpPr>
          <p:cNvPr id="7" name="Shape 5"/>
          <p:cNvSpPr/>
          <p:nvPr/>
        </p:nvSpPr>
        <p:spPr>
          <a:xfrm>
            <a:off x="4405809" y="2937073"/>
            <a:ext cx="3380284" cy="1421408"/>
          </a:xfrm>
          <a:prstGeom prst="roundRect">
            <a:avLst>
              <a:gd name="adj" fmla="val 5138"/>
            </a:avLst>
          </a:prstGeom>
          <a:solidFill>
            <a:srgbClr val="FFFFFF"/>
          </a:solidFill>
          <a:ln w="6350">
            <a:solidFill>
              <a:srgbClr val="DCD9D0"/>
            </a:solidFill>
            <a:prstDash val="solid"/>
          </a:ln>
        </p:spPr>
      </p:sp>
      <p:sp>
        <p:nvSpPr>
          <p:cNvPr id="8" name="Text 6"/>
          <p:cNvSpPr/>
          <p:nvPr/>
        </p:nvSpPr>
        <p:spPr>
          <a:xfrm>
            <a:off x="4612184" y="3143448"/>
            <a:ext cx="3056560" cy="244773"/>
          </a:xfrm>
          <a:prstGeom prst="rect">
            <a:avLst/>
          </a:prstGeom>
          <a:noFill/>
          <a:ln/>
        </p:spPr>
        <p:txBody>
          <a:bodyPr wrap="square" lIns="0" tIns="0" rIns="0" bIns="0" rtlCol="0" anchor="t">
            <a:normAutofit/>
          </a:bodyPr>
          <a:lstStyle/>
          <a:p>
            <a:pPr algn="l" indent="0" marL="0">
              <a:lnSpc>
                <a:spcPts val="1797"/>
              </a:lnSpc>
              <a:buNone/>
            </a:pPr>
            <a:r>
              <a:rPr lang="en-US" sz="1284" b="1" dirty="0">
                <a:solidFill>
                  <a:srgbClr val="C8702A"/>
                </a:solidFill>
                <a:latin typeface="IBM Plex Sans" pitchFamily="34" charset="0"/>
                <a:ea typeface="IBM Plex Sans" pitchFamily="34" charset="-122"/>
                <a:cs typeface="IBM Plex Sans" pitchFamily="34" charset="-120"/>
              </a:rPr>
              <a:t>2 · Agree</a:t>
            </a:r>
            <a:endParaRPr lang="en-US" sz="1284" dirty="0"/>
          </a:p>
        </p:txBody>
      </p:sp>
      <p:sp>
        <p:nvSpPr>
          <p:cNvPr id="9" name="Text 7"/>
          <p:cNvSpPr/>
          <p:nvPr/>
        </p:nvSpPr>
        <p:spPr>
          <a:xfrm>
            <a:off x="4612184" y="3439021"/>
            <a:ext cx="3056560" cy="738485"/>
          </a:xfrm>
          <a:prstGeom prst="rect">
            <a:avLst/>
          </a:prstGeom>
          <a:noFill/>
          <a:ln/>
        </p:spPr>
        <p:txBody>
          <a:bodyPr wrap="square" lIns="0" tIns="0" rIns="0" bIns="0" rtlCol="0" anchor="t">
            <a:normAutofit/>
          </a:bodyPr>
          <a:lstStyle/>
          <a:p>
            <a:pPr algn="l" indent="0" marL="0">
              <a:lnSpc>
                <a:spcPts val="1899"/>
              </a:lnSpc>
              <a:buNone/>
            </a:pPr>
            <a:r>
              <a:rPr lang="en-US" sz="1356" dirty="0">
                <a:solidFill>
                  <a:srgbClr val="1B2A41"/>
                </a:solidFill>
                <a:latin typeface="IBM Plex Sans" pitchFamily="34" charset="0"/>
                <a:ea typeface="IBM Plex Sans" pitchFamily="34" charset="-122"/>
                <a:cs typeface="IBM Plex Sans" pitchFamily="34" charset="-120"/>
              </a:rPr>
              <a:t>The “done when” test for each element: the observable result that closes it.</a:t>
            </a:r>
            <a:endParaRPr lang="en-US" sz="1356" dirty="0"/>
          </a:p>
        </p:txBody>
      </p:sp>
      <p:sp>
        <p:nvSpPr>
          <p:cNvPr id="10" name="Shape 8"/>
          <p:cNvSpPr/>
          <p:nvPr/>
        </p:nvSpPr>
        <p:spPr>
          <a:xfrm>
            <a:off x="7995642" y="2937073"/>
            <a:ext cx="3380284" cy="1421408"/>
          </a:xfrm>
          <a:prstGeom prst="roundRect">
            <a:avLst>
              <a:gd name="adj" fmla="val 5138"/>
            </a:avLst>
          </a:prstGeom>
          <a:solidFill>
            <a:srgbClr val="FFFFFF"/>
          </a:solidFill>
          <a:ln w="6350">
            <a:solidFill>
              <a:srgbClr val="DCD9D0"/>
            </a:solidFill>
            <a:prstDash val="solid"/>
          </a:ln>
        </p:spPr>
      </p:sp>
      <p:sp>
        <p:nvSpPr>
          <p:cNvPr id="11" name="Text 9"/>
          <p:cNvSpPr/>
          <p:nvPr/>
        </p:nvSpPr>
        <p:spPr>
          <a:xfrm>
            <a:off x="8202017" y="3143448"/>
            <a:ext cx="3056560" cy="244773"/>
          </a:xfrm>
          <a:prstGeom prst="rect">
            <a:avLst/>
          </a:prstGeom>
          <a:noFill/>
          <a:ln/>
        </p:spPr>
        <p:txBody>
          <a:bodyPr wrap="square" lIns="0" tIns="0" rIns="0" bIns="0" rtlCol="0" anchor="t">
            <a:normAutofit/>
          </a:bodyPr>
          <a:lstStyle/>
          <a:p>
            <a:pPr algn="l" indent="0" marL="0">
              <a:lnSpc>
                <a:spcPts val="1797"/>
              </a:lnSpc>
              <a:buNone/>
            </a:pPr>
            <a:r>
              <a:rPr lang="en-US" sz="1284" b="1" dirty="0">
                <a:solidFill>
                  <a:srgbClr val="C8702A"/>
                </a:solidFill>
                <a:latin typeface="IBM Plex Sans" pitchFamily="34" charset="0"/>
                <a:ea typeface="IBM Plex Sans" pitchFamily="34" charset="-122"/>
                <a:cs typeface="IBM Plex Sans" pitchFamily="34" charset="-120"/>
              </a:rPr>
              <a:t>3 · Acknowledge</a:t>
            </a:r>
            <a:endParaRPr lang="en-US" sz="1284" dirty="0"/>
          </a:p>
        </p:txBody>
      </p:sp>
      <p:sp>
        <p:nvSpPr>
          <p:cNvPr id="12" name="Text 10"/>
          <p:cNvSpPr/>
          <p:nvPr/>
        </p:nvSpPr>
        <p:spPr>
          <a:xfrm>
            <a:off x="8202017" y="3439021"/>
            <a:ext cx="3056560" cy="738485"/>
          </a:xfrm>
          <a:prstGeom prst="rect">
            <a:avLst/>
          </a:prstGeom>
          <a:noFill/>
          <a:ln/>
        </p:spPr>
        <p:txBody>
          <a:bodyPr wrap="square" lIns="0" tIns="0" rIns="0" bIns="0" rtlCol="0" anchor="t">
            <a:normAutofit/>
          </a:bodyPr>
          <a:lstStyle/>
          <a:p>
            <a:pPr algn="l" indent="0" marL="0">
              <a:lnSpc>
                <a:spcPts val="1899"/>
              </a:lnSpc>
              <a:buNone/>
            </a:pPr>
            <a:r>
              <a:rPr lang="en-US" sz="1356" dirty="0">
                <a:solidFill>
                  <a:srgbClr val="1B2A41"/>
                </a:solidFill>
                <a:latin typeface="IBM Plex Sans" pitchFamily="34" charset="0"/>
                <a:ea typeface="IBM Plex Sans" pitchFamily="34" charset="-122"/>
                <a:cs typeface="IBM Plex Sans" pitchFamily="34" charset="-120"/>
              </a:rPr>
              <a:t>The changes in how suppliers and analysts will work once each element is live.</a:t>
            </a:r>
            <a:endParaRPr lang="en-US" sz="1356" dirty="0"/>
          </a:p>
        </p:txBody>
      </p:sp>
      <p:sp>
        <p:nvSpPr>
          <p:cNvPr id="13" name="Shape 11"/>
          <p:cNvSpPr/>
          <p:nvPr/>
        </p:nvSpPr>
        <p:spPr>
          <a:xfrm>
            <a:off x="812800" y="4615656"/>
            <a:ext cx="10566400" cy="527348"/>
          </a:xfrm>
          <a:prstGeom prst="roundRect">
            <a:avLst>
              <a:gd name="adj" fmla="val 14450"/>
            </a:avLst>
          </a:prstGeom>
          <a:solidFill>
            <a:srgbClr val="1B2A41"/>
          </a:solidFill>
          <a:ln/>
        </p:spPr>
      </p:sp>
      <p:sp>
        <p:nvSpPr>
          <p:cNvPr id="14" name="Text 12"/>
          <p:cNvSpPr/>
          <p:nvPr/>
        </p:nvSpPr>
        <p:spPr>
          <a:xfrm>
            <a:off x="1016000" y="4765080"/>
            <a:ext cx="1962150" cy="25400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E39A5B"/>
                </a:solidFill>
                <a:latin typeface="IBM Plex Sans" pitchFamily="34" charset="0"/>
                <a:ea typeface="IBM Plex Sans" pitchFamily="34" charset="-122"/>
                <a:cs typeface="IBM Plex Sans" pitchFamily="34" charset="-120"/>
              </a:rPr>
              <a:t>Change control</a:t>
            </a:r>
            <a:endParaRPr lang="en-US" sz="1300" dirty="0"/>
          </a:p>
        </p:txBody>
      </p:sp>
      <p:sp>
        <p:nvSpPr>
          <p:cNvPr id="15" name="Text 13"/>
          <p:cNvSpPr/>
          <p:nvPr/>
        </p:nvSpPr>
        <p:spPr>
          <a:xfrm>
            <a:off x="3073400" y="4765080"/>
            <a:ext cx="8305800" cy="2540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7F6F2"/>
                </a:solidFill>
                <a:latin typeface="IBM Plex Sans" pitchFamily="34" charset="0"/>
                <a:ea typeface="IBM Plex Sans" pitchFamily="34" charset="-122"/>
                <a:cs typeface="IBM Plex Sans" pitchFamily="34" charset="-120"/>
              </a:rPr>
              <a:t>After today, any change to this baseline goes through [change authority]. That includes changes I propose.</a:t>
            </a:r>
            <a:endParaRPr lang="en-US" sz="1300" dirty="0"/>
          </a:p>
        </p:txBody>
      </p:sp>
      <p:sp>
        <p:nvSpPr>
          <p:cNvPr id="16" name="Text 14"/>
          <p:cNvSpPr/>
          <p:nvPr/>
        </p:nvSpPr>
        <p:spPr>
          <a:xfrm>
            <a:off x="812800" y="5397004"/>
            <a:ext cx="10883392" cy="470396"/>
          </a:xfrm>
          <a:prstGeom prst="rect">
            <a:avLst/>
          </a:prstGeom>
          <a:noFill/>
          <a:ln/>
        </p:spPr>
        <p:txBody>
          <a:bodyPr wrap="square" lIns="0" tIns="0" rIns="0" bIns="0" rtlCol="0" anchor="t">
            <a:normAutofit/>
          </a:bodyPr>
          <a:lstStyle/>
          <a:p>
            <a:pPr algn="l" indent="0" marL="0">
              <a:lnSpc>
                <a:spcPts val="1797"/>
              </a:lnSpc>
              <a:buNone/>
            </a:pPr>
            <a:r>
              <a:rPr lang="en-US" sz="1284" dirty="0">
                <a:solidFill>
                  <a:srgbClr val="6A7179"/>
                </a:solidFill>
                <a:latin typeface="IBM Plex Sans" pitchFamily="34" charset="0"/>
                <a:ea typeface="IBM Plex Sans" pitchFamily="34" charset="-122"/>
                <a:cs typeface="IBM Plex Sans" pitchFamily="34" charset="-120"/>
              </a:rPr>
              <a:t>Not decided today: detailed design, dates finer than the stage plan in the appendix, and the definitions of the two elements still in discovery (slide 9).</a:t>
            </a:r>
            <a:endParaRPr lang="en-US" sz="1284" dirty="0"/>
          </a:p>
        </p:txBody>
      </p:sp>
      <p:sp>
        <p:nvSpPr>
          <p:cNvPr id="17" name="Text 15"/>
          <p:cNvSpPr/>
          <p:nvPr/>
        </p:nvSpPr>
        <p:spPr>
          <a:xfrm>
            <a:off x="11287720" y="6242050"/>
            <a:ext cx="14228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DEBE4"/>
        </a:solidFill>
      </p:bgPr>
    </p:bg>
    <p:spTree>
      <p:nvGrpSpPr>
        <p:cNvPr id="1" name=""/>
        <p:cNvGrpSpPr/>
        <p:nvPr/>
      </p:nvGrpSpPr>
      <p:grpSpPr>
        <a:xfrm>
          <a:off x="0" y="0"/>
          <a:ext cx="0" cy="0"/>
          <a:chOff x="0" y="0"/>
          <a:chExt cx="0" cy="0"/>
        </a:xfrm>
      </p:grpSpPr>
      <p:sp>
        <p:nvSpPr>
          <p:cNvPr id="2" name="Text 0"/>
          <p:cNvSpPr/>
          <p:nvPr/>
        </p:nvSpPr>
        <p:spPr>
          <a:xfrm>
            <a:off x="812800" y="8128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spc="100" kern="0" dirty="0">
                <a:solidFill>
                  <a:srgbClr val="C8702A"/>
                </a:solidFill>
                <a:latin typeface="IBM Plex Sans" pitchFamily="34" charset="0"/>
                <a:ea typeface="IBM Plex Sans" pitchFamily="34" charset="-122"/>
                <a:cs typeface="IBM Plex Sans" pitchFamily="34" charset="-120"/>
              </a:rPr>
              <a:t>SCOPE BASELINE V1.0</a:t>
            </a:r>
            <a:endParaRPr lang="en-US" sz="1500" dirty="0"/>
          </a:p>
        </p:txBody>
      </p:sp>
      <p:sp>
        <p:nvSpPr>
          <p:cNvPr id="3" name="Text 1"/>
          <p:cNvSpPr/>
          <p:nvPr>
            <p:ph type="title"/>
          </p:nvPr>
        </p:nvSpPr>
        <p:spPr>
          <a:xfrm>
            <a:off x="812800" y="1333500"/>
            <a:ext cx="10883392" cy="952500"/>
          </a:xfrm>
          <a:prstGeom prst="rect">
            <a:avLst/>
          </a:prstGeom>
          <a:noFill/>
          <a:ln/>
        </p:spPr>
        <p:txBody>
          <a:bodyPr wrap="square" lIns="0" tIns="0" rIns="0" bIns="0" rtlCol="0" anchor="t">
            <a:normAutofit/>
          </a:bodyPr>
          <a:lstStyle/>
          <a:p>
            <a:pPr algn="l" indent="0" marL="0">
              <a:lnSpc>
                <a:spcPts val="3680"/>
              </a:lnSpc>
              <a:buNone/>
            </a:pPr>
            <a:r>
              <a:rPr lang="en-US" sz="3200" b="0" i="0" dirty="0">
                <a:solidFill>
                  <a:srgbClr val="1B2A41"/>
                </a:solidFill>
                <a:latin typeface="Source Serif 4" pitchFamily="18" charset="0"/>
                <a:ea typeface="Source Serif 4" pitchFamily="18" charset="-122"/>
                <a:cs typeface="Source Serif 4" pitchFamily="18" charset="-120"/>
              </a:rPr>
              <a:t>Eleven elements in four groups; three carry a question for this room, two are approved subject to definition.</a:t>
            </a:r>
            <a:endParaRPr lang="en-US" sz="3200" dirty="0"/>
          </a:p>
        </p:txBody>
      </p:sp>
      <p:sp>
        <p:nvSpPr>
          <p:cNvPr id="4" name="Shape 2"/>
          <p:cNvSpPr/>
          <p:nvPr/>
        </p:nvSpPr>
        <p:spPr>
          <a:xfrm>
            <a:off x="815975" y="2517775"/>
            <a:ext cx="2520950" cy="2609850"/>
          </a:xfrm>
          <a:prstGeom prst="roundRect">
            <a:avLst>
              <a:gd name="adj" fmla="val 2897"/>
            </a:avLst>
          </a:prstGeom>
          <a:solidFill>
            <a:srgbClr val="FFFFFF"/>
          </a:solidFill>
          <a:ln w="6350">
            <a:solidFill>
              <a:srgbClr val="DCD9D0"/>
            </a:solidFill>
            <a:prstDash val="solid"/>
          </a:ln>
        </p:spPr>
      </p:sp>
      <p:sp>
        <p:nvSpPr>
          <p:cNvPr id="5" name="Text 3"/>
          <p:cNvSpPr/>
          <p:nvPr/>
        </p:nvSpPr>
        <p:spPr>
          <a:xfrm>
            <a:off x="1022350" y="2724150"/>
            <a:ext cx="217144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C8702A"/>
                </a:solidFill>
                <a:latin typeface="IBM Plex Sans" pitchFamily="34" charset="0"/>
                <a:ea typeface="IBM Plex Sans" pitchFamily="34" charset="-122"/>
                <a:cs typeface="IBM Plex Sans" pitchFamily="34" charset="-120"/>
              </a:rPr>
              <a:t>Supplier experience</a:t>
            </a:r>
            <a:endParaRPr lang="en-US" sz="1500" dirty="0"/>
          </a:p>
        </p:txBody>
      </p:sp>
      <p:sp>
        <p:nvSpPr>
          <p:cNvPr id="6" name="Text 4"/>
          <p:cNvSpPr/>
          <p:nvPr/>
        </p:nvSpPr>
        <p:spPr>
          <a:xfrm>
            <a:off x="1100582" y="3054350"/>
            <a:ext cx="2085594" cy="1625600"/>
          </a:xfrm>
          <a:prstGeom prst="rect">
            <a:avLst/>
          </a:prstGeom>
          <a:noFill/>
          <a:ln/>
        </p:spPr>
        <p:txBody>
          <a:bodyPr wrap="square" lIns="0" tIns="0" rIns="0" bIns="0" rtlCol="0" anchor="t">
            <a:normAutofit/>
          </a:bodyPr>
          <a:lstStyle/>
          <a:p>
            <a:pPr algn="l" marL="175768" indent="-175768">
              <a:lnSpc>
                <a:spcPts val="2100"/>
              </a:lnSpc>
              <a:buSzPct val="100000"/>
              <a:buChar char="•"/>
            </a:pPr>
            <a:r>
              <a:rPr lang="en-US" sz="1400" dirty="0">
                <a:solidFill>
                  <a:srgbClr val="4A5568"/>
                </a:solidFill>
                <a:latin typeface="IBM Plex Sans" pitchFamily="34" charset="0"/>
                <a:ea typeface="IBM Plex Sans" pitchFamily="34" charset="-122"/>
                <a:cs typeface="IBM Plex Sans" pitchFamily="34" charset="-120"/>
              </a:rPr>
              <a:t>R01 Master data upload · </a:t>
            </a:r>
            <a:r>
              <a:rPr lang="en-US" sz="1400" dirty="0">
                <a:solidFill>
                  <a:srgbClr val="C8702A"/>
                </a:solidFill>
                <a:latin typeface="IBM Plex Sans" pitchFamily="34" charset="0"/>
                <a:ea typeface="IBM Plex Sans" pitchFamily="34" charset="-122"/>
                <a:cs typeface="IBM Plex Sans" pitchFamily="34" charset="-120"/>
              </a:rPr>
              <a:t>D1</a:t>
            </a:r>
            <a:endParaRPr lang="en-US" sz="1400" dirty="0"/>
          </a:p>
          <a:p>
            <a:pPr algn="l" marL="175768" indent="-175768">
              <a:lnSpc>
                <a:spcPts val="2100"/>
              </a:lnSpc>
              <a:buSzPct val="100000"/>
              <a:buChar char="•"/>
            </a:pPr>
            <a:r>
              <a:rPr lang="en-US" sz="1400" dirty="0">
                <a:solidFill>
                  <a:srgbClr val="4A5568"/>
                </a:solidFill>
                <a:latin typeface="IBM Plex Sans" pitchFamily="34" charset="0"/>
                <a:ea typeface="IBM Plex Sans" pitchFamily="34" charset="-122"/>
                <a:cs typeface="IBM Plex Sans" pitchFamily="34" charset="-120"/>
              </a:rPr>
              <a:t>R02 Rate calculator</a:t>
            </a:r>
            <a:endParaRPr lang="en-US" sz="1400" dirty="0"/>
          </a:p>
          <a:p>
            <a:pPr algn="l" marL="175768" indent="-175768">
              <a:lnSpc>
                <a:spcPts val="2100"/>
              </a:lnSpc>
              <a:buSzPct val="100000"/>
              <a:buChar char="•"/>
            </a:pPr>
            <a:r>
              <a:rPr lang="en-US" sz="1400" dirty="0">
                <a:solidFill>
                  <a:srgbClr val="4A5568"/>
                </a:solidFill>
                <a:latin typeface="IBM Plex Sans" pitchFamily="34" charset="0"/>
                <a:ea typeface="IBM Plex Sans" pitchFamily="34" charset="-122"/>
                <a:cs typeface="IBM Plex Sans" pitchFamily="34" charset="-120"/>
              </a:rPr>
              <a:t>R03 In‑flight changes · </a:t>
            </a:r>
            <a:r>
              <a:rPr lang="en-US" sz="1400" dirty="0">
                <a:solidFill>
                  <a:srgbClr val="C8702A"/>
                </a:solidFill>
                <a:latin typeface="IBM Plex Sans" pitchFamily="34" charset="0"/>
                <a:ea typeface="IBM Plex Sans" pitchFamily="34" charset="-122"/>
                <a:cs typeface="IBM Plex Sans" pitchFamily="34" charset="-120"/>
              </a:rPr>
              <a:t>D2</a:t>
            </a:r>
            <a:endParaRPr lang="en-US" sz="1400" dirty="0"/>
          </a:p>
          <a:p>
            <a:pPr algn="l" marL="175768" indent="-175768">
              <a:lnSpc>
                <a:spcPts val="2100"/>
              </a:lnSpc>
              <a:buSzPct val="100000"/>
              <a:buChar char="•"/>
            </a:pPr>
            <a:r>
              <a:rPr lang="en-US" sz="1400" dirty="0">
                <a:solidFill>
                  <a:srgbClr val="4A5568"/>
                </a:solidFill>
                <a:latin typeface="IBM Plex Sans" pitchFamily="34" charset="0"/>
                <a:ea typeface="IBM Plex Sans" pitchFamily="34" charset="-122"/>
                <a:cs typeface="IBM Plex Sans" pitchFamily="34" charset="-120"/>
              </a:rPr>
              <a:t>R04 Flag for review</a:t>
            </a:r>
            <a:endParaRPr lang="en-US" sz="1400" dirty="0"/>
          </a:p>
        </p:txBody>
      </p:sp>
      <p:sp>
        <p:nvSpPr>
          <p:cNvPr id="7" name="Shape 5"/>
          <p:cNvSpPr/>
          <p:nvPr/>
        </p:nvSpPr>
        <p:spPr>
          <a:xfrm>
            <a:off x="3495675" y="2517775"/>
            <a:ext cx="2520950" cy="2609850"/>
          </a:xfrm>
          <a:prstGeom prst="roundRect">
            <a:avLst>
              <a:gd name="adj" fmla="val 2897"/>
            </a:avLst>
          </a:prstGeom>
          <a:solidFill>
            <a:srgbClr val="FFFFFF"/>
          </a:solidFill>
          <a:ln w="6350">
            <a:solidFill>
              <a:srgbClr val="DCD9D0"/>
            </a:solidFill>
            <a:prstDash val="solid"/>
          </a:ln>
        </p:spPr>
      </p:sp>
      <p:sp>
        <p:nvSpPr>
          <p:cNvPr id="8" name="Text 6"/>
          <p:cNvSpPr/>
          <p:nvPr/>
        </p:nvSpPr>
        <p:spPr>
          <a:xfrm>
            <a:off x="3702050" y="2724150"/>
            <a:ext cx="2171446" cy="228203"/>
          </a:xfrm>
          <a:prstGeom prst="rect">
            <a:avLst/>
          </a:prstGeom>
          <a:noFill/>
          <a:ln/>
        </p:spPr>
        <p:txBody>
          <a:bodyPr wrap="square" lIns="0" tIns="0" rIns="0" bIns="0" rtlCol="0" anchor="t">
            <a:normAutofit/>
          </a:bodyPr>
          <a:lstStyle/>
          <a:p>
            <a:pPr algn="l" indent="0" marL="0">
              <a:lnSpc>
                <a:spcPts val="1648"/>
              </a:lnSpc>
              <a:buNone/>
            </a:pPr>
            <a:r>
              <a:rPr lang="en-US" sz="1373" b="1" dirty="0">
                <a:solidFill>
                  <a:srgbClr val="C8702A"/>
                </a:solidFill>
                <a:latin typeface="IBM Plex Sans" pitchFamily="34" charset="0"/>
                <a:ea typeface="IBM Plex Sans" pitchFamily="34" charset="-122"/>
                <a:cs typeface="IBM Plex Sans" pitchFamily="34" charset="-120"/>
              </a:rPr>
              <a:t>Analyst experience</a:t>
            </a:r>
            <a:endParaRPr lang="en-US" sz="1373" dirty="0"/>
          </a:p>
        </p:txBody>
      </p:sp>
      <p:sp>
        <p:nvSpPr>
          <p:cNvPr id="9" name="Text 7"/>
          <p:cNvSpPr/>
          <p:nvPr/>
        </p:nvSpPr>
        <p:spPr>
          <a:xfrm>
            <a:off x="3787199" y="3028553"/>
            <a:ext cx="2078677" cy="1918097"/>
          </a:xfrm>
          <a:prstGeom prst="rect">
            <a:avLst/>
          </a:prstGeom>
          <a:noFill/>
          <a:ln/>
        </p:spPr>
        <p:txBody>
          <a:bodyPr wrap="square" lIns="0" tIns="0" rIns="0" bIns="0" rtlCol="0" anchor="t">
            <a:normAutofit/>
          </a:bodyPr>
          <a:lstStyle/>
          <a:p>
            <a:pPr algn="l" marL="168851" indent="-168851">
              <a:lnSpc>
                <a:spcPts val="1988"/>
              </a:lnSpc>
              <a:buSzPct val="100000"/>
              <a:buChar char="•"/>
            </a:pPr>
            <a:r>
              <a:rPr lang="en-US" sz="1326" dirty="0">
                <a:solidFill>
                  <a:srgbClr val="4A5568"/>
                </a:solidFill>
                <a:latin typeface="IBM Plex Sans" pitchFamily="34" charset="0"/>
                <a:ea typeface="IBM Plex Sans" pitchFamily="34" charset="-122"/>
                <a:cs typeface="IBM Plex Sans" pitchFamily="34" charset="-120"/>
              </a:rPr>
              <a:t>R06 Configuration web app · </a:t>
            </a:r>
            <a:r>
              <a:rPr lang="en-US" sz="1326" dirty="0">
                <a:solidFill>
                  <a:srgbClr val="C8702A"/>
                </a:solidFill>
                <a:latin typeface="IBM Plex Sans" pitchFamily="34" charset="0"/>
                <a:ea typeface="IBM Plex Sans" pitchFamily="34" charset="-122"/>
                <a:cs typeface="IBM Plex Sans" pitchFamily="34" charset="-120"/>
              </a:rPr>
              <a:t>D3</a:t>
            </a:r>
            <a:endParaRPr lang="en-US" sz="1326" dirty="0"/>
          </a:p>
          <a:p>
            <a:pPr algn="l" marL="168851" indent="-168851">
              <a:lnSpc>
                <a:spcPts val="1988"/>
              </a:lnSpc>
              <a:buSzPct val="100000"/>
              <a:buChar char="•"/>
            </a:pPr>
            <a:r>
              <a:rPr lang="en-US" sz="1326" dirty="0">
                <a:solidFill>
                  <a:srgbClr val="4A5568"/>
                </a:solidFill>
                <a:latin typeface="IBM Plex Sans" pitchFamily="34" charset="0"/>
                <a:ea typeface="IBM Plex Sans" pitchFamily="34" charset="-122"/>
                <a:cs typeface="IBM Plex Sans" pitchFamily="34" charset="-120"/>
              </a:rPr>
              <a:t>R08 Error review in context</a:t>
            </a:r>
            <a:endParaRPr lang="en-US" sz="1326" dirty="0"/>
          </a:p>
          <a:p>
            <a:pPr algn="l" marL="168851" indent="-168851">
              <a:lnSpc>
                <a:spcPts val="1988"/>
              </a:lnSpc>
              <a:buSzPct val="100000"/>
              <a:buChar char="•"/>
            </a:pPr>
            <a:r>
              <a:rPr lang="en-US" sz="1326" dirty="0">
                <a:solidFill>
                  <a:srgbClr val="4A5568"/>
                </a:solidFill>
                <a:latin typeface="IBM Plex Sans" pitchFamily="34" charset="0"/>
                <a:ea typeface="IBM Plex Sans" pitchFamily="34" charset="-122"/>
                <a:cs typeface="IBM Plex Sans" pitchFamily="34" charset="-120"/>
              </a:rPr>
              <a:t>R09 Batch add suppliers</a:t>
            </a:r>
            <a:endParaRPr lang="en-US" sz="1326" dirty="0"/>
          </a:p>
          <a:p>
            <a:pPr algn="l" marL="168851" indent="-168851">
              <a:lnSpc>
                <a:spcPts val="1988"/>
              </a:lnSpc>
              <a:buSzPct val="100000"/>
              <a:buChar char="•"/>
            </a:pPr>
            <a:r>
              <a:rPr lang="en-US" sz="1326" dirty="0">
                <a:solidFill>
                  <a:srgbClr val="4A5568"/>
                </a:solidFill>
                <a:latin typeface="IBM Plex Sans" pitchFamily="34" charset="0"/>
                <a:ea typeface="IBM Plex Sans" pitchFamily="34" charset="-122"/>
                <a:cs typeface="IBM Plex Sans" pitchFamily="34" charset="-120"/>
              </a:rPr>
              <a:t>R10 Seed‑data validation</a:t>
            </a:r>
            <a:endParaRPr lang="en-US" sz="1326" dirty="0"/>
          </a:p>
        </p:txBody>
      </p:sp>
      <p:sp>
        <p:nvSpPr>
          <p:cNvPr id="10" name="Shape 8"/>
          <p:cNvSpPr/>
          <p:nvPr/>
        </p:nvSpPr>
        <p:spPr>
          <a:xfrm>
            <a:off x="6175375" y="2517775"/>
            <a:ext cx="2520950" cy="2609850"/>
          </a:xfrm>
          <a:prstGeom prst="roundRect">
            <a:avLst>
              <a:gd name="adj" fmla="val 2897"/>
            </a:avLst>
          </a:prstGeom>
          <a:solidFill>
            <a:srgbClr val="FFFFFF"/>
          </a:solidFill>
          <a:ln w="6350">
            <a:solidFill>
              <a:srgbClr val="DCD9D0"/>
            </a:solidFill>
            <a:prstDash val="solid"/>
          </a:ln>
        </p:spPr>
      </p:sp>
      <p:sp>
        <p:nvSpPr>
          <p:cNvPr id="11" name="Text 9"/>
          <p:cNvSpPr/>
          <p:nvPr/>
        </p:nvSpPr>
        <p:spPr>
          <a:xfrm>
            <a:off x="6381750" y="2724150"/>
            <a:ext cx="217144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C8702A"/>
                </a:solidFill>
                <a:latin typeface="IBM Plex Sans" pitchFamily="34" charset="0"/>
                <a:ea typeface="IBM Plex Sans" pitchFamily="34" charset="-122"/>
                <a:cs typeface="IBM Plex Sans" pitchFamily="34" charset="-120"/>
              </a:rPr>
              <a:t>Platform foundation</a:t>
            </a:r>
            <a:endParaRPr lang="en-US" sz="1500" dirty="0"/>
          </a:p>
        </p:txBody>
      </p:sp>
      <p:sp>
        <p:nvSpPr>
          <p:cNvPr id="12" name="Text 10"/>
          <p:cNvSpPr/>
          <p:nvPr/>
        </p:nvSpPr>
        <p:spPr>
          <a:xfrm>
            <a:off x="6459982" y="3054350"/>
            <a:ext cx="2085594" cy="1892300"/>
          </a:xfrm>
          <a:prstGeom prst="rect">
            <a:avLst/>
          </a:prstGeom>
          <a:noFill/>
          <a:ln/>
        </p:spPr>
        <p:txBody>
          <a:bodyPr wrap="square" lIns="0" tIns="0" rIns="0" bIns="0" rtlCol="0" anchor="t">
            <a:normAutofit/>
          </a:bodyPr>
          <a:lstStyle/>
          <a:p>
            <a:pPr algn="l" marL="175768" indent="-175768">
              <a:lnSpc>
                <a:spcPts val="2100"/>
              </a:lnSpc>
              <a:buSzPct val="100000"/>
              <a:buChar char="•"/>
            </a:pPr>
            <a:r>
              <a:rPr lang="en-US" sz="1400" dirty="0">
                <a:solidFill>
                  <a:srgbClr val="4A5568"/>
                </a:solidFill>
                <a:latin typeface="IBM Plex Sans" pitchFamily="34" charset="0"/>
                <a:ea typeface="IBM Plex Sans" pitchFamily="34" charset="-122"/>
                <a:cs typeface="IBM Plex Sans" pitchFamily="34" charset="-120"/>
              </a:rPr>
              <a:t>R05 Template modifications</a:t>
            </a:r>
            <a:endParaRPr lang="en-US" sz="1400" dirty="0"/>
          </a:p>
          <a:p>
            <a:pPr algn="l" marL="175768" indent="-175768">
              <a:lnSpc>
                <a:spcPts val="2100"/>
              </a:lnSpc>
              <a:buSzPct val="100000"/>
              <a:buChar char="•"/>
            </a:pPr>
            <a:r>
              <a:rPr lang="en-US" sz="1400" dirty="0">
                <a:solidFill>
                  <a:srgbClr val="4A5568"/>
                </a:solidFill>
                <a:latin typeface="IBM Plex Sans" pitchFamily="34" charset="0"/>
                <a:ea typeface="IBM Plex Sans" pitchFamily="34" charset="-122"/>
                <a:cs typeface="IBM Plex Sans" pitchFamily="34" charset="-120"/>
              </a:rPr>
              <a:t>carries the task‑model change that R03 and R11 build on</a:t>
            </a:r>
            <a:endParaRPr lang="en-US" sz="1400" dirty="0"/>
          </a:p>
          <a:p>
            <a:pPr algn="l" marL="175768" indent="-175768">
              <a:lnSpc>
                <a:spcPts val="2100"/>
              </a:lnSpc>
              <a:buSzPct val="100000"/>
              <a:buChar char="•"/>
            </a:pPr>
            <a:r>
              <a:rPr lang="en-US" sz="1400" dirty="0">
                <a:solidFill>
                  <a:srgbClr val="4A5568"/>
                </a:solidFill>
                <a:latin typeface="IBM Plex Sans" pitchFamily="34" charset="0"/>
                <a:ea typeface="IBM Plex Sans" pitchFamily="34" charset="-122"/>
                <a:cs typeface="IBM Plex Sans" pitchFamily="34" charset="-120"/>
              </a:rPr>
              <a:t>R07 Analyst training (rollout)</a:t>
            </a:r>
            <a:endParaRPr lang="en-US" sz="1400" dirty="0"/>
          </a:p>
        </p:txBody>
      </p:sp>
      <p:sp>
        <p:nvSpPr>
          <p:cNvPr id="13" name="Shape 11"/>
          <p:cNvSpPr/>
          <p:nvPr/>
        </p:nvSpPr>
        <p:spPr>
          <a:xfrm>
            <a:off x="8855075" y="2517775"/>
            <a:ext cx="2520950" cy="2609850"/>
          </a:xfrm>
          <a:prstGeom prst="roundRect">
            <a:avLst>
              <a:gd name="adj" fmla="val 2897"/>
            </a:avLst>
          </a:prstGeom>
          <a:solidFill>
            <a:srgbClr val="FFFFFF"/>
          </a:solidFill>
          <a:ln w="6350">
            <a:solidFill>
              <a:srgbClr val="DCD9D0"/>
            </a:solidFill>
            <a:prstDash val="solid"/>
          </a:ln>
        </p:spPr>
      </p:sp>
      <p:sp>
        <p:nvSpPr>
          <p:cNvPr id="14" name="Text 12"/>
          <p:cNvSpPr/>
          <p:nvPr/>
        </p:nvSpPr>
        <p:spPr>
          <a:xfrm>
            <a:off x="9061450" y="2724150"/>
            <a:ext cx="217144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C8702A"/>
                </a:solidFill>
                <a:latin typeface="IBM Plex Sans" pitchFamily="34" charset="0"/>
                <a:ea typeface="IBM Plex Sans" pitchFamily="34" charset="-122"/>
                <a:cs typeface="IBM Plex Sans" pitchFamily="34" charset="-120"/>
              </a:rPr>
              <a:t>Subject to definition</a:t>
            </a:r>
            <a:endParaRPr lang="en-US" sz="1500" dirty="0"/>
          </a:p>
        </p:txBody>
      </p:sp>
      <p:sp>
        <p:nvSpPr>
          <p:cNvPr id="15" name="Text 13"/>
          <p:cNvSpPr/>
          <p:nvPr/>
        </p:nvSpPr>
        <p:spPr>
          <a:xfrm>
            <a:off x="9139682" y="3054350"/>
            <a:ext cx="2085594" cy="1358900"/>
          </a:xfrm>
          <a:prstGeom prst="rect">
            <a:avLst/>
          </a:prstGeom>
          <a:noFill/>
          <a:ln/>
        </p:spPr>
        <p:txBody>
          <a:bodyPr wrap="square" lIns="0" tIns="0" rIns="0" bIns="0" rtlCol="0" anchor="t">
            <a:normAutofit/>
          </a:bodyPr>
          <a:lstStyle/>
          <a:p>
            <a:pPr algn="l" marL="175768" indent="-175768">
              <a:lnSpc>
                <a:spcPts val="2100"/>
              </a:lnSpc>
              <a:buSzPct val="100000"/>
              <a:buChar char="•"/>
            </a:pPr>
            <a:r>
              <a:rPr lang="en-US" sz="1400" dirty="0">
                <a:solidFill>
                  <a:srgbClr val="4A5568"/>
                </a:solidFill>
                <a:latin typeface="IBM Plex Sans" pitchFamily="34" charset="0"/>
                <a:ea typeface="IBM Plex Sans" pitchFamily="34" charset="-122"/>
                <a:cs typeface="IBM Plex Sans" pitchFamily="34" charset="-120"/>
              </a:rPr>
              <a:t>R11 SOW support</a:t>
            </a:r>
            <a:endParaRPr lang="en-US" sz="1400" dirty="0"/>
          </a:p>
          <a:p>
            <a:pPr algn="l" marL="175768" indent="-175768">
              <a:lnSpc>
                <a:spcPts val="2100"/>
              </a:lnSpc>
              <a:buSzPct val="100000"/>
              <a:buChar char="•"/>
            </a:pPr>
            <a:r>
              <a:rPr lang="en-US" sz="1400" dirty="0">
                <a:solidFill>
                  <a:srgbClr val="4A5568"/>
                </a:solidFill>
                <a:latin typeface="IBM Plex Sans" pitchFamily="34" charset="0"/>
                <a:ea typeface="IBM Plex Sans" pitchFamily="34" charset="-122"/>
                <a:cs typeface="IBM Plex Sans" pitchFamily="34" charset="-120"/>
              </a:rPr>
              <a:t>R02 Rate rules (behind the calculator)</a:t>
            </a:r>
            <a:endParaRPr lang="en-US" sz="1400" dirty="0"/>
          </a:p>
          <a:p>
            <a:pPr algn="l" marL="175768" indent="-175768">
              <a:lnSpc>
                <a:spcPts val="2100"/>
              </a:lnSpc>
              <a:buSzPct val="100000"/>
              <a:buChar char="•"/>
            </a:pPr>
            <a:r>
              <a:rPr lang="en-US" sz="1400" dirty="0">
                <a:solidFill>
                  <a:srgbClr val="4A5568"/>
                </a:solidFill>
                <a:latin typeface="IBM Plex Sans" pitchFamily="34" charset="0"/>
                <a:ea typeface="IBM Plex Sans" pitchFamily="34" charset="-122"/>
                <a:cs typeface="IBM Plex Sans" pitchFamily="34" charset="-120"/>
              </a:rPr>
              <a:t>definitions return at the next gate</a:t>
            </a:r>
            <a:endParaRPr lang="en-US" sz="1400" dirty="0"/>
          </a:p>
        </p:txBody>
      </p:sp>
      <p:sp>
        <p:nvSpPr>
          <p:cNvPr id="16" name="Text 14"/>
          <p:cNvSpPr/>
          <p:nvPr/>
        </p:nvSpPr>
        <p:spPr>
          <a:xfrm>
            <a:off x="812800" y="5384800"/>
            <a:ext cx="10883392" cy="48260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C8702A"/>
                </a:solidFill>
                <a:latin typeface="IBM Plex Sans" pitchFamily="34" charset="0"/>
                <a:ea typeface="IBM Plex Sans" pitchFamily="34" charset="-122"/>
                <a:cs typeface="IBM Plex Sans" pitchFamily="34" charset="-120"/>
              </a:rPr>
              <a:t>D1–D3</a:t>
            </a:r>
            <a:r>
              <a:rPr lang="en-US" sz="1300" dirty="0">
                <a:solidFill>
                  <a:srgbClr val="6A7179"/>
                </a:solidFill>
                <a:latin typeface="IBM Plex Sans" pitchFamily="34" charset="0"/>
                <a:ea typeface="IBM Plex Sans" pitchFamily="34" charset="-122"/>
                <a:cs typeface="IBM Plex Sans" pitchFamily="34" charset="-120"/>
              </a:rPr>
              <a:t> are decisions taken today (slide 10). Elements with no marker are proposed as written in the register; the in/out detail is in the appendix.</a:t>
            </a:r>
            <a:endParaRPr lang="en-US" sz="1300" dirty="0"/>
          </a:p>
        </p:txBody>
      </p:sp>
      <p:sp>
        <p:nvSpPr>
          <p:cNvPr id="17" name="Text 15"/>
          <p:cNvSpPr/>
          <p:nvPr/>
        </p:nvSpPr>
        <p:spPr>
          <a:xfrm>
            <a:off x="11287720" y="6242050"/>
            <a:ext cx="14228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58167"/>
          </a:xfrm>
          <a:prstGeom prst="rect">
            <a:avLst/>
          </a:prstGeom>
          <a:noFill/>
          <a:ln/>
        </p:spPr>
        <p:txBody>
          <a:bodyPr wrap="square" lIns="0" tIns="0" rIns="0" bIns="0" rtlCol="0" anchor="t">
            <a:normAutofit/>
          </a:bodyPr>
          <a:lstStyle/>
          <a:p>
            <a:pPr algn="l" indent="0" marL="0">
              <a:lnSpc>
                <a:spcPts val="1897"/>
              </a:lnSpc>
              <a:buNone/>
            </a:pPr>
            <a:r>
              <a:rPr lang="en-US" sz="1355" spc="100" kern="0" dirty="0">
                <a:solidFill>
                  <a:srgbClr val="C8702A"/>
                </a:solidFill>
                <a:latin typeface="IBM Plex Sans" pitchFamily="34" charset="0"/>
                <a:ea typeface="IBM Plex Sans" pitchFamily="34" charset="-122"/>
                <a:cs typeface="IBM Plex Sans" pitchFamily="34" charset="-120"/>
              </a:rPr>
              <a:t>GROUP 1 · SUPPLIER EXPERIENCE</a:t>
            </a:r>
            <a:endParaRPr lang="en-US" sz="1355" dirty="0"/>
          </a:p>
        </p:txBody>
      </p:sp>
      <p:sp>
        <p:nvSpPr>
          <p:cNvPr id="3" name="Text 1"/>
          <p:cNvSpPr/>
          <p:nvPr>
            <p:ph type="title"/>
          </p:nvPr>
        </p:nvSpPr>
        <p:spPr>
          <a:xfrm>
            <a:off x="812800" y="1299567"/>
            <a:ext cx="10883392" cy="430014"/>
          </a:xfrm>
          <a:prstGeom prst="rect">
            <a:avLst/>
          </a:prstGeom>
          <a:noFill/>
          <a:ln/>
        </p:spPr>
        <p:txBody>
          <a:bodyPr wrap="square" lIns="0" tIns="0" rIns="0" bIns="0" rtlCol="0" anchor="t">
            <a:normAutofit/>
          </a:bodyPr>
          <a:lstStyle/>
          <a:p>
            <a:pPr algn="l" indent="0" marL="0">
              <a:lnSpc>
                <a:spcPts val="3243"/>
              </a:lnSpc>
              <a:buNone/>
            </a:pPr>
            <a:r>
              <a:rPr lang="en-US" sz="2820" b="0" i="0" dirty="0">
                <a:solidFill>
                  <a:srgbClr val="1B2A41"/>
                </a:solidFill>
                <a:latin typeface="Source Serif 4" pitchFamily="18" charset="0"/>
                <a:ea typeface="Source Serif 4" pitchFamily="18" charset="-122"/>
                <a:cs typeface="Source Serif 4" pitchFamily="18" charset="-120"/>
              </a:rPr>
              <a:t>Suppliers get it right the first time, inside the portal.</a:t>
            </a:r>
            <a:endParaRPr lang="en-US" sz="2820" dirty="0"/>
          </a:p>
        </p:txBody>
      </p:sp>
      <p:sp>
        <p:nvSpPr>
          <p:cNvPr id="4" name="Shape 2"/>
          <p:cNvSpPr/>
          <p:nvPr/>
        </p:nvSpPr>
        <p:spPr>
          <a:xfrm>
            <a:off x="812800" y="1958181"/>
            <a:ext cx="10566400" cy="3446859"/>
          </a:xfrm>
          <a:prstGeom prst="rect">
            <a:avLst/>
          </a:prstGeom>
          <a:solidFill>
            <a:srgbClr val="FFFFFF"/>
          </a:solidFill>
          <a:ln/>
        </p:spPr>
      </p:sp>
      <p:sp>
        <p:nvSpPr>
          <p:cNvPr id="5" name="Shape 3"/>
          <p:cNvSpPr/>
          <p:nvPr/>
        </p:nvSpPr>
        <p:spPr>
          <a:xfrm>
            <a:off x="11376025" y="1958181"/>
            <a:ext cx="0" cy="3446859"/>
          </a:xfrm>
          <a:prstGeom prst="line">
            <a:avLst/>
          </a:prstGeom>
          <a:noFill/>
          <a:ln w="6350">
            <a:solidFill>
              <a:srgbClr val="DCD9D0"/>
            </a:solidFill>
            <a:prstDash val="solid"/>
          </a:ln>
        </p:spPr>
      </p:sp>
      <p:sp>
        <p:nvSpPr>
          <p:cNvPr id="6" name="Shape 4"/>
          <p:cNvSpPr/>
          <p:nvPr/>
        </p:nvSpPr>
        <p:spPr>
          <a:xfrm>
            <a:off x="812800" y="5401866"/>
            <a:ext cx="10566400" cy="0"/>
          </a:xfrm>
          <a:prstGeom prst="line">
            <a:avLst/>
          </a:prstGeom>
          <a:noFill/>
          <a:ln w="6350">
            <a:solidFill>
              <a:srgbClr val="DCD9D0"/>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1970881"/>
          <a:ext cx="10547350" cy="3427413"/>
        </p:xfrm>
        <a:graphic>
          <a:graphicData uri="http://schemas.openxmlformats.org/drawingml/2006/table">
            <a:tbl>
              <a:tblPr/>
              <a:tblGrid>
                <a:gridCol w="2003997"/>
                <a:gridCol w="2847785"/>
                <a:gridCol w="2847785"/>
                <a:gridCol w="2847785"/>
              </a:tblGrid>
              <a:tr h="441325">
                <a:tc>
                  <a:txBody>
                    <a:bodyPr/>
                    <a:lstStyle/>
                    <a:p>
                      <a:pPr indent="0" marL="0">
                        <a:lnSpc>
                          <a:spcPts val="1502"/>
                        </a:lnSpc>
                        <a:buNone/>
                      </a:pPr>
                      <a:r>
                        <a:rPr lang="en-US" sz="1073" b="1" dirty="0">
                          <a:solidFill>
                            <a:srgbClr val="F7F6F2"/>
                          </a:solidFill>
                          <a:latin typeface="IBM Plex Sans" pitchFamily="34" charset="0"/>
                          <a:ea typeface="IBM Plex Sans" pitchFamily="34" charset="-122"/>
                          <a:cs typeface="IBM Plex Sans" pitchFamily="34" charset="-120"/>
                        </a:rPr>
                        <a:t>Element</a:t>
                      </a:r>
                      <a:endParaRPr lang="en-US" sz="1073" dirty="0">
                        <a:latin typeface="IBM Plex Sans" charset="0"/>
                        <a:ea typeface="IBM Plex Sans" charset="0"/>
                        <a:cs typeface="IBM Plex Sans" charset="0"/>
                      </a:endParaRPr>
                    </a:p>
                  </a:txBody>
                  <a:tcPr marL="101600" marR="101600" marT="101600" marB="101600" anchor="t">
                    <a:lnL w="12700" cap="flat" cmpd="sng" algn="ctr">
                      <a:solidFill>
                        <a:srgbClr val="CBCBCB"/>
                      </a:solidFill>
                      <a:prstDash val="solid"/>
                      <a:round/>
                      <a:headEnd type="none" w="med" len="med"/>
                      <a:tailEnd type="none" w="med" len="med"/>
                    </a:lnL>
                    <a:lnR w="12700" cap="flat" cmpd="sng" algn="ctr">
                      <a:solidFill>
                        <a:srgbClr val="19253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92537"/>
                      </a:solidFill>
                      <a:prstDash val="solid"/>
                      <a:round/>
                      <a:headEnd type="none" w="med" len="med"/>
                      <a:tailEnd type="none" w="med" len="med"/>
                    </a:lnB>
                    <a:solidFill>
                      <a:srgbClr val="1B2A41"/>
                    </a:solidFill>
                  </a:tcPr>
                </a:tc>
                <a:tc>
                  <a:txBody>
                    <a:bodyPr/>
                    <a:lstStyle/>
                    <a:p>
                      <a:pPr indent="0" marL="0">
                        <a:lnSpc>
                          <a:spcPts val="1502"/>
                        </a:lnSpc>
                        <a:buNone/>
                      </a:pPr>
                      <a:r>
                        <a:rPr lang="en-US" sz="1073" b="1" dirty="0">
                          <a:solidFill>
                            <a:srgbClr val="F7F6F2"/>
                          </a:solidFill>
                          <a:latin typeface="IBM Plex Sans" pitchFamily="34" charset="0"/>
                          <a:ea typeface="IBM Plex Sans" pitchFamily="34" charset="-122"/>
                          <a:cs typeface="IBM Plex Sans" pitchFamily="34" charset="-120"/>
                        </a:rPr>
                        <a:t>We will</a:t>
                      </a:r>
                      <a:endParaRPr lang="en-US" sz="1073" dirty="0">
                        <a:latin typeface="IBM Plex Sans" charset="0"/>
                        <a:ea typeface="IBM Plex Sans" charset="0"/>
                        <a:cs typeface="IBM Plex Sans" charset="0"/>
                      </a:endParaRPr>
                    </a:p>
                  </a:txBody>
                  <a:tcPr marL="101600" marR="101600" marT="101600" marB="101600" anchor="t">
                    <a:lnL w="12700" cap="flat" cmpd="sng" algn="ctr">
                      <a:solidFill>
                        <a:srgbClr val="192537"/>
                      </a:solidFill>
                      <a:prstDash val="solid"/>
                      <a:round/>
                      <a:headEnd type="none" w="med" len="med"/>
                      <a:tailEnd type="none" w="med" len="med"/>
                    </a:lnL>
                    <a:lnR w="12700" cap="flat" cmpd="sng" algn="ctr">
                      <a:solidFill>
                        <a:srgbClr val="19253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92537"/>
                      </a:solidFill>
                      <a:prstDash val="solid"/>
                      <a:round/>
                      <a:headEnd type="none" w="med" len="med"/>
                      <a:tailEnd type="none" w="med" len="med"/>
                    </a:lnB>
                    <a:solidFill>
                      <a:srgbClr val="1B2A41"/>
                    </a:solidFill>
                  </a:tcPr>
                </a:tc>
                <a:tc>
                  <a:txBody>
                    <a:bodyPr/>
                    <a:lstStyle/>
                    <a:p>
                      <a:pPr indent="0" marL="0">
                        <a:lnSpc>
                          <a:spcPts val="1502"/>
                        </a:lnSpc>
                        <a:buNone/>
                      </a:pPr>
                      <a:r>
                        <a:rPr lang="en-US" sz="1073" b="1" dirty="0">
                          <a:solidFill>
                            <a:srgbClr val="F7F6F2"/>
                          </a:solidFill>
                          <a:latin typeface="IBM Plex Sans" pitchFamily="34" charset="0"/>
                          <a:ea typeface="IBM Plex Sans" pitchFamily="34" charset="-122"/>
                          <a:cs typeface="IBM Plex Sans" pitchFamily="34" charset="-120"/>
                        </a:rPr>
                        <a:t>Done when</a:t>
                      </a:r>
                      <a:endParaRPr lang="en-US" sz="1073" dirty="0">
                        <a:latin typeface="IBM Plex Sans" charset="0"/>
                        <a:ea typeface="IBM Plex Sans" charset="0"/>
                        <a:cs typeface="IBM Plex Sans" charset="0"/>
                      </a:endParaRPr>
                    </a:p>
                  </a:txBody>
                  <a:tcPr marL="101600" marR="101600" marT="101600" marB="101600" anchor="t">
                    <a:lnL w="12700" cap="flat" cmpd="sng" algn="ctr">
                      <a:solidFill>
                        <a:srgbClr val="192537"/>
                      </a:solidFill>
                      <a:prstDash val="solid"/>
                      <a:round/>
                      <a:headEnd type="none" w="med" len="med"/>
                      <a:tailEnd type="none" w="med" len="med"/>
                    </a:lnL>
                    <a:lnR w="12700" cap="flat" cmpd="sng" algn="ctr">
                      <a:solidFill>
                        <a:srgbClr val="19253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92537"/>
                      </a:solidFill>
                      <a:prstDash val="solid"/>
                      <a:round/>
                      <a:headEnd type="none" w="med" len="med"/>
                      <a:tailEnd type="none" w="med" len="med"/>
                    </a:lnB>
                    <a:solidFill>
                      <a:srgbClr val="1B2A41"/>
                    </a:solidFill>
                  </a:tcPr>
                </a:tc>
                <a:tc>
                  <a:txBody>
                    <a:bodyPr/>
                    <a:lstStyle/>
                    <a:p>
                      <a:pPr indent="0" marL="0">
                        <a:lnSpc>
                          <a:spcPts val="1502"/>
                        </a:lnSpc>
                        <a:buNone/>
                      </a:pPr>
                      <a:r>
                        <a:rPr lang="en-US" sz="1073" b="1" dirty="0">
                          <a:solidFill>
                            <a:srgbClr val="F7F6F2"/>
                          </a:solidFill>
                          <a:latin typeface="IBM Plex Sans" pitchFamily="34" charset="0"/>
                          <a:ea typeface="IBM Plex Sans" pitchFamily="34" charset="-122"/>
                          <a:cs typeface="IBM Plex Sans" pitchFamily="34" charset="-120"/>
                        </a:rPr>
                        <a:t>What changes for you</a:t>
                      </a:r>
                      <a:endParaRPr lang="en-US" sz="1073" dirty="0">
                        <a:latin typeface="IBM Plex Sans" charset="0"/>
                        <a:ea typeface="IBM Plex Sans" charset="0"/>
                        <a:cs typeface="IBM Plex Sans" charset="0"/>
                      </a:endParaRPr>
                    </a:p>
                  </a:txBody>
                  <a:tcPr marL="101600" marR="101600" marT="101600" marB="101600" anchor="t">
                    <a:lnL w="12700" cap="flat" cmpd="sng" algn="ctr">
                      <a:solidFill>
                        <a:srgbClr val="192537"/>
                      </a:solidFill>
                      <a:prstDash val="solid"/>
                      <a:round/>
                      <a:headEnd type="none" w="med" len="med"/>
                      <a:tailEnd type="none" w="med" len="med"/>
                    </a:lnL>
                    <a:lnR w="12700" cap="flat" cmpd="sng" algn="ctr">
                      <a:solidFill>
                        <a:srgbClr val="19253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92537"/>
                      </a:solidFill>
                      <a:prstDash val="solid"/>
                      <a:round/>
                      <a:headEnd type="none" w="med" len="med"/>
                      <a:tailEnd type="none" w="med" len="med"/>
                    </a:lnB>
                    <a:solidFill>
                      <a:srgbClr val="1B2A41"/>
                    </a:solidFill>
                  </a:tcPr>
                </a:tc>
              </a:tr>
              <a:tr h="790972">
                <a:tc>
                  <a:txBody>
                    <a:bodyPr/>
                    <a:lstStyle/>
                    <a:p>
                      <a:pPr indent="0" marL="0">
                        <a:lnSpc>
                          <a:spcPts val="1502"/>
                        </a:lnSpc>
                        <a:buNone/>
                      </a:pPr>
                      <a:r>
                        <a:rPr lang="en-US" sz="1073" dirty="0">
                          <a:solidFill>
                            <a:srgbClr val="1B2A41"/>
                          </a:solidFill>
                          <a:latin typeface="IBM Plex Sans" pitchFamily="34" charset="0"/>
                          <a:ea typeface="IBM Plex Sans" pitchFamily="34" charset="-122"/>
                          <a:cs typeface="IBM Plex Sans" pitchFamily="34" charset="-120"/>
                        </a:rPr>
                        <a:t>R01 Master data upload</a:t>
                      </a:r>
                      <a:endParaRPr lang="en-US" sz="1073" dirty="0">
                        <a:latin typeface="IBM Plex Sans" charset="0"/>
                        <a:ea typeface="IBM Plex Sans" charset="0"/>
                        <a:cs typeface="IBM Plex Sans" charset="0"/>
                      </a:endParaRPr>
                    </a:p>
                  </a:txBody>
                  <a:tcPr marL="101600" marR="1016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9253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502"/>
                        </a:lnSpc>
                        <a:buNone/>
                      </a:pPr>
                      <a:r>
                        <a:rPr lang="en-US" sz="1073" dirty="0">
                          <a:solidFill>
                            <a:srgbClr val="4A5568"/>
                          </a:solidFill>
                          <a:latin typeface="IBM Plex Sans" pitchFamily="34" charset="0"/>
                          <a:ea typeface="IBM Plex Sans" pitchFamily="34" charset="-122"/>
                          <a:cs typeface="IBM Plex Sans" pitchFamily="34" charset="-120"/>
                        </a:rPr>
                        <a:t>Add a secure upload step in the portal for client reference data, with analyst access.</a:t>
                      </a:r>
                      <a:endParaRPr lang="en-US" sz="1073" dirty="0">
                        <a:latin typeface="IBM Plex Sans" charset="0"/>
                        <a:ea typeface="IBM Plex Sans" charset="0"/>
                        <a:cs typeface="IBM Plex Sans" charset="0"/>
                      </a:endParaRPr>
                    </a:p>
                  </a:txBody>
                  <a:tcPr marL="101600" marR="1016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9253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502"/>
                        </a:lnSpc>
                        <a:buNone/>
                      </a:pPr>
                      <a:r>
                        <a:rPr lang="en-US" sz="1073" dirty="0">
                          <a:solidFill>
                            <a:srgbClr val="4A5568"/>
                          </a:solidFill>
                          <a:latin typeface="IBM Plex Sans" pitchFamily="34" charset="0"/>
                          <a:ea typeface="IBM Plex Sans" pitchFamily="34" charset="-122"/>
                          <a:cs typeface="IBM Plex Sans" pitchFamily="34" charset="-120"/>
                        </a:rPr>
                        <a:t>An analyst finds a new implementation’s reference data in the portal; none arrives by email.</a:t>
                      </a:r>
                      <a:endParaRPr lang="en-US" sz="1073" dirty="0">
                        <a:latin typeface="IBM Plex Sans" charset="0"/>
                        <a:ea typeface="IBM Plex Sans" charset="0"/>
                        <a:cs typeface="IBM Plex Sans" charset="0"/>
                      </a:endParaRPr>
                    </a:p>
                  </a:txBody>
                  <a:tcPr marL="101600" marR="1016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9253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502"/>
                        </a:lnSpc>
                        <a:buNone/>
                      </a:pPr>
                      <a:r>
                        <a:rPr lang="en-US" sz="1073" dirty="0">
                          <a:solidFill>
                            <a:srgbClr val="4A5568"/>
                          </a:solidFill>
                          <a:latin typeface="IBM Plex Sans" pitchFamily="34" charset="0"/>
                          <a:ea typeface="IBM Plex Sans" pitchFamily="34" charset="-122"/>
                          <a:cs typeface="IBM Plex Sans" pitchFamily="34" charset="-120"/>
                        </a:rPr>
                        <a:t>Reference data is uploaded, not emailed. Whether the system also uses it is decision D1.</a:t>
                      </a:r>
                      <a:endParaRPr lang="en-US" sz="1073" dirty="0">
                        <a:latin typeface="IBM Plex Sans" charset="0"/>
                        <a:ea typeface="IBM Plex Sans" charset="0"/>
                        <a:cs typeface="IBM Plex Sans" charset="0"/>
                      </a:endParaRPr>
                    </a:p>
                  </a:txBody>
                  <a:tcPr marL="101600" marR="1016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9253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790972">
                <a:tc>
                  <a:txBody>
                    <a:bodyPr/>
                    <a:lstStyle/>
                    <a:p>
                      <a:pPr indent="0" marL="0">
                        <a:lnSpc>
                          <a:spcPts val="1502"/>
                        </a:lnSpc>
                        <a:buNone/>
                      </a:pPr>
                      <a:r>
                        <a:rPr lang="en-US" sz="1073" dirty="0">
                          <a:solidFill>
                            <a:srgbClr val="1B2A41"/>
                          </a:solidFill>
                          <a:latin typeface="IBM Plex Sans" pitchFamily="34" charset="0"/>
                          <a:ea typeface="IBM Plex Sans" pitchFamily="34" charset="-122"/>
                          <a:cs typeface="IBM Plex Sans" pitchFamily="34" charset="-120"/>
                        </a:rPr>
                        <a:t>R02 Rate calculator</a:t>
                      </a:r>
                      <a:endParaRPr lang="en-US" sz="1073" dirty="0">
                        <a:latin typeface="IBM Plex Sans" charset="0"/>
                        <a:ea typeface="IBM Plex Sans" charset="0"/>
                        <a:cs typeface="IBM Plex Sans" charset="0"/>
                      </a:endParaRPr>
                    </a:p>
                  </a:txBody>
                  <a:tcPr marL="101600" marR="101600" marT="101600" marB="101600" anchor="t">
                    <a:lnL w="12700" cap="flat" cmpd="sng" algn="ctr">
                      <a:solidFill>
                        <a:srgbClr val="CBCBCB"/>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502"/>
                        </a:lnSpc>
                        <a:buNone/>
                      </a:pPr>
                      <a:r>
                        <a:rPr lang="en-US" sz="1073" dirty="0">
                          <a:solidFill>
                            <a:srgbClr val="4A5568"/>
                          </a:solidFill>
                          <a:latin typeface="IBM Plex Sans" pitchFamily="34" charset="0"/>
                          <a:ea typeface="IBM Plex Sans" pitchFamily="34" charset="-122"/>
                          <a:cs typeface="IBM Plex Sans" pitchFamily="34" charset="-120"/>
                        </a:rPr>
                        <a:t>Put a rate calculator in the supplier form, with supplier‑facing messages and an override.</a:t>
                      </a:r>
                      <a:endParaRPr lang="en-US" sz="1073" dirty="0">
                        <a:latin typeface="IBM Plex Sans" charset="0"/>
                        <a:ea typeface="IBM Plex Sans" charset="0"/>
                        <a:cs typeface="IBM Plex Sans" charset="0"/>
                      </a:endParaRPr>
                    </a:p>
                  </a:txBody>
                  <a:tcPr marL="101600" marR="101600" marT="101600" marB="10160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502"/>
                        </a:lnSpc>
                        <a:buNone/>
                      </a:pPr>
                      <a:r>
                        <a:rPr lang="en-US" sz="1073" dirty="0">
                          <a:solidFill>
                            <a:srgbClr val="4A5568"/>
                          </a:solidFill>
                          <a:latin typeface="IBM Plex Sans" pitchFamily="34" charset="0"/>
                          <a:ea typeface="IBM Plex Sans" pitchFamily="34" charset="-122"/>
                          <a:cs typeface="IBM Plex Sans" pitchFamily="34" charset="-120"/>
                        </a:rPr>
                        <a:t>A supplier sees the calculated rate before submitting; rate rounds per supplier fall below today’s [__].</a:t>
                      </a:r>
                      <a:endParaRPr lang="en-US" sz="1073" dirty="0">
                        <a:latin typeface="IBM Plex Sans" charset="0"/>
                        <a:ea typeface="IBM Plex Sans" charset="0"/>
                        <a:cs typeface="IBM Plex Sans" charset="0"/>
                      </a:endParaRPr>
                    </a:p>
                  </a:txBody>
                  <a:tcPr marL="101600" marR="101600" marT="101600" marB="10160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502"/>
                        </a:lnSpc>
                        <a:buNone/>
                      </a:pPr>
                      <a:r>
                        <a:rPr lang="en-US" sz="1073" dirty="0">
                          <a:solidFill>
                            <a:srgbClr val="4A5568"/>
                          </a:solidFill>
                          <a:latin typeface="IBM Plex Sans" pitchFamily="34" charset="0"/>
                          <a:ea typeface="IBM Plex Sans" pitchFamily="34" charset="-122"/>
                          <a:cs typeface="IBM Plex Sans" pitchFamily="34" charset="-120"/>
                        </a:rPr>
                        <a:t>Submitted rates match the calculator or carry an override reason. The rules behind it are pending (slide 9).</a:t>
                      </a:r>
                      <a:endParaRPr lang="en-US" sz="1073" dirty="0">
                        <a:latin typeface="IBM Plex Sans" charset="0"/>
                        <a:ea typeface="IBM Plex Sans" charset="0"/>
                        <a:cs typeface="IBM Plex Sans" charset="0"/>
                      </a:endParaRPr>
                    </a:p>
                  </a:txBody>
                  <a:tcPr marL="101600" marR="101600" marT="101600" marB="10160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r>
              <a:tr h="790972">
                <a:tc>
                  <a:txBody>
                    <a:bodyPr/>
                    <a:lstStyle/>
                    <a:p>
                      <a:pPr indent="0" marL="0">
                        <a:lnSpc>
                          <a:spcPts val="1502"/>
                        </a:lnSpc>
                        <a:buNone/>
                      </a:pPr>
                      <a:r>
                        <a:rPr lang="en-US" sz="1073" dirty="0">
                          <a:solidFill>
                            <a:srgbClr val="1B2A41"/>
                          </a:solidFill>
                          <a:latin typeface="IBM Plex Sans" pitchFamily="34" charset="0"/>
                          <a:ea typeface="IBM Plex Sans" pitchFamily="34" charset="-122"/>
                          <a:cs typeface="IBM Plex Sans" pitchFamily="34" charset="-120"/>
                        </a:rPr>
                        <a:t>R03 In‑flight changes</a:t>
                      </a:r>
                      <a:endParaRPr lang="en-US" sz="1073" dirty="0">
                        <a:latin typeface="IBM Plex Sans" charset="0"/>
                        <a:ea typeface="IBM Plex Sans" charset="0"/>
                        <a:cs typeface="IBM Plex Sans" charset="0"/>
                      </a:endParaRPr>
                    </a:p>
                  </a:txBody>
                  <a:tcPr marL="101600" marR="1016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502"/>
                        </a:lnSpc>
                        <a:buNone/>
                      </a:pPr>
                      <a:r>
                        <a:rPr lang="en-US" sz="1073" dirty="0">
                          <a:solidFill>
                            <a:srgbClr val="4A5568"/>
                          </a:solidFill>
                          <a:latin typeface="IBM Plex Sans" pitchFamily="34" charset="0"/>
                          <a:ea typeface="IBM Plex Sans" pitchFamily="34" charset="-122"/>
                          <a:cs typeface="IBM Plex Sans" pitchFamily="34" charset="-120"/>
                        </a:rPr>
                        <a:t>Add a supplier “request an edit” action, an attributed edit history, and an analyst notification.</a:t>
                      </a:r>
                      <a:endParaRPr lang="en-US" sz="1073" dirty="0">
                        <a:latin typeface="IBM Plex Sans" charset="0"/>
                        <a:ea typeface="IBM Plex Sans" charset="0"/>
                        <a:cs typeface="IBM Plex Sans" charset="0"/>
                      </a:endParaRPr>
                    </a:p>
                  </a:txBody>
                  <a:tcPr marL="101600" marR="1016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502"/>
                        </a:lnSpc>
                        <a:buNone/>
                      </a:pPr>
                      <a:r>
                        <a:rPr lang="en-US" sz="1073" dirty="0">
                          <a:solidFill>
                            <a:srgbClr val="4A5568"/>
                          </a:solidFill>
                          <a:latin typeface="IBM Plex Sans" pitchFamily="34" charset="0"/>
                          <a:ea typeface="IBM Plex Sans" pitchFamily="34" charset="-122"/>
                          <a:cs typeface="IBM Plex Sans" pitchFamily="34" charset="-120"/>
                        </a:rPr>
                        <a:t>A supplier requests an edit in the portal and the analyst sees who changed what, and when.</a:t>
                      </a:r>
                      <a:endParaRPr lang="en-US" sz="1073" dirty="0">
                        <a:latin typeface="IBM Plex Sans" charset="0"/>
                        <a:ea typeface="IBM Plex Sans" charset="0"/>
                        <a:cs typeface="IBM Plex Sans" charset="0"/>
                      </a:endParaRPr>
                    </a:p>
                  </a:txBody>
                  <a:tcPr marL="101600" marR="1016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502"/>
                        </a:lnSpc>
                        <a:buNone/>
                      </a:pPr>
                      <a:r>
                        <a:rPr lang="en-US" sz="1073" dirty="0">
                          <a:solidFill>
                            <a:srgbClr val="4A5568"/>
                          </a:solidFill>
                          <a:latin typeface="IBM Plex Sans" pitchFamily="34" charset="0"/>
                          <a:ea typeface="IBM Plex Sans" pitchFamily="34" charset="-122"/>
                          <a:cs typeface="IBM Plex Sans" pitchFamily="34" charset="-120"/>
                        </a:rPr>
                        <a:t>Edits after submission go through the portal; email edits are no longer worked. Which states allow it is decision D2.</a:t>
                      </a:r>
                      <a:endParaRPr lang="en-US" sz="1073" dirty="0">
                        <a:latin typeface="IBM Plex Sans" charset="0"/>
                        <a:ea typeface="IBM Plex Sans" charset="0"/>
                        <a:cs typeface="IBM Plex Sans" charset="0"/>
                      </a:endParaRPr>
                    </a:p>
                  </a:txBody>
                  <a:tcPr marL="101600" marR="1016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613172">
                <a:tc>
                  <a:txBody>
                    <a:bodyPr/>
                    <a:lstStyle/>
                    <a:p>
                      <a:pPr indent="0" marL="0">
                        <a:lnSpc>
                          <a:spcPts val="1502"/>
                        </a:lnSpc>
                        <a:buNone/>
                      </a:pPr>
                      <a:r>
                        <a:rPr lang="en-US" sz="1073" dirty="0">
                          <a:solidFill>
                            <a:srgbClr val="1B2A41"/>
                          </a:solidFill>
                          <a:latin typeface="IBM Plex Sans" pitchFamily="34" charset="0"/>
                          <a:ea typeface="IBM Plex Sans" pitchFamily="34" charset="-122"/>
                          <a:cs typeface="IBM Plex Sans" pitchFamily="34" charset="-120"/>
                        </a:rPr>
                        <a:t>R04 Flag for review</a:t>
                      </a:r>
                      <a:endParaRPr lang="en-US" sz="1073" dirty="0">
                        <a:latin typeface="IBM Plex Sans" charset="0"/>
                        <a:ea typeface="IBM Plex Sans" charset="0"/>
                        <a:cs typeface="IBM Plex Sans" charset="0"/>
                      </a:endParaRPr>
                    </a:p>
                  </a:txBody>
                  <a:tcPr marL="101600" marR="101600" marT="101600" marB="101600" anchor="t">
                    <a:lnL w="12700" cap="flat" cmpd="sng" algn="ctr">
                      <a:solidFill>
                        <a:srgbClr val="CBCBCB"/>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502"/>
                        </a:lnSpc>
                        <a:buNone/>
                      </a:pPr>
                      <a:r>
                        <a:rPr lang="en-US" sz="1073" dirty="0">
                          <a:solidFill>
                            <a:srgbClr val="4A5568"/>
                          </a:solidFill>
                          <a:latin typeface="IBM Plex Sans" pitchFamily="34" charset="0"/>
                          <a:ea typeface="IBM Plex Sans" pitchFamily="34" charset="-122"/>
                          <a:cs typeface="IBM Plex Sans" pitchFamily="34" charset="-120"/>
                        </a:rPr>
                        <a:t>Add a submission‑level flag that creates an analyst task and bypasses the rework loop.</a:t>
                      </a:r>
                      <a:endParaRPr lang="en-US" sz="1073" dirty="0">
                        <a:latin typeface="IBM Plex Sans" charset="0"/>
                        <a:ea typeface="IBM Plex Sans" charset="0"/>
                        <a:cs typeface="IBM Plex Sans" charset="0"/>
                      </a:endParaRPr>
                    </a:p>
                  </a:txBody>
                  <a:tcPr marL="101600" marR="101600" marT="101600" marB="10160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502"/>
                        </a:lnSpc>
                        <a:buNone/>
                      </a:pPr>
                      <a:r>
                        <a:rPr lang="en-US" sz="1073" dirty="0">
                          <a:solidFill>
                            <a:srgbClr val="4A5568"/>
                          </a:solidFill>
                          <a:latin typeface="IBM Plex Sans" pitchFamily="34" charset="0"/>
                          <a:ea typeface="IBM Plex Sans" pitchFamily="34" charset="-122"/>
                          <a:cs typeface="IBM Plex Sans" pitchFamily="34" charset="-120"/>
                        </a:rPr>
                        <a:t>A flagged submission lands with the analyst as a task, without a rework cycle.</a:t>
                      </a:r>
                      <a:endParaRPr lang="en-US" sz="1073" dirty="0">
                        <a:latin typeface="IBM Plex Sans" charset="0"/>
                        <a:ea typeface="IBM Plex Sans" charset="0"/>
                        <a:cs typeface="IBM Plex Sans" charset="0"/>
                      </a:endParaRPr>
                    </a:p>
                  </a:txBody>
                  <a:tcPr marL="101600" marR="101600" marT="101600" marB="10160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502"/>
                        </a:lnSpc>
                        <a:buNone/>
                      </a:pPr>
                      <a:r>
                        <a:rPr lang="en-US" sz="1073" dirty="0">
                          <a:solidFill>
                            <a:srgbClr val="4A5568"/>
                          </a:solidFill>
                          <a:latin typeface="IBM Plex Sans" pitchFamily="34" charset="0"/>
                          <a:ea typeface="IBM Plex Sans" pitchFamily="34" charset="-122"/>
                          <a:cs typeface="IBM Plex Sans" pitchFamily="34" charset="-120"/>
                        </a:rPr>
                        <a:t>“Flag for review” replaces placeholder values entered to pass validation.</a:t>
                      </a:r>
                      <a:endParaRPr lang="en-US" sz="1073" dirty="0">
                        <a:latin typeface="IBM Plex Sans" charset="0"/>
                        <a:ea typeface="IBM Plex Sans" charset="0"/>
                        <a:cs typeface="IBM Plex Sans" charset="0"/>
                      </a:endParaRPr>
                    </a:p>
                  </a:txBody>
                  <a:tcPr marL="101600" marR="101600" marT="101600" marB="10160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r>
            </a:tbl>
          </a:graphicData>
        </a:graphic>
      </p:graphicFrame>
      <p:sp>
        <p:nvSpPr>
          <p:cNvPr id="8" name="Text 5"/>
          <p:cNvSpPr/>
          <p:nvPr/>
        </p:nvSpPr>
        <p:spPr>
          <a:xfrm>
            <a:off x="812800" y="5659041"/>
            <a:ext cx="10883392" cy="208359"/>
          </a:xfrm>
          <a:prstGeom prst="rect">
            <a:avLst/>
          </a:prstGeom>
          <a:noFill/>
          <a:ln/>
        </p:spPr>
        <p:txBody>
          <a:bodyPr wrap="square" lIns="0" tIns="0" rIns="0" bIns="0" rtlCol="0" anchor="t">
            <a:normAutofit/>
          </a:bodyPr>
          <a:lstStyle/>
          <a:p>
            <a:pPr algn="l" indent="0" marL="0">
              <a:lnSpc>
                <a:spcPts val="1496"/>
              </a:lnSpc>
              <a:buNone/>
            </a:pPr>
            <a:r>
              <a:rPr lang="en-US" sz="1069" dirty="0">
                <a:solidFill>
                  <a:srgbClr val="6A7179"/>
                </a:solidFill>
                <a:latin typeface="IBM Plex Sans" pitchFamily="34" charset="0"/>
                <a:ea typeface="IBM Plex Sans" pitchFamily="34" charset="-122"/>
                <a:cs typeface="IBM Plex Sans" pitchFamily="34" charset="-120"/>
              </a:rPr>
              <a:t>Not in this group: analyst review of calculated rates; analyst edits made on a supplier’s behalf; field‑level flags.</a:t>
            </a:r>
            <a:endParaRPr lang="en-US" sz="1069" dirty="0"/>
          </a:p>
        </p:txBody>
      </p:sp>
      <p:sp>
        <p:nvSpPr>
          <p:cNvPr id="9" name="Text 6"/>
          <p:cNvSpPr/>
          <p:nvPr/>
        </p:nvSpPr>
        <p:spPr>
          <a:xfrm>
            <a:off x="11287720" y="6242050"/>
            <a:ext cx="14228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55488"/>
          </a:xfrm>
          <a:prstGeom prst="rect">
            <a:avLst/>
          </a:prstGeom>
          <a:noFill/>
          <a:ln/>
        </p:spPr>
        <p:txBody>
          <a:bodyPr wrap="square" lIns="0" tIns="0" rIns="0" bIns="0" rtlCol="0" anchor="t">
            <a:normAutofit/>
          </a:bodyPr>
          <a:lstStyle/>
          <a:p>
            <a:pPr algn="l" indent="0" marL="0">
              <a:lnSpc>
                <a:spcPts val="1844"/>
              </a:lnSpc>
              <a:buNone/>
            </a:pPr>
            <a:r>
              <a:rPr lang="en-US" sz="1317" spc="100" kern="0" dirty="0">
                <a:solidFill>
                  <a:srgbClr val="C8702A"/>
                </a:solidFill>
                <a:latin typeface="IBM Plex Sans" pitchFamily="34" charset="0"/>
                <a:ea typeface="IBM Plex Sans" pitchFamily="34" charset="-122"/>
                <a:cs typeface="IBM Plex Sans" pitchFamily="34" charset="-120"/>
              </a:rPr>
              <a:t>GROUP 2 · ANALYST EXPERIENCE</a:t>
            </a:r>
            <a:endParaRPr lang="en-US" sz="1317" dirty="0"/>
          </a:p>
        </p:txBody>
      </p:sp>
      <p:sp>
        <p:nvSpPr>
          <p:cNvPr id="3" name="Text 1"/>
          <p:cNvSpPr/>
          <p:nvPr>
            <p:ph type="title"/>
          </p:nvPr>
        </p:nvSpPr>
        <p:spPr>
          <a:xfrm>
            <a:off x="812800" y="1296888"/>
            <a:ext cx="11379200" cy="825302"/>
          </a:xfrm>
          <a:prstGeom prst="rect">
            <a:avLst/>
          </a:prstGeom>
          <a:noFill/>
          <a:ln/>
        </p:spPr>
        <p:txBody>
          <a:bodyPr wrap="square" lIns="0" tIns="0" rIns="0" bIns="0" rtlCol="0" anchor="t">
            <a:normAutofit/>
          </a:bodyPr>
          <a:lstStyle/>
          <a:p>
            <a:pPr algn="l" indent="0" marL="0">
              <a:lnSpc>
                <a:spcPts val="3450"/>
              </a:lnSpc>
              <a:buNone/>
            </a:pPr>
            <a:r>
              <a:rPr lang="en-US" sz="3000" b="0" i="0" dirty="0">
                <a:solidFill>
                  <a:srgbClr val="1B2A41"/>
                </a:solidFill>
                <a:latin typeface="Source Serif 4" pitchFamily="18" charset="0"/>
                <a:ea typeface="Source Serif 4" pitchFamily="18" charset="-122"/>
                <a:cs typeface="Source Serif 4" pitchFamily="18" charset="-120"/>
              </a:rPr>
              <a:t>Analysts configure and review without leaving the system.</a:t>
            </a:r>
            <a:endParaRPr lang="en-US" sz="3000" dirty="0"/>
          </a:p>
        </p:txBody>
      </p:sp>
      <p:sp>
        <p:nvSpPr>
          <p:cNvPr id="4" name="Shape 2"/>
          <p:cNvSpPr/>
          <p:nvPr/>
        </p:nvSpPr>
        <p:spPr>
          <a:xfrm>
            <a:off x="812800" y="2350790"/>
            <a:ext cx="10566400" cy="3056434"/>
          </a:xfrm>
          <a:prstGeom prst="rect">
            <a:avLst/>
          </a:prstGeom>
          <a:solidFill>
            <a:srgbClr val="FFFFFF"/>
          </a:solidFill>
          <a:ln/>
        </p:spPr>
      </p:sp>
      <p:sp>
        <p:nvSpPr>
          <p:cNvPr id="5" name="Shape 3"/>
          <p:cNvSpPr/>
          <p:nvPr/>
        </p:nvSpPr>
        <p:spPr>
          <a:xfrm>
            <a:off x="11376025" y="2350790"/>
            <a:ext cx="0" cy="3056434"/>
          </a:xfrm>
          <a:prstGeom prst="line">
            <a:avLst/>
          </a:prstGeom>
          <a:noFill/>
          <a:ln w="6350">
            <a:solidFill>
              <a:srgbClr val="DCD9D0"/>
            </a:solidFill>
            <a:prstDash val="solid"/>
          </a:ln>
        </p:spPr>
      </p:sp>
      <p:sp>
        <p:nvSpPr>
          <p:cNvPr id="6" name="Shape 4"/>
          <p:cNvSpPr/>
          <p:nvPr/>
        </p:nvSpPr>
        <p:spPr>
          <a:xfrm>
            <a:off x="812800" y="5404048"/>
            <a:ext cx="10566400" cy="0"/>
          </a:xfrm>
          <a:prstGeom prst="line">
            <a:avLst/>
          </a:prstGeom>
          <a:noFill/>
          <a:ln w="6350">
            <a:solidFill>
              <a:srgbClr val="DCD9D0"/>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2363490"/>
          <a:ext cx="10547350" cy="3037384"/>
        </p:xfrm>
        <a:graphic>
          <a:graphicData uri="http://schemas.openxmlformats.org/drawingml/2006/table">
            <a:tbl>
              <a:tblPr/>
              <a:tblGrid>
                <a:gridCol w="2003997"/>
                <a:gridCol w="2847785"/>
                <a:gridCol w="2847785"/>
                <a:gridCol w="2847785"/>
              </a:tblGrid>
              <a:tr h="396379">
                <a:tc>
                  <a:txBody>
                    <a:bodyPr/>
                    <a:lstStyle/>
                    <a:p>
                      <a:pPr indent="0" marL="0">
                        <a:lnSpc>
                          <a:spcPts val="1475"/>
                        </a:lnSpc>
                        <a:buNone/>
                      </a:pPr>
                      <a:r>
                        <a:rPr lang="en-US" sz="1054" b="1" dirty="0">
                          <a:solidFill>
                            <a:srgbClr val="F7F6F2"/>
                          </a:solidFill>
                          <a:latin typeface="IBM Plex Sans" pitchFamily="34" charset="0"/>
                          <a:ea typeface="IBM Plex Sans" pitchFamily="34" charset="-122"/>
                          <a:cs typeface="IBM Plex Sans" pitchFamily="34" charset="-120"/>
                        </a:rPr>
                        <a:t>Element</a:t>
                      </a:r>
                      <a:endParaRPr lang="en-US" sz="1054" dirty="0">
                        <a:latin typeface="IBM Plex Sans" charset="0"/>
                        <a:ea typeface="IBM Plex Sans" charset="0"/>
                        <a:cs typeface="IBM Plex Sans" charset="0"/>
                      </a:endParaRPr>
                    </a:p>
                  </a:txBody>
                  <a:tcPr marL="101600" marR="101600" marT="101600" marB="101600" anchor="t">
                    <a:lnL w="12700" cap="flat" cmpd="sng" algn="ctr">
                      <a:solidFill>
                        <a:srgbClr val="CBCBCB"/>
                      </a:solidFill>
                      <a:prstDash val="solid"/>
                      <a:round/>
                      <a:headEnd type="none" w="med" len="med"/>
                      <a:tailEnd type="none" w="med" len="med"/>
                    </a:lnL>
                    <a:lnR w="12700" cap="flat" cmpd="sng" algn="ctr">
                      <a:solidFill>
                        <a:srgbClr val="19253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92537"/>
                      </a:solidFill>
                      <a:prstDash val="solid"/>
                      <a:round/>
                      <a:headEnd type="none" w="med" len="med"/>
                      <a:tailEnd type="none" w="med" len="med"/>
                    </a:lnB>
                    <a:solidFill>
                      <a:srgbClr val="1B2A41"/>
                    </a:solidFill>
                  </a:tcPr>
                </a:tc>
                <a:tc>
                  <a:txBody>
                    <a:bodyPr/>
                    <a:lstStyle/>
                    <a:p>
                      <a:pPr indent="0" marL="0">
                        <a:lnSpc>
                          <a:spcPts val="1475"/>
                        </a:lnSpc>
                        <a:buNone/>
                      </a:pPr>
                      <a:r>
                        <a:rPr lang="en-US" sz="1054" b="1" dirty="0">
                          <a:solidFill>
                            <a:srgbClr val="F7F6F2"/>
                          </a:solidFill>
                          <a:latin typeface="IBM Plex Sans" pitchFamily="34" charset="0"/>
                          <a:ea typeface="IBM Plex Sans" pitchFamily="34" charset="-122"/>
                          <a:cs typeface="IBM Plex Sans" pitchFamily="34" charset="-120"/>
                        </a:rPr>
                        <a:t>We will</a:t>
                      </a:r>
                      <a:endParaRPr lang="en-US" sz="1054" dirty="0">
                        <a:latin typeface="IBM Plex Sans" charset="0"/>
                        <a:ea typeface="IBM Plex Sans" charset="0"/>
                        <a:cs typeface="IBM Plex Sans" charset="0"/>
                      </a:endParaRPr>
                    </a:p>
                  </a:txBody>
                  <a:tcPr marL="101600" marR="101600" marT="101600" marB="101600" anchor="t">
                    <a:lnL w="12700" cap="flat" cmpd="sng" algn="ctr">
                      <a:solidFill>
                        <a:srgbClr val="192537"/>
                      </a:solidFill>
                      <a:prstDash val="solid"/>
                      <a:round/>
                      <a:headEnd type="none" w="med" len="med"/>
                      <a:tailEnd type="none" w="med" len="med"/>
                    </a:lnL>
                    <a:lnR w="12700" cap="flat" cmpd="sng" algn="ctr">
                      <a:solidFill>
                        <a:srgbClr val="19253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92537"/>
                      </a:solidFill>
                      <a:prstDash val="solid"/>
                      <a:round/>
                      <a:headEnd type="none" w="med" len="med"/>
                      <a:tailEnd type="none" w="med" len="med"/>
                    </a:lnB>
                    <a:solidFill>
                      <a:srgbClr val="1B2A41"/>
                    </a:solidFill>
                  </a:tcPr>
                </a:tc>
                <a:tc>
                  <a:txBody>
                    <a:bodyPr/>
                    <a:lstStyle/>
                    <a:p>
                      <a:pPr indent="0" marL="0">
                        <a:lnSpc>
                          <a:spcPts val="1475"/>
                        </a:lnSpc>
                        <a:buNone/>
                      </a:pPr>
                      <a:r>
                        <a:rPr lang="en-US" sz="1054" b="1" dirty="0">
                          <a:solidFill>
                            <a:srgbClr val="F7F6F2"/>
                          </a:solidFill>
                          <a:latin typeface="IBM Plex Sans" pitchFamily="34" charset="0"/>
                          <a:ea typeface="IBM Plex Sans" pitchFamily="34" charset="-122"/>
                          <a:cs typeface="IBM Plex Sans" pitchFamily="34" charset="-120"/>
                        </a:rPr>
                        <a:t>Done when</a:t>
                      </a:r>
                      <a:endParaRPr lang="en-US" sz="1054" dirty="0">
                        <a:latin typeface="IBM Plex Sans" charset="0"/>
                        <a:ea typeface="IBM Plex Sans" charset="0"/>
                        <a:cs typeface="IBM Plex Sans" charset="0"/>
                      </a:endParaRPr>
                    </a:p>
                  </a:txBody>
                  <a:tcPr marL="101600" marR="101600" marT="101600" marB="101600" anchor="t">
                    <a:lnL w="12700" cap="flat" cmpd="sng" algn="ctr">
                      <a:solidFill>
                        <a:srgbClr val="192537"/>
                      </a:solidFill>
                      <a:prstDash val="solid"/>
                      <a:round/>
                      <a:headEnd type="none" w="med" len="med"/>
                      <a:tailEnd type="none" w="med" len="med"/>
                    </a:lnL>
                    <a:lnR w="12700" cap="flat" cmpd="sng" algn="ctr">
                      <a:solidFill>
                        <a:srgbClr val="19253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92537"/>
                      </a:solidFill>
                      <a:prstDash val="solid"/>
                      <a:round/>
                      <a:headEnd type="none" w="med" len="med"/>
                      <a:tailEnd type="none" w="med" len="med"/>
                    </a:lnB>
                    <a:solidFill>
                      <a:srgbClr val="1B2A41"/>
                    </a:solidFill>
                  </a:tcPr>
                </a:tc>
                <a:tc>
                  <a:txBody>
                    <a:bodyPr/>
                    <a:lstStyle/>
                    <a:p>
                      <a:pPr indent="0" marL="0">
                        <a:lnSpc>
                          <a:spcPts val="1475"/>
                        </a:lnSpc>
                        <a:buNone/>
                      </a:pPr>
                      <a:r>
                        <a:rPr lang="en-US" sz="1054" b="1" dirty="0">
                          <a:solidFill>
                            <a:srgbClr val="F7F6F2"/>
                          </a:solidFill>
                          <a:latin typeface="IBM Plex Sans" pitchFamily="34" charset="0"/>
                          <a:ea typeface="IBM Plex Sans" pitchFamily="34" charset="-122"/>
                          <a:cs typeface="IBM Plex Sans" pitchFamily="34" charset="-120"/>
                        </a:rPr>
                        <a:t>What changes for you</a:t>
                      </a:r>
                      <a:endParaRPr lang="en-US" sz="1054" dirty="0">
                        <a:latin typeface="IBM Plex Sans" charset="0"/>
                        <a:ea typeface="IBM Plex Sans" charset="0"/>
                        <a:cs typeface="IBM Plex Sans" charset="0"/>
                      </a:endParaRPr>
                    </a:p>
                  </a:txBody>
                  <a:tcPr marL="101600" marR="101600" marT="101600" marB="101600" anchor="t">
                    <a:lnL w="12700" cap="flat" cmpd="sng" algn="ctr">
                      <a:solidFill>
                        <a:srgbClr val="192537"/>
                      </a:solidFill>
                      <a:prstDash val="solid"/>
                      <a:round/>
                      <a:headEnd type="none" w="med" len="med"/>
                      <a:tailEnd type="none" w="med" len="med"/>
                    </a:lnL>
                    <a:lnR w="12700" cap="flat" cmpd="sng" algn="ctr">
                      <a:solidFill>
                        <a:srgbClr val="19253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92537"/>
                      </a:solidFill>
                      <a:prstDash val="solid"/>
                      <a:round/>
                      <a:headEnd type="none" w="med" len="med"/>
                      <a:tailEnd type="none" w="med" len="med"/>
                    </a:lnB>
                    <a:solidFill>
                      <a:srgbClr val="1B2A41"/>
                    </a:solidFill>
                  </a:tcPr>
                </a:tc>
              </a:tr>
              <a:tr h="749002">
                <a:tc>
                  <a:txBody>
                    <a:bodyPr/>
                    <a:lstStyle/>
                    <a:p>
                      <a:pPr indent="0" marL="0">
                        <a:lnSpc>
                          <a:spcPts val="1475"/>
                        </a:lnSpc>
                        <a:buNone/>
                      </a:pPr>
                      <a:r>
                        <a:rPr lang="en-US" sz="1054" dirty="0">
                          <a:solidFill>
                            <a:srgbClr val="1B2A41"/>
                          </a:solidFill>
                          <a:latin typeface="IBM Plex Sans" pitchFamily="34" charset="0"/>
                          <a:ea typeface="IBM Plex Sans" pitchFamily="34" charset="-122"/>
                          <a:cs typeface="IBM Plex Sans" pitchFamily="34" charset="-120"/>
                        </a:rPr>
                        <a:t>R06 Configuration web app</a:t>
                      </a:r>
                      <a:endParaRPr lang="en-US" sz="1054" dirty="0">
                        <a:latin typeface="IBM Plex Sans" charset="0"/>
                        <a:ea typeface="IBM Plex Sans" charset="0"/>
                        <a:cs typeface="IBM Plex Sans" charset="0"/>
                      </a:endParaRPr>
                    </a:p>
                  </a:txBody>
                  <a:tcPr marL="101600" marR="1016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9253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475"/>
                        </a:lnSpc>
                        <a:buNone/>
                      </a:pPr>
                      <a:r>
                        <a:rPr lang="en-US" sz="1054" dirty="0">
                          <a:solidFill>
                            <a:srgbClr val="4A5568"/>
                          </a:solidFill>
                          <a:latin typeface="IBM Plex Sans" pitchFamily="34" charset="0"/>
                          <a:ea typeface="IBM Plex Sans" pitchFamily="34" charset="-122"/>
                          <a:cs typeface="IBM Plex Sans" pitchFamily="34" charset="-120"/>
                        </a:rPr>
                        <a:t>Replace the chosen configuration steps with analyst web pages that apply the same checks the workbook does today.</a:t>
                      </a:r>
                      <a:endParaRPr lang="en-US" sz="1054" dirty="0">
                        <a:latin typeface="IBM Plex Sans" charset="0"/>
                        <a:ea typeface="IBM Plex Sans" charset="0"/>
                        <a:cs typeface="IBM Plex Sans" charset="0"/>
                      </a:endParaRPr>
                    </a:p>
                  </a:txBody>
                  <a:tcPr marL="101600" marR="1016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9253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475"/>
                        </a:lnSpc>
                        <a:buNone/>
                      </a:pPr>
                      <a:r>
                        <a:rPr lang="en-US" sz="1054" dirty="0">
                          <a:solidFill>
                            <a:srgbClr val="4A5568"/>
                          </a:solidFill>
                          <a:latin typeface="IBM Plex Sans" pitchFamily="34" charset="0"/>
                          <a:ea typeface="IBM Plex Sans" pitchFamily="34" charset="-122"/>
                          <a:cs typeface="IBM Plex Sans" pitchFamily="34" charset="-120"/>
                        </a:rPr>
                        <a:t>An analyst completes the chosen configuration steps without opening the workbook.</a:t>
                      </a:r>
                      <a:endParaRPr lang="en-US" sz="1054" dirty="0">
                        <a:latin typeface="IBM Plex Sans" charset="0"/>
                        <a:ea typeface="IBM Plex Sans" charset="0"/>
                        <a:cs typeface="IBM Plex Sans" charset="0"/>
                      </a:endParaRPr>
                    </a:p>
                  </a:txBody>
                  <a:tcPr marL="101600" marR="1016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9253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475"/>
                        </a:lnSpc>
                        <a:buNone/>
                      </a:pPr>
                      <a:r>
                        <a:rPr lang="en-US" sz="1054" dirty="0">
                          <a:solidFill>
                            <a:srgbClr val="4A5568"/>
                          </a:solidFill>
                          <a:latin typeface="IBM Plex Sans" pitchFamily="34" charset="0"/>
                          <a:ea typeface="IBM Plex Sans" pitchFamily="34" charset="-122"/>
                          <a:cs typeface="IBM Plex Sans" pitchFamily="34" charset="-120"/>
                        </a:rPr>
                        <a:t>Those steps move to a page; the workbook remains for the rest. Which steps go first is decision D3.</a:t>
                      </a:r>
                      <a:endParaRPr lang="en-US" sz="1054" dirty="0">
                        <a:latin typeface="IBM Plex Sans" charset="0"/>
                        <a:ea typeface="IBM Plex Sans" charset="0"/>
                        <a:cs typeface="IBM Plex Sans" charset="0"/>
                      </a:endParaRPr>
                    </a:p>
                  </a:txBody>
                  <a:tcPr marL="101600" marR="1016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9253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71500">
                <a:tc>
                  <a:txBody>
                    <a:bodyPr/>
                    <a:lstStyle/>
                    <a:p>
                      <a:pPr indent="0" marL="0">
                        <a:lnSpc>
                          <a:spcPts val="1475"/>
                        </a:lnSpc>
                        <a:buNone/>
                      </a:pPr>
                      <a:r>
                        <a:rPr lang="en-US" sz="1054" dirty="0">
                          <a:solidFill>
                            <a:srgbClr val="1B2A41"/>
                          </a:solidFill>
                          <a:latin typeface="IBM Plex Sans" pitchFamily="34" charset="0"/>
                          <a:ea typeface="IBM Plex Sans" pitchFamily="34" charset="-122"/>
                          <a:cs typeface="IBM Plex Sans" pitchFamily="34" charset="-120"/>
                        </a:rPr>
                        <a:t>R08 Error review in context</a:t>
                      </a:r>
                      <a:endParaRPr lang="en-US" sz="1054" dirty="0">
                        <a:latin typeface="IBM Plex Sans" charset="0"/>
                        <a:ea typeface="IBM Plex Sans" charset="0"/>
                        <a:cs typeface="IBM Plex Sans" charset="0"/>
                      </a:endParaRPr>
                    </a:p>
                  </a:txBody>
                  <a:tcPr marL="101600" marR="101600" marT="101600" marB="101600" anchor="t">
                    <a:lnL w="12700" cap="flat" cmpd="sng" algn="ctr">
                      <a:solidFill>
                        <a:srgbClr val="CBCBCB"/>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475"/>
                        </a:lnSpc>
                        <a:buNone/>
                      </a:pPr>
                      <a:r>
                        <a:rPr lang="en-US" sz="1054" dirty="0">
                          <a:solidFill>
                            <a:srgbClr val="4A5568"/>
                          </a:solidFill>
                          <a:latin typeface="IBM Plex Sans" pitchFamily="34" charset="0"/>
                          <a:ea typeface="IBM Plex Sans" pitchFamily="34" charset="-122"/>
                          <a:cs typeface="IBM Plex Sans" pitchFamily="34" charset="-120"/>
                        </a:rPr>
                        <a:t>Show validation failures in the shape the data was submitted.</a:t>
                      </a:r>
                      <a:endParaRPr lang="en-US" sz="1054" dirty="0">
                        <a:latin typeface="IBM Plex Sans" charset="0"/>
                        <a:ea typeface="IBM Plex Sans" charset="0"/>
                        <a:cs typeface="IBM Plex Sans" charset="0"/>
                      </a:endParaRPr>
                    </a:p>
                  </a:txBody>
                  <a:tcPr marL="101600" marR="101600" marT="101600" marB="10160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475"/>
                        </a:lnSpc>
                        <a:buNone/>
                      </a:pPr>
                      <a:r>
                        <a:rPr lang="en-US" sz="1054" dirty="0">
                          <a:solidFill>
                            <a:srgbClr val="4A5568"/>
                          </a:solidFill>
                          <a:latin typeface="IBM Plex Sans" pitchFamily="34" charset="0"/>
                          <a:ea typeface="IBM Plex Sans" pitchFamily="34" charset="-122"/>
                          <a:cs typeface="IBM Plex Sans" pitchFamily="34" charset="-120"/>
                        </a:rPr>
                        <a:t>An analyst reviews a failed submission without reformatting it.</a:t>
                      </a:r>
                      <a:endParaRPr lang="en-US" sz="1054" dirty="0">
                        <a:latin typeface="IBM Plex Sans" charset="0"/>
                        <a:ea typeface="IBM Plex Sans" charset="0"/>
                        <a:cs typeface="IBM Plex Sans" charset="0"/>
                      </a:endParaRPr>
                    </a:p>
                  </a:txBody>
                  <a:tcPr marL="101600" marR="101600" marT="101600" marB="10160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475"/>
                        </a:lnSpc>
                        <a:buNone/>
                      </a:pPr>
                      <a:r>
                        <a:rPr lang="en-US" sz="1054" dirty="0">
                          <a:solidFill>
                            <a:srgbClr val="4A5568"/>
                          </a:solidFill>
                          <a:latin typeface="IBM Plex Sans" pitchFamily="34" charset="0"/>
                          <a:ea typeface="IBM Plex Sans" pitchFamily="34" charset="-122"/>
                          <a:cs typeface="IBM Plex Sans" pitchFamily="34" charset="-120"/>
                        </a:rPr>
                        <a:t>Errors appear against the submitted rows, not in a separate list.</a:t>
                      </a:r>
                      <a:endParaRPr lang="en-US" sz="1054" dirty="0">
                        <a:latin typeface="IBM Plex Sans" charset="0"/>
                        <a:ea typeface="IBM Plex Sans" charset="0"/>
                        <a:cs typeface="IBM Plex Sans" charset="0"/>
                      </a:endParaRPr>
                    </a:p>
                  </a:txBody>
                  <a:tcPr marL="101600" marR="101600" marT="101600" marB="10160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r>
              <a:tr h="571500">
                <a:tc>
                  <a:txBody>
                    <a:bodyPr/>
                    <a:lstStyle/>
                    <a:p>
                      <a:pPr indent="0" marL="0">
                        <a:lnSpc>
                          <a:spcPts val="1475"/>
                        </a:lnSpc>
                        <a:buNone/>
                      </a:pPr>
                      <a:r>
                        <a:rPr lang="en-US" sz="1054" dirty="0">
                          <a:solidFill>
                            <a:srgbClr val="1B2A41"/>
                          </a:solidFill>
                          <a:latin typeface="IBM Plex Sans" pitchFamily="34" charset="0"/>
                          <a:ea typeface="IBM Plex Sans" pitchFamily="34" charset="-122"/>
                          <a:cs typeface="IBM Plex Sans" pitchFamily="34" charset="-120"/>
                        </a:rPr>
                        <a:t>R09 Batch add suppliers</a:t>
                      </a:r>
                      <a:endParaRPr lang="en-US" sz="1054" dirty="0">
                        <a:latin typeface="IBM Plex Sans" charset="0"/>
                        <a:ea typeface="IBM Plex Sans" charset="0"/>
                        <a:cs typeface="IBM Plex Sans" charset="0"/>
                      </a:endParaRPr>
                    </a:p>
                  </a:txBody>
                  <a:tcPr marL="101600" marR="1016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475"/>
                        </a:lnSpc>
                        <a:buNone/>
                      </a:pPr>
                      <a:r>
                        <a:rPr lang="en-US" sz="1054" dirty="0">
                          <a:solidFill>
                            <a:srgbClr val="4A5568"/>
                          </a:solidFill>
                          <a:latin typeface="IBM Plex Sans" pitchFamily="34" charset="0"/>
                          <a:ea typeface="IBM Plex Sans" pitchFamily="34" charset="-122"/>
                          <a:cs typeface="IBM Plex Sans" pitchFamily="34" charset="-120"/>
                        </a:rPr>
                        <a:t>Add several suppliers to a started implementation in one action.</a:t>
                      </a:r>
                      <a:endParaRPr lang="en-US" sz="1054" dirty="0">
                        <a:latin typeface="IBM Plex Sans" charset="0"/>
                        <a:ea typeface="IBM Plex Sans" charset="0"/>
                        <a:cs typeface="IBM Plex Sans" charset="0"/>
                      </a:endParaRPr>
                    </a:p>
                  </a:txBody>
                  <a:tcPr marL="101600" marR="1016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475"/>
                        </a:lnSpc>
                        <a:buNone/>
                      </a:pPr>
                      <a:r>
                        <a:rPr lang="en-US" sz="1054" dirty="0">
                          <a:solidFill>
                            <a:srgbClr val="4A5568"/>
                          </a:solidFill>
                          <a:latin typeface="IBM Plex Sans" pitchFamily="34" charset="0"/>
                          <a:ea typeface="IBM Plex Sans" pitchFamily="34" charset="-122"/>
                          <a:cs typeface="IBM Plex Sans" pitchFamily="34" charset="-120"/>
                        </a:rPr>
                        <a:t>An analyst adds several suppliers to a live implementation in one action.</a:t>
                      </a:r>
                      <a:endParaRPr lang="en-US" sz="1054" dirty="0">
                        <a:latin typeface="IBM Plex Sans" charset="0"/>
                        <a:ea typeface="IBM Plex Sans" charset="0"/>
                        <a:cs typeface="IBM Plex Sans" charset="0"/>
                      </a:endParaRPr>
                    </a:p>
                  </a:txBody>
                  <a:tcPr marL="101600" marR="1016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475"/>
                        </a:lnSpc>
                        <a:buNone/>
                      </a:pPr>
                      <a:r>
                        <a:rPr lang="en-US" sz="1054" dirty="0">
                          <a:solidFill>
                            <a:srgbClr val="4A5568"/>
                          </a:solidFill>
                          <a:latin typeface="IBM Plex Sans" pitchFamily="34" charset="0"/>
                          <a:ea typeface="IBM Plex Sans" pitchFamily="34" charset="-122"/>
                          <a:cs typeface="IBM Plex Sans" pitchFamily="34" charset="-120"/>
                        </a:rPr>
                        <a:t>One batch action replaces per‑supplier setup after kickoff.</a:t>
                      </a:r>
                      <a:endParaRPr lang="en-US" sz="1054" dirty="0">
                        <a:latin typeface="IBM Plex Sans" charset="0"/>
                        <a:ea typeface="IBM Plex Sans" charset="0"/>
                        <a:cs typeface="IBM Plex Sans" charset="0"/>
                      </a:endParaRPr>
                    </a:p>
                  </a:txBody>
                  <a:tcPr marL="101600" marR="1016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749002">
                <a:tc>
                  <a:txBody>
                    <a:bodyPr/>
                    <a:lstStyle/>
                    <a:p>
                      <a:pPr indent="0" marL="0">
                        <a:lnSpc>
                          <a:spcPts val="1475"/>
                        </a:lnSpc>
                        <a:buNone/>
                      </a:pPr>
                      <a:r>
                        <a:rPr lang="en-US" sz="1054" dirty="0">
                          <a:solidFill>
                            <a:srgbClr val="1B2A41"/>
                          </a:solidFill>
                          <a:latin typeface="IBM Plex Sans" pitchFamily="34" charset="0"/>
                          <a:ea typeface="IBM Plex Sans" pitchFamily="34" charset="-122"/>
                          <a:cs typeface="IBM Plex Sans" pitchFamily="34" charset="-120"/>
                        </a:rPr>
                        <a:t>R10 Seed‑data validation</a:t>
                      </a:r>
                      <a:endParaRPr lang="en-US" sz="1054" dirty="0">
                        <a:latin typeface="IBM Plex Sans" charset="0"/>
                        <a:ea typeface="IBM Plex Sans" charset="0"/>
                        <a:cs typeface="IBM Plex Sans" charset="0"/>
                      </a:endParaRPr>
                    </a:p>
                  </a:txBody>
                  <a:tcPr marL="101600" marR="101600" marT="101600" marB="101600" anchor="t">
                    <a:lnL w="12700" cap="flat" cmpd="sng" algn="ctr">
                      <a:solidFill>
                        <a:srgbClr val="CBCBCB"/>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475"/>
                        </a:lnSpc>
                        <a:buNone/>
                      </a:pPr>
                      <a:r>
                        <a:rPr lang="en-US" sz="1054" dirty="0">
                          <a:solidFill>
                            <a:srgbClr val="4A5568"/>
                          </a:solidFill>
                          <a:latin typeface="IBM Plex Sans" pitchFamily="34" charset="0"/>
                          <a:ea typeface="IBM Plex Sans" pitchFamily="34" charset="-122"/>
                          <a:cs typeface="IBM Plex Sans" pitchFamily="34" charset="-120"/>
                        </a:rPr>
                        <a:t>Validate seed data against the configuration at load and report mismatches to the analyst.</a:t>
                      </a:r>
                      <a:endParaRPr lang="en-US" sz="1054" dirty="0">
                        <a:latin typeface="IBM Plex Sans" charset="0"/>
                        <a:ea typeface="IBM Plex Sans" charset="0"/>
                        <a:cs typeface="IBM Plex Sans" charset="0"/>
                      </a:endParaRPr>
                    </a:p>
                  </a:txBody>
                  <a:tcPr marL="101600" marR="101600" marT="101600" marB="10160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475"/>
                        </a:lnSpc>
                        <a:buNone/>
                      </a:pPr>
                      <a:r>
                        <a:rPr lang="en-US" sz="1054" dirty="0">
                          <a:solidFill>
                            <a:srgbClr val="4A5568"/>
                          </a:solidFill>
                          <a:latin typeface="IBM Plex Sans" pitchFamily="34" charset="0"/>
                          <a:ea typeface="IBM Plex Sans" pitchFamily="34" charset="-122"/>
                          <a:cs typeface="IBM Plex Sans" pitchFamily="34" charset="-120"/>
                        </a:rPr>
                        <a:t>A seed or configuration mismatch reaches the analyst before any supplier sees it.</a:t>
                      </a:r>
                      <a:endParaRPr lang="en-US" sz="1054" dirty="0">
                        <a:latin typeface="IBM Plex Sans" charset="0"/>
                        <a:ea typeface="IBM Plex Sans" charset="0"/>
                        <a:cs typeface="IBM Plex Sans" charset="0"/>
                      </a:endParaRPr>
                    </a:p>
                  </a:txBody>
                  <a:tcPr marL="101600" marR="101600" marT="101600" marB="10160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475"/>
                        </a:lnSpc>
                        <a:buNone/>
                      </a:pPr>
                      <a:r>
                        <a:rPr lang="en-US" sz="1054" dirty="0">
                          <a:solidFill>
                            <a:srgbClr val="4A5568"/>
                          </a:solidFill>
                          <a:latin typeface="IBM Plex Sans" pitchFamily="34" charset="0"/>
                          <a:ea typeface="IBM Plex Sans" pitchFamily="34" charset="-122"/>
                          <a:cs typeface="IBM Plex Sans" pitchFamily="34" charset="-120"/>
                        </a:rPr>
                        <a:t>A validation report appears at load; a mismatched load stops until corrected.</a:t>
                      </a:r>
                      <a:endParaRPr lang="en-US" sz="1054" dirty="0">
                        <a:latin typeface="IBM Plex Sans" charset="0"/>
                        <a:ea typeface="IBM Plex Sans" charset="0"/>
                        <a:cs typeface="IBM Plex Sans" charset="0"/>
                      </a:endParaRPr>
                    </a:p>
                  </a:txBody>
                  <a:tcPr marL="101600" marR="101600" marT="101600" marB="10160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r>
            </a:tbl>
          </a:graphicData>
        </a:graphic>
      </p:graphicFrame>
      <p:sp>
        <p:nvSpPr>
          <p:cNvPr id="8" name="Text 5"/>
          <p:cNvSpPr/>
          <p:nvPr/>
        </p:nvSpPr>
        <p:spPr>
          <a:xfrm>
            <a:off x="812800" y="5661223"/>
            <a:ext cx="10883392" cy="206177"/>
          </a:xfrm>
          <a:prstGeom prst="rect">
            <a:avLst/>
          </a:prstGeom>
          <a:noFill/>
          <a:ln/>
        </p:spPr>
        <p:txBody>
          <a:bodyPr wrap="square" lIns="0" tIns="0" rIns="0" bIns="0" rtlCol="0" anchor="t">
            <a:normAutofit/>
          </a:bodyPr>
          <a:lstStyle/>
          <a:p>
            <a:pPr algn="l" indent="0" marL="0">
              <a:lnSpc>
                <a:spcPts val="1449"/>
              </a:lnSpc>
              <a:buNone/>
            </a:pPr>
            <a:r>
              <a:rPr lang="en-US" sz="1035" dirty="0">
                <a:solidFill>
                  <a:srgbClr val="6A7179"/>
                </a:solidFill>
                <a:latin typeface="IBM Plex Sans" pitchFamily="34" charset="0"/>
                <a:ea typeface="IBM Plex Sans" pitchFamily="34" charset="-122"/>
                <a:cs typeface="IBM Plex Sans" pitchFamily="34" charset="-120"/>
              </a:rPr>
              <a:t>Not in this group: changes to the validation rules themselves; removing or reassigning suppliers; automatic correction of seed data.</a:t>
            </a:r>
            <a:endParaRPr lang="en-US" sz="1035" dirty="0"/>
          </a:p>
        </p:txBody>
      </p:sp>
      <p:sp>
        <p:nvSpPr>
          <p:cNvPr id="9" name="Text 6"/>
          <p:cNvSpPr/>
          <p:nvPr/>
        </p:nvSpPr>
        <p:spPr>
          <a:xfrm>
            <a:off x="11287720" y="6242050"/>
            <a:ext cx="14228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DEBE4"/>
        </a:solidFill>
      </p:bgPr>
    </p:bg>
    <p:spTree>
      <p:nvGrpSpPr>
        <p:cNvPr id="1" name=""/>
        <p:cNvGrpSpPr/>
        <p:nvPr/>
      </p:nvGrpSpPr>
      <p:grpSpPr>
        <a:xfrm>
          <a:off x="0" y="0"/>
          <a:ext cx="0" cy="0"/>
          <a:chOff x="0" y="0"/>
          <a:chExt cx="0" cy="0"/>
        </a:xfrm>
      </p:grpSpPr>
      <p:sp>
        <p:nvSpPr>
          <p:cNvPr id="2" name="Text 0"/>
          <p:cNvSpPr/>
          <p:nvPr/>
        </p:nvSpPr>
        <p:spPr>
          <a:xfrm>
            <a:off x="812800" y="8128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spc="100" kern="0" dirty="0">
                <a:solidFill>
                  <a:srgbClr val="C8702A"/>
                </a:solidFill>
                <a:latin typeface="IBM Plex Sans" pitchFamily="34" charset="0"/>
                <a:ea typeface="IBM Plex Sans" pitchFamily="34" charset="-122"/>
                <a:cs typeface="IBM Plex Sans" pitchFamily="34" charset="-120"/>
              </a:rPr>
              <a:t>GROUP 3 · PLATFORM FOUNDATION · R05 TEMPLATE MODIFICATIONS</a:t>
            </a:r>
            <a:endParaRPr lang="en-US" sz="1500" dirty="0"/>
          </a:p>
        </p:txBody>
      </p:sp>
      <p:sp>
        <p:nvSpPr>
          <p:cNvPr id="3" name="Text 1"/>
          <p:cNvSpPr/>
          <p:nvPr>
            <p:ph type="title"/>
          </p:nvPr>
        </p:nvSpPr>
        <p:spPr>
          <a:xfrm>
            <a:off x="812800" y="1282700"/>
            <a:ext cx="10883392" cy="1416050"/>
          </a:xfrm>
          <a:prstGeom prst="rect">
            <a:avLst/>
          </a:prstGeom>
          <a:noFill/>
          <a:ln/>
        </p:spPr>
        <p:txBody>
          <a:bodyPr wrap="square" lIns="0" tIns="0" rIns="0" bIns="0" rtlCol="0" anchor="t">
            <a:normAutofit/>
          </a:bodyPr>
          <a:lstStyle/>
          <a:p>
            <a:pPr algn="l" indent="0" marL="0">
              <a:lnSpc>
                <a:spcPts val="3680"/>
              </a:lnSpc>
              <a:buNone/>
            </a:pPr>
            <a:r>
              <a:rPr lang="en-US" sz="3200" b="0" i="0" dirty="0">
                <a:solidFill>
                  <a:srgbClr val="1B2A41"/>
                </a:solidFill>
                <a:latin typeface="Source Serif 4" pitchFamily="18" charset="0"/>
                <a:ea typeface="Source Serif 4" pitchFamily="18" charset="-122"/>
                <a:cs typeface="Source Serif 4" pitchFamily="18" charset="-120"/>
              </a:rPr>
              <a:t>One change to the task model lets templates change mid‑implementation, and three requirements build on it.</a:t>
            </a:r>
            <a:endParaRPr lang="en-US" sz="3200" dirty="0"/>
          </a:p>
        </p:txBody>
      </p:sp>
      <p:sp>
        <p:nvSpPr>
          <p:cNvPr id="4" name="Shape 2"/>
          <p:cNvSpPr/>
          <p:nvPr/>
        </p:nvSpPr>
        <p:spPr>
          <a:xfrm>
            <a:off x="815975" y="2879725"/>
            <a:ext cx="5175250" cy="1809750"/>
          </a:xfrm>
          <a:prstGeom prst="roundRect">
            <a:avLst>
              <a:gd name="adj" fmla="val 4035"/>
            </a:avLst>
          </a:prstGeom>
          <a:solidFill>
            <a:srgbClr val="FFFFFF"/>
          </a:solidFill>
          <a:ln w="6350">
            <a:solidFill>
              <a:srgbClr val="DCD9D0"/>
            </a:solidFill>
            <a:prstDash val="solid"/>
          </a:ln>
        </p:spPr>
      </p:sp>
      <p:sp>
        <p:nvSpPr>
          <p:cNvPr id="5" name="Text 3"/>
          <p:cNvSpPr/>
          <p:nvPr/>
        </p:nvSpPr>
        <p:spPr>
          <a:xfrm>
            <a:off x="1022350" y="3086100"/>
            <a:ext cx="4905375" cy="226120"/>
          </a:xfrm>
          <a:prstGeom prst="rect">
            <a:avLst/>
          </a:prstGeom>
          <a:noFill/>
          <a:ln/>
        </p:spPr>
        <p:txBody>
          <a:bodyPr wrap="square" lIns="0" tIns="0" rIns="0" bIns="0" rtlCol="0" anchor="t">
            <a:normAutofit/>
          </a:bodyPr>
          <a:lstStyle/>
          <a:p>
            <a:pPr algn="l" indent="0" marL="0">
              <a:lnSpc>
                <a:spcPts val="1648"/>
              </a:lnSpc>
              <a:buNone/>
            </a:pPr>
            <a:r>
              <a:rPr lang="en-US" sz="1373" b="1" dirty="0">
                <a:solidFill>
                  <a:srgbClr val="1B2A41"/>
                </a:solidFill>
                <a:latin typeface="IBM Plex Sans" pitchFamily="34" charset="0"/>
                <a:ea typeface="IBM Plex Sans" pitchFamily="34" charset="-122"/>
                <a:cs typeface="IBM Plex Sans" pitchFamily="34" charset="-120"/>
              </a:rPr>
              <a:t>Today: one task, one chain of states</a:t>
            </a:r>
            <a:endParaRPr lang="en-US" sz="1373" dirty="0"/>
          </a:p>
        </p:txBody>
      </p:sp>
      <p:sp>
        <p:nvSpPr>
          <p:cNvPr id="6" name="Shape 4"/>
          <p:cNvSpPr/>
          <p:nvPr/>
        </p:nvSpPr>
        <p:spPr>
          <a:xfrm>
            <a:off x="1022350" y="3390205"/>
            <a:ext cx="825698" cy="387350"/>
          </a:xfrm>
          <a:prstGeom prst="roundRect">
            <a:avLst>
              <a:gd name="adj" fmla="val 13115"/>
            </a:avLst>
          </a:prstGeom>
          <a:solidFill>
            <a:srgbClr val="1B2A41"/>
          </a:solidFill>
          <a:ln/>
        </p:spPr>
      </p:sp>
      <p:sp>
        <p:nvSpPr>
          <p:cNvPr id="7" name="Text 5"/>
          <p:cNvSpPr/>
          <p:nvPr/>
        </p:nvSpPr>
        <p:spPr>
          <a:xfrm>
            <a:off x="1123950" y="3479105"/>
            <a:ext cx="673298"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7F6F2"/>
                </a:solidFill>
                <a:latin typeface="IBM Plex Sans" pitchFamily="34" charset="0"/>
                <a:ea typeface="IBM Plex Sans" pitchFamily="34" charset="-122"/>
                <a:cs typeface="IBM Plex Sans" pitchFamily="34" charset="-120"/>
              </a:rPr>
              <a:t>Assigned</a:t>
            </a:r>
            <a:endParaRPr lang="en-US" sz="1200" dirty="0"/>
          </a:p>
        </p:txBody>
      </p:sp>
      <p:pic>
        <p:nvPicPr>
          <p:cNvPr id="8" name="Image 0" descr="arrow-right">    </p:cNvPr>
          <p:cNvPicPr>
            <a:picLocks noChangeAspect="1"/>
          </p:cNvPicPr>
          <p:nvPr/>
        </p:nvPicPr>
        <p:blipFill>
          <a:blip r:embed="rId1"/>
          <a:srcRect l="0" r="0" t="0" b="0"/>
          <a:stretch/>
        </p:blipFill>
        <p:spPr>
          <a:xfrm>
            <a:off x="1924248" y="3507680"/>
            <a:ext cx="228600" cy="152400"/>
          </a:xfrm>
          <a:prstGeom prst="rect">
            <a:avLst/>
          </a:prstGeom>
        </p:spPr>
      </p:pic>
      <p:sp>
        <p:nvSpPr>
          <p:cNvPr id="9" name="Shape 6"/>
          <p:cNvSpPr/>
          <p:nvPr/>
        </p:nvSpPr>
        <p:spPr>
          <a:xfrm>
            <a:off x="2229048" y="3390205"/>
            <a:ext cx="914995" cy="387350"/>
          </a:xfrm>
          <a:prstGeom prst="roundRect">
            <a:avLst>
              <a:gd name="adj" fmla="val 13115"/>
            </a:avLst>
          </a:prstGeom>
          <a:solidFill>
            <a:srgbClr val="1B2A41"/>
          </a:solidFill>
          <a:ln/>
        </p:spPr>
      </p:sp>
      <p:sp>
        <p:nvSpPr>
          <p:cNvPr id="10" name="Text 7"/>
          <p:cNvSpPr/>
          <p:nvPr/>
        </p:nvSpPr>
        <p:spPr>
          <a:xfrm>
            <a:off x="2330648" y="3479105"/>
            <a:ext cx="762595"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7F6F2"/>
                </a:solidFill>
                <a:latin typeface="IBM Plex Sans" pitchFamily="34" charset="0"/>
                <a:ea typeface="IBM Plex Sans" pitchFamily="34" charset="-122"/>
                <a:cs typeface="IBM Plex Sans" pitchFamily="34" charset="-120"/>
              </a:rPr>
              <a:t>Submitted</a:t>
            </a:r>
            <a:endParaRPr lang="en-US" sz="1200" dirty="0"/>
          </a:p>
        </p:txBody>
      </p:sp>
      <p:pic>
        <p:nvPicPr>
          <p:cNvPr id="11" name="Image 1" descr="arrow-right">    </p:cNvPr>
          <p:cNvPicPr>
            <a:picLocks noChangeAspect="1"/>
          </p:cNvPicPr>
          <p:nvPr/>
        </p:nvPicPr>
        <p:blipFill>
          <a:blip r:embed="rId2"/>
          <a:srcRect l="0" r="0" t="0" b="0"/>
          <a:stretch/>
        </p:blipFill>
        <p:spPr>
          <a:xfrm>
            <a:off x="3220244" y="3507680"/>
            <a:ext cx="228600" cy="152400"/>
          </a:xfrm>
          <a:prstGeom prst="rect">
            <a:avLst/>
          </a:prstGeom>
        </p:spPr>
      </p:pic>
      <p:sp>
        <p:nvSpPr>
          <p:cNvPr id="12" name="Shape 8"/>
          <p:cNvSpPr/>
          <p:nvPr/>
        </p:nvSpPr>
        <p:spPr>
          <a:xfrm>
            <a:off x="3525044" y="3390205"/>
            <a:ext cx="847130" cy="387350"/>
          </a:xfrm>
          <a:prstGeom prst="roundRect">
            <a:avLst>
              <a:gd name="adj" fmla="val 13115"/>
            </a:avLst>
          </a:prstGeom>
          <a:solidFill>
            <a:srgbClr val="1B2A41"/>
          </a:solidFill>
          <a:ln/>
        </p:spPr>
      </p:sp>
      <p:sp>
        <p:nvSpPr>
          <p:cNvPr id="13" name="Text 9"/>
          <p:cNvSpPr/>
          <p:nvPr/>
        </p:nvSpPr>
        <p:spPr>
          <a:xfrm>
            <a:off x="3626644" y="3479105"/>
            <a:ext cx="69473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7F6F2"/>
                </a:solidFill>
                <a:latin typeface="IBM Plex Sans" pitchFamily="34" charset="0"/>
                <a:ea typeface="IBM Plex Sans" pitchFamily="34" charset="-122"/>
                <a:cs typeface="IBM Plex Sans" pitchFamily="34" charset="-120"/>
              </a:rPr>
              <a:t>Validated</a:t>
            </a:r>
            <a:endParaRPr lang="en-US" sz="1200" dirty="0"/>
          </a:p>
        </p:txBody>
      </p:sp>
      <p:pic>
        <p:nvPicPr>
          <p:cNvPr id="14" name="Image 2" descr="arrow-right">    </p:cNvPr>
          <p:cNvPicPr>
            <a:picLocks noChangeAspect="1"/>
          </p:cNvPicPr>
          <p:nvPr/>
        </p:nvPicPr>
        <p:blipFill>
          <a:blip r:embed="rId3"/>
          <a:srcRect l="0" r="0" t="0" b="0"/>
          <a:stretch/>
        </p:blipFill>
        <p:spPr>
          <a:xfrm>
            <a:off x="4448373" y="3507680"/>
            <a:ext cx="228600" cy="152400"/>
          </a:xfrm>
          <a:prstGeom prst="rect">
            <a:avLst/>
          </a:prstGeom>
        </p:spPr>
      </p:pic>
      <p:sp>
        <p:nvSpPr>
          <p:cNvPr id="15" name="Shape 10"/>
          <p:cNvSpPr/>
          <p:nvPr/>
        </p:nvSpPr>
        <p:spPr>
          <a:xfrm>
            <a:off x="4753173" y="3390205"/>
            <a:ext cx="862806" cy="387350"/>
          </a:xfrm>
          <a:prstGeom prst="roundRect">
            <a:avLst>
              <a:gd name="adj" fmla="val 13115"/>
            </a:avLst>
          </a:prstGeom>
          <a:solidFill>
            <a:srgbClr val="1B2A41"/>
          </a:solidFill>
          <a:ln/>
        </p:spPr>
      </p:sp>
      <p:sp>
        <p:nvSpPr>
          <p:cNvPr id="16" name="Text 11"/>
          <p:cNvSpPr/>
          <p:nvPr/>
        </p:nvSpPr>
        <p:spPr>
          <a:xfrm>
            <a:off x="4854773" y="3479105"/>
            <a:ext cx="710406"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7F6F2"/>
                </a:solidFill>
                <a:latin typeface="IBM Plex Sans" pitchFamily="34" charset="0"/>
                <a:ea typeface="IBM Plex Sans" pitchFamily="34" charset="-122"/>
                <a:cs typeface="IBM Plex Sans" pitchFamily="34" charset="-120"/>
              </a:rPr>
              <a:t>Approved</a:t>
            </a:r>
            <a:endParaRPr lang="en-US" sz="1200" dirty="0"/>
          </a:p>
        </p:txBody>
      </p:sp>
      <p:sp>
        <p:nvSpPr>
          <p:cNvPr id="17" name="Text 12"/>
          <p:cNvSpPr/>
          <p:nvPr/>
        </p:nvSpPr>
        <p:spPr>
          <a:xfrm>
            <a:off x="1022350" y="3880941"/>
            <a:ext cx="4905375" cy="627559"/>
          </a:xfrm>
          <a:prstGeom prst="rect">
            <a:avLst/>
          </a:prstGeom>
          <a:noFill/>
          <a:ln/>
        </p:spPr>
        <p:txBody>
          <a:bodyPr wrap="square" lIns="0" tIns="0" rIns="0" bIns="0" rtlCol="0" anchor="t">
            <a:normAutofit/>
          </a:bodyPr>
          <a:lstStyle/>
          <a:p>
            <a:pPr algn="l" indent="0" marL="0">
              <a:lnSpc>
                <a:spcPts val="1678"/>
              </a:lnSpc>
              <a:buNone/>
            </a:pPr>
            <a:r>
              <a:rPr lang="en-US" sz="1198" dirty="0">
                <a:solidFill>
                  <a:srgbClr val="4A5568"/>
                </a:solidFill>
                <a:latin typeface="IBM Plex Sans" pitchFamily="34" charset="0"/>
                <a:ea typeface="IBM Plex Sans" pitchFamily="34" charset="-122"/>
                <a:cs typeface="IBM Plex Sans" pitchFamily="34" charset="-120"/>
              </a:rPr>
              <a:t>A supplier holds one task that only moves forward. A template change or an edit after submission means stepping outside the system.</a:t>
            </a:r>
            <a:endParaRPr lang="en-US" sz="1198" dirty="0"/>
          </a:p>
        </p:txBody>
      </p:sp>
      <p:sp>
        <p:nvSpPr>
          <p:cNvPr id="18" name="Shape 13"/>
          <p:cNvSpPr/>
          <p:nvPr/>
        </p:nvSpPr>
        <p:spPr>
          <a:xfrm>
            <a:off x="6200775" y="2879725"/>
            <a:ext cx="5175250" cy="1809750"/>
          </a:xfrm>
          <a:prstGeom prst="roundRect">
            <a:avLst>
              <a:gd name="adj" fmla="val 4035"/>
            </a:avLst>
          </a:prstGeom>
          <a:solidFill>
            <a:srgbClr val="FFFFFF"/>
          </a:solidFill>
          <a:ln w="6350">
            <a:solidFill>
              <a:srgbClr val="DCD9D0"/>
            </a:solidFill>
            <a:prstDash val="solid"/>
          </a:ln>
        </p:spPr>
      </p:sp>
      <p:sp>
        <p:nvSpPr>
          <p:cNvPr id="19" name="Text 14"/>
          <p:cNvSpPr/>
          <p:nvPr/>
        </p:nvSpPr>
        <p:spPr>
          <a:xfrm>
            <a:off x="6407150" y="3086100"/>
            <a:ext cx="4905375" cy="147836"/>
          </a:xfrm>
          <a:prstGeom prst="rect">
            <a:avLst/>
          </a:prstGeom>
          <a:noFill/>
          <a:ln/>
        </p:spPr>
        <p:txBody>
          <a:bodyPr wrap="square" lIns="0" tIns="0" rIns="0" bIns="0" rtlCol="0" anchor="t">
            <a:normAutofit/>
          </a:bodyPr>
          <a:lstStyle/>
          <a:p>
            <a:pPr algn="l" indent="0" marL="0">
              <a:lnSpc>
                <a:spcPts val="1080"/>
              </a:lnSpc>
              <a:buNone/>
            </a:pPr>
            <a:r>
              <a:rPr lang="en-US" sz="900" b="1" dirty="0">
                <a:solidFill>
                  <a:srgbClr val="1B2A41"/>
                </a:solidFill>
                <a:latin typeface="IBM Plex Sans" pitchFamily="34" charset="0"/>
                <a:ea typeface="IBM Plex Sans" pitchFamily="34" charset="-122"/>
                <a:cs typeface="IBM Plex Sans" pitchFamily="34" charset="-120"/>
              </a:rPr>
              <a:t>Phase 2: several tasks per supplier, each versioned</a:t>
            </a:r>
            <a:endParaRPr lang="en-US" sz="900" dirty="0"/>
          </a:p>
        </p:txBody>
      </p:sp>
      <p:sp>
        <p:nvSpPr>
          <p:cNvPr id="20" name="Shape 15"/>
          <p:cNvSpPr/>
          <p:nvPr/>
        </p:nvSpPr>
        <p:spPr>
          <a:xfrm>
            <a:off x="6407150" y="3335536"/>
            <a:ext cx="4762500" cy="235347"/>
          </a:xfrm>
          <a:prstGeom prst="roundRect">
            <a:avLst>
              <a:gd name="adj" fmla="val 21585"/>
            </a:avLst>
          </a:prstGeom>
          <a:solidFill>
            <a:srgbClr val="F7F6F2"/>
          </a:solidFill>
          <a:ln/>
        </p:spPr>
      </p:sp>
      <p:sp>
        <p:nvSpPr>
          <p:cNvPr id="21" name="Text 16"/>
          <p:cNvSpPr/>
          <p:nvPr/>
        </p:nvSpPr>
        <p:spPr>
          <a:xfrm>
            <a:off x="6508750" y="3348434"/>
            <a:ext cx="1701800"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A41"/>
                </a:solidFill>
                <a:latin typeface="IBM Plex Sans" pitchFamily="34" charset="0"/>
                <a:ea typeface="IBM Plex Sans" pitchFamily="34" charset="-122"/>
                <a:cs typeface="IBM Plex Sans" pitchFamily="34" charset="-120"/>
              </a:rPr>
              <a:t>Template A · v2</a:t>
            </a:r>
            <a:endParaRPr lang="en-US" sz="1200" dirty="0"/>
          </a:p>
        </p:txBody>
      </p:sp>
      <p:sp>
        <p:nvSpPr>
          <p:cNvPr id="22" name="Text 17"/>
          <p:cNvSpPr/>
          <p:nvPr/>
        </p:nvSpPr>
        <p:spPr>
          <a:xfrm>
            <a:off x="8261350" y="3243659"/>
            <a:ext cx="2890901"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submitted → edit requested → re‑approved</a:t>
            </a:r>
            <a:endParaRPr lang="en-US" sz="1200" dirty="0"/>
          </a:p>
        </p:txBody>
      </p:sp>
      <p:sp>
        <p:nvSpPr>
          <p:cNvPr id="23" name="Shape 18"/>
          <p:cNvSpPr/>
          <p:nvPr/>
        </p:nvSpPr>
        <p:spPr>
          <a:xfrm>
            <a:off x="6407150" y="3647083"/>
            <a:ext cx="4762500" cy="193873"/>
          </a:xfrm>
          <a:prstGeom prst="roundRect">
            <a:avLst>
              <a:gd name="adj" fmla="val 26203"/>
            </a:avLst>
          </a:prstGeom>
          <a:solidFill>
            <a:srgbClr val="F7F6F2"/>
          </a:solidFill>
          <a:ln/>
        </p:spPr>
      </p:sp>
      <p:sp>
        <p:nvSpPr>
          <p:cNvPr id="24" name="Text 19"/>
          <p:cNvSpPr/>
          <p:nvPr/>
        </p:nvSpPr>
        <p:spPr>
          <a:xfrm>
            <a:off x="6508750" y="3639245"/>
            <a:ext cx="1701800"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A41"/>
                </a:solidFill>
                <a:latin typeface="IBM Plex Sans" pitchFamily="34" charset="0"/>
                <a:ea typeface="IBM Plex Sans" pitchFamily="34" charset="-122"/>
                <a:cs typeface="IBM Plex Sans" pitchFamily="34" charset="-120"/>
              </a:rPr>
              <a:t>Template B · v1</a:t>
            </a:r>
            <a:endParaRPr lang="en-US" sz="1200" dirty="0"/>
          </a:p>
        </p:txBody>
      </p:sp>
      <p:sp>
        <p:nvSpPr>
          <p:cNvPr id="25" name="Text 20"/>
          <p:cNvSpPr/>
          <p:nvPr/>
        </p:nvSpPr>
        <p:spPr>
          <a:xfrm>
            <a:off x="8261350" y="3639245"/>
            <a:ext cx="1904167"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assigned → in progress</a:t>
            </a:r>
            <a:endParaRPr lang="en-US" sz="1200" dirty="0"/>
          </a:p>
        </p:txBody>
      </p:sp>
      <p:sp>
        <p:nvSpPr>
          <p:cNvPr id="26" name="Shape 21"/>
          <p:cNvSpPr/>
          <p:nvPr/>
        </p:nvSpPr>
        <p:spPr>
          <a:xfrm>
            <a:off x="6407150" y="3917156"/>
            <a:ext cx="4762500" cy="193873"/>
          </a:xfrm>
          <a:prstGeom prst="roundRect">
            <a:avLst>
              <a:gd name="adj" fmla="val 26203"/>
            </a:avLst>
          </a:prstGeom>
          <a:solidFill>
            <a:srgbClr val="F7F6F2"/>
          </a:solidFill>
          <a:ln/>
        </p:spPr>
      </p:sp>
      <p:sp>
        <p:nvSpPr>
          <p:cNvPr id="27" name="Text 22"/>
          <p:cNvSpPr/>
          <p:nvPr/>
        </p:nvSpPr>
        <p:spPr>
          <a:xfrm>
            <a:off x="6508750" y="3909318"/>
            <a:ext cx="1701800"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A41"/>
                </a:solidFill>
                <a:latin typeface="IBM Plex Sans" pitchFamily="34" charset="0"/>
                <a:ea typeface="IBM Plex Sans" pitchFamily="34" charset="-122"/>
                <a:cs typeface="IBM Plex Sans" pitchFamily="34" charset="-120"/>
              </a:rPr>
              <a:t>Milestone doc · v1</a:t>
            </a:r>
            <a:endParaRPr lang="en-US" sz="1200" dirty="0"/>
          </a:p>
        </p:txBody>
      </p:sp>
      <p:sp>
        <p:nvSpPr>
          <p:cNvPr id="28" name="Text 23"/>
          <p:cNvSpPr/>
          <p:nvPr/>
        </p:nvSpPr>
        <p:spPr>
          <a:xfrm>
            <a:off x="8261350" y="3909318"/>
            <a:ext cx="1321713"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not yet released</a:t>
            </a:r>
            <a:endParaRPr lang="en-US" sz="1200" dirty="0"/>
          </a:p>
        </p:txBody>
      </p:sp>
      <p:sp>
        <p:nvSpPr>
          <p:cNvPr id="29" name="Text 24"/>
          <p:cNvSpPr/>
          <p:nvPr/>
        </p:nvSpPr>
        <p:spPr>
          <a:xfrm>
            <a:off x="6407150" y="4238129"/>
            <a:ext cx="4905375" cy="270371"/>
          </a:xfrm>
          <a:prstGeom prst="rect">
            <a:avLst/>
          </a:prstGeom>
          <a:noFill/>
          <a:ln/>
        </p:spPr>
        <p:txBody>
          <a:bodyPr wrap="square" lIns="0" tIns="0" rIns="0" bIns="0" rtlCol="0" anchor="t">
            <a:normAutofit/>
          </a:bodyPr>
          <a:lstStyle/>
          <a:p>
            <a:pPr algn="l" indent="0" marL="0">
              <a:lnSpc>
                <a:spcPts val="1092"/>
              </a:lnSpc>
              <a:buNone/>
            </a:pPr>
            <a:r>
              <a:rPr lang="en-US" sz="780" dirty="0">
                <a:solidFill>
                  <a:srgbClr val="4A5568"/>
                </a:solidFill>
                <a:latin typeface="IBM Plex Sans" pitchFamily="34" charset="0"/>
                <a:ea typeface="IBM Plex Sans" pitchFamily="34" charset="-122"/>
                <a:cs typeface="IBM Plex Sans" pitchFamily="34" charset="-120"/>
              </a:rPr>
              <a:t>Versions and attribution are built in. Template updates, edits and SOW documents become new tasks, not exceptions.</a:t>
            </a:r>
            <a:endParaRPr lang="en-US" sz="780" dirty="0"/>
          </a:p>
        </p:txBody>
      </p:sp>
      <p:sp>
        <p:nvSpPr>
          <p:cNvPr id="30" name="Shape 25"/>
          <p:cNvSpPr/>
          <p:nvPr/>
        </p:nvSpPr>
        <p:spPr>
          <a:xfrm>
            <a:off x="815975" y="4899025"/>
            <a:ext cx="10560050" cy="939800"/>
          </a:xfrm>
          <a:prstGeom prst="roundRect">
            <a:avLst>
              <a:gd name="adj" fmla="val 7770"/>
            </a:avLst>
          </a:prstGeom>
          <a:solidFill>
            <a:srgbClr val="FFFFFF"/>
          </a:solidFill>
          <a:ln w="6350">
            <a:solidFill>
              <a:srgbClr val="DCD9D0"/>
            </a:solidFill>
            <a:prstDash val="solid"/>
          </a:ln>
        </p:spPr>
      </p:sp>
      <p:sp>
        <p:nvSpPr>
          <p:cNvPr id="31" name="Text 26"/>
          <p:cNvSpPr/>
          <p:nvPr/>
        </p:nvSpPr>
        <p:spPr>
          <a:xfrm>
            <a:off x="1022350" y="5054600"/>
            <a:ext cx="5147374"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8702A"/>
                </a:solidFill>
                <a:latin typeface="IBM Plex Sans" pitchFamily="34" charset="0"/>
                <a:ea typeface="IBM Plex Sans" pitchFamily="34" charset="-122"/>
                <a:cs typeface="IBM Plex Sans" pitchFamily="34" charset="-120"/>
              </a:rPr>
              <a:t>Done when</a:t>
            </a:r>
            <a:endParaRPr lang="en-US" sz="1200" dirty="0"/>
          </a:p>
        </p:txBody>
      </p:sp>
      <p:sp>
        <p:nvSpPr>
          <p:cNvPr id="32" name="Text 27"/>
          <p:cNvSpPr/>
          <p:nvPr/>
        </p:nvSpPr>
        <p:spPr>
          <a:xfrm>
            <a:off x="1022350" y="5264150"/>
            <a:ext cx="5147374"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An analyst pushes a template change; unsubmitted suppliers see it, submitted suppliers receive a reassigned task showing what changed.</a:t>
            </a:r>
            <a:endParaRPr lang="en-US" sz="1200" dirty="0"/>
          </a:p>
        </p:txBody>
      </p:sp>
      <p:sp>
        <p:nvSpPr>
          <p:cNvPr id="33" name="Text 28"/>
          <p:cNvSpPr/>
          <p:nvPr/>
        </p:nvSpPr>
        <p:spPr>
          <a:xfrm>
            <a:off x="6172200" y="5054600"/>
            <a:ext cx="5147374"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8702A"/>
                </a:solidFill>
                <a:latin typeface="IBM Plex Sans" pitchFamily="34" charset="0"/>
                <a:ea typeface="IBM Plex Sans" pitchFamily="34" charset="-122"/>
                <a:cs typeface="IBM Plex Sans" pitchFamily="34" charset="-120"/>
              </a:rPr>
              <a:t>What changes for you</a:t>
            </a:r>
            <a:endParaRPr lang="en-US" sz="1200" dirty="0"/>
          </a:p>
        </p:txBody>
      </p:sp>
      <p:sp>
        <p:nvSpPr>
          <p:cNvPr id="34" name="Text 29"/>
          <p:cNvSpPr/>
          <p:nvPr/>
        </p:nvSpPr>
        <p:spPr>
          <a:xfrm>
            <a:off x="6172200" y="5264150"/>
            <a:ext cx="5147374"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Templates can change mid‑implementation. Suppliers may receive a second task; analysts no longer re‑issue by email.</a:t>
            </a:r>
            <a:endParaRPr lang="en-US" sz="1200" dirty="0"/>
          </a:p>
        </p:txBody>
      </p:sp>
      <p:sp>
        <p:nvSpPr>
          <p:cNvPr id="35" name="Text 30"/>
          <p:cNvSpPr/>
          <p:nvPr/>
        </p:nvSpPr>
        <p:spPr>
          <a:xfrm>
            <a:off x="11287720" y="6242050"/>
            <a:ext cx="14228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spc="100" kern="0" dirty="0">
                <a:solidFill>
                  <a:srgbClr val="C8702A"/>
                </a:solidFill>
                <a:latin typeface="IBM Plex Sans" pitchFamily="34" charset="0"/>
                <a:ea typeface="IBM Plex Sans" pitchFamily="34" charset="-122"/>
                <a:cs typeface="IBM Plex Sans" pitchFamily="34" charset="-120"/>
              </a:rPr>
              <a:t>WHAT WILL BE DIFFERENT</a:t>
            </a:r>
            <a:endParaRPr lang="en-US" sz="1500" dirty="0"/>
          </a:p>
        </p:txBody>
      </p:sp>
      <p:sp>
        <p:nvSpPr>
          <p:cNvPr id="3" name="Text 1"/>
          <p:cNvSpPr/>
          <p:nvPr>
            <p:ph type="title"/>
          </p:nvPr>
        </p:nvSpPr>
        <p:spPr>
          <a:xfrm>
            <a:off x="812800" y="1333500"/>
            <a:ext cx="10883392" cy="952500"/>
          </a:xfrm>
          <a:prstGeom prst="rect">
            <a:avLst/>
          </a:prstGeom>
          <a:noFill/>
          <a:ln/>
        </p:spPr>
        <p:txBody>
          <a:bodyPr wrap="square" lIns="0" tIns="0" rIns="0" bIns="0" rtlCol="0" anchor="t">
            <a:normAutofit/>
          </a:bodyPr>
          <a:lstStyle/>
          <a:p>
            <a:pPr algn="l" indent="0" marL="0">
              <a:lnSpc>
                <a:spcPts val="3680"/>
              </a:lnSpc>
              <a:buNone/>
            </a:pPr>
            <a:r>
              <a:rPr lang="en-US" sz="3200" b="0" i="0" dirty="0">
                <a:solidFill>
                  <a:srgbClr val="1B2A41"/>
                </a:solidFill>
                <a:latin typeface="Source Serif 4" pitchFamily="18" charset="0"/>
                <a:ea typeface="Source Serif 4" pitchFamily="18" charset="-122"/>
                <a:cs typeface="Source Serif 4" pitchFamily="18" charset="-120"/>
              </a:rPr>
              <a:t>Some things appear, some change shape, and some stop being accepted.</a:t>
            </a:r>
            <a:endParaRPr lang="en-US" sz="3200" dirty="0"/>
          </a:p>
        </p:txBody>
      </p:sp>
      <p:sp>
        <p:nvSpPr>
          <p:cNvPr id="4" name="Shape 2"/>
          <p:cNvSpPr/>
          <p:nvPr/>
        </p:nvSpPr>
        <p:spPr>
          <a:xfrm>
            <a:off x="815975" y="2517775"/>
            <a:ext cx="5175250" cy="2305050"/>
          </a:xfrm>
          <a:prstGeom prst="roundRect">
            <a:avLst>
              <a:gd name="adj" fmla="val 3168"/>
            </a:avLst>
          </a:prstGeom>
          <a:solidFill>
            <a:srgbClr val="FFFFFF"/>
          </a:solidFill>
          <a:ln w="6350">
            <a:solidFill>
              <a:srgbClr val="DCD9D0"/>
            </a:solidFill>
            <a:prstDash val="solid"/>
          </a:ln>
        </p:spPr>
      </p:sp>
      <p:sp>
        <p:nvSpPr>
          <p:cNvPr id="5" name="Text 3"/>
          <p:cNvSpPr/>
          <p:nvPr/>
        </p:nvSpPr>
        <p:spPr>
          <a:xfrm>
            <a:off x="1022350" y="2724150"/>
            <a:ext cx="4905375" cy="171946"/>
          </a:xfrm>
          <a:prstGeom prst="rect">
            <a:avLst/>
          </a:prstGeom>
          <a:noFill/>
          <a:ln/>
        </p:spPr>
        <p:txBody>
          <a:bodyPr wrap="square" lIns="0" tIns="0" rIns="0" bIns="0" rtlCol="0" anchor="t">
            <a:normAutofit/>
          </a:bodyPr>
          <a:lstStyle/>
          <a:p>
            <a:pPr algn="l" indent="0" marL="0">
              <a:lnSpc>
                <a:spcPts val="1198"/>
              </a:lnSpc>
              <a:buNone/>
            </a:pPr>
            <a:r>
              <a:rPr lang="en-US" sz="998" b="1" dirty="0">
                <a:solidFill>
                  <a:srgbClr val="C8702A"/>
                </a:solidFill>
                <a:latin typeface="IBM Plex Sans" pitchFamily="34" charset="0"/>
                <a:ea typeface="IBM Plex Sans" pitchFamily="34" charset="-122"/>
                <a:cs typeface="IBM Plex Sans" pitchFamily="34" charset="-120"/>
              </a:rPr>
              <a:t>For suppliers</a:t>
            </a:r>
            <a:endParaRPr lang="en-US" sz="998" dirty="0"/>
          </a:p>
        </p:txBody>
      </p:sp>
      <p:sp>
        <p:nvSpPr>
          <p:cNvPr id="6" name="Text 4"/>
          <p:cNvSpPr/>
          <p:nvPr/>
        </p:nvSpPr>
        <p:spPr>
          <a:xfrm>
            <a:off x="1022350" y="2997696"/>
            <a:ext cx="4905375" cy="159742"/>
          </a:xfrm>
          <a:prstGeom prst="rect">
            <a:avLst/>
          </a:prstGeom>
          <a:noFill/>
          <a:ln/>
        </p:spPr>
        <p:txBody>
          <a:bodyPr wrap="square" lIns="0" tIns="0" rIns="0" bIns="0" rtlCol="0" anchor="t">
            <a:normAutofit/>
          </a:bodyPr>
          <a:lstStyle/>
          <a:p>
            <a:pPr algn="l" indent="0" marL="0">
              <a:lnSpc>
                <a:spcPts val="1097"/>
              </a:lnSpc>
              <a:buNone/>
            </a:pPr>
            <a:r>
              <a:rPr lang="en-US" sz="784" b="1" dirty="0">
                <a:solidFill>
                  <a:srgbClr val="1B2A41"/>
                </a:solidFill>
                <a:latin typeface="IBM Plex Sans" pitchFamily="34" charset="0"/>
                <a:ea typeface="IBM Plex Sans" pitchFamily="34" charset="-122"/>
                <a:cs typeface="IBM Plex Sans" pitchFamily="34" charset="-120"/>
              </a:rPr>
              <a:t>New</a:t>
            </a:r>
            <a:endParaRPr lang="en-US" sz="784" dirty="0"/>
          </a:p>
        </p:txBody>
      </p:sp>
      <p:sp>
        <p:nvSpPr>
          <p:cNvPr id="7" name="Text 5"/>
          <p:cNvSpPr/>
          <p:nvPr/>
        </p:nvSpPr>
        <p:spPr>
          <a:xfrm>
            <a:off x="1162628" y="3259038"/>
            <a:ext cx="4757477" cy="579140"/>
          </a:xfrm>
          <a:prstGeom prst="rect">
            <a:avLst/>
          </a:prstGeom>
          <a:noFill/>
          <a:ln/>
        </p:spPr>
        <p:txBody>
          <a:bodyPr wrap="square" lIns="0" tIns="0" rIns="0" bIns="0" rtlCol="0" anchor="t">
            <a:normAutofit/>
          </a:bodyPr>
          <a:lstStyle/>
          <a:p>
            <a:pPr algn="l" marL="113722" indent="-113722">
              <a:lnSpc>
                <a:spcPts val="1098"/>
              </a:lnSpc>
              <a:buSzPct val="100000"/>
              <a:buChar char="•"/>
            </a:pPr>
            <a:r>
              <a:rPr lang="en-US" sz="757" dirty="0">
                <a:solidFill>
                  <a:srgbClr val="4A5568"/>
                </a:solidFill>
                <a:latin typeface="IBM Plex Sans" pitchFamily="34" charset="0"/>
                <a:ea typeface="IBM Plex Sans" pitchFamily="34" charset="-122"/>
                <a:cs typeface="IBM Plex Sans" pitchFamily="34" charset="-120"/>
              </a:rPr>
              <a:t>Rate calculator in the form, with an override reason</a:t>
            </a:r>
            <a:endParaRPr lang="en-US" sz="757" dirty="0"/>
          </a:p>
          <a:p>
            <a:pPr algn="l" marL="113722" indent="-113722">
              <a:lnSpc>
                <a:spcPts val="1098"/>
              </a:lnSpc>
              <a:buSzPct val="100000"/>
              <a:buChar char="•"/>
            </a:pPr>
            <a:r>
              <a:rPr lang="en-US" sz="757" dirty="0">
                <a:solidFill>
                  <a:srgbClr val="4A5568"/>
                </a:solidFill>
                <a:latin typeface="IBM Plex Sans" pitchFamily="34" charset="0"/>
                <a:ea typeface="IBM Plex Sans" pitchFamily="34" charset="-122"/>
                <a:cs typeface="IBM Plex Sans" pitchFamily="34" charset="-120"/>
              </a:rPr>
              <a:t>“Request an edit” after submission</a:t>
            </a:r>
            <a:endParaRPr lang="en-US" sz="757" dirty="0"/>
          </a:p>
          <a:p>
            <a:pPr algn="l" marL="113722" indent="-113722">
              <a:lnSpc>
                <a:spcPts val="1098"/>
              </a:lnSpc>
              <a:buSzPct val="100000"/>
              <a:buChar char="•"/>
            </a:pPr>
            <a:r>
              <a:rPr lang="en-US" sz="757" dirty="0">
                <a:solidFill>
                  <a:srgbClr val="4A5568"/>
                </a:solidFill>
                <a:latin typeface="IBM Plex Sans" pitchFamily="34" charset="0"/>
                <a:ea typeface="IBM Plex Sans" pitchFamily="34" charset="-122"/>
                <a:cs typeface="IBM Plex Sans" pitchFamily="34" charset="-120"/>
              </a:rPr>
              <a:t>“Flag for review” on a submission</a:t>
            </a:r>
            <a:endParaRPr lang="en-US" sz="757" dirty="0"/>
          </a:p>
          <a:p>
            <a:pPr algn="l" marL="113722" indent="-113722">
              <a:lnSpc>
                <a:spcPts val="1098"/>
              </a:lnSpc>
              <a:buSzPct val="100000"/>
              <a:buChar char="•"/>
            </a:pPr>
            <a:r>
              <a:rPr lang="en-US" sz="757" dirty="0">
                <a:solidFill>
                  <a:srgbClr val="4A5568"/>
                </a:solidFill>
                <a:latin typeface="IBM Plex Sans" pitchFamily="34" charset="0"/>
                <a:ea typeface="IBM Plex Sans" pitchFamily="34" charset="-122"/>
                <a:cs typeface="IBM Plex Sans" pitchFamily="34" charset="-120"/>
              </a:rPr>
              <a:t>A second task when a template changes</a:t>
            </a:r>
            <a:endParaRPr lang="en-US" sz="757" dirty="0"/>
          </a:p>
        </p:txBody>
      </p:sp>
      <p:sp>
        <p:nvSpPr>
          <p:cNvPr id="8" name="Text 6"/>
          <p:cNvSpPr/>
          <p:nvPr/>
        </p:nvSpPr>
        <p:spPr>
          <a:xfrm>
            <a:off x="1022350" y="3939778"/>
            <a:ext cx="4905375" cy="159742"/>
          </a:xfrm>
          <a:prstGeom prst="rect">
            <a:avLst/>
          </a:prstGeom>
          <a:noFill/>
          <a:ln/>
        </p:spPr>
        <p:txBody>
          <a:bodyPr wrap="square" lIns="0" tIns="0" rIns="0" bIns="0" rtlCol="0" anchor="t">
            <a:normAutofit/>
          </a:bodyPr>
          <a:lstStyle/>
          <a:p>
            <a:pPr algn="l" indent="0" marL="0">
              <a:lnSpc>
                <a:spcPts val="1097"/>
              </a:lnSpc>
              <a:buNone/>
            </a:pPr>
            <a:r>
              <a:rPr lang="en-US" sz="784" b="1" dirty="0">
                <a:solidFill>
                  <a:srgbClr val="1B2A41"/>
                </a:solidFill>
                <a:latin typeface="IBM Plex Sans" pitchFamily="34" charset="0"/>
                <a:ea typeface="IBM Plex Sans" pitchFamily="34" charset="-122"/>
                <a:cs typeface="IBM Plex Sans" pitchFamily="34" charset="-120"/>
              </a:rPr>
              <a:t>No longer accepted</a:t>
            </a:r>
            <a:endParaRPr lang="en-US" sz="784" dirty="0"/>
          </a:p>
        </p:txBody>
      </p:sp>
      <p:sp>
        <p:nvSpPr>
          <p:cNvPr id="9" name="Text 7"/>
          <p:cNvSpPr/>
          <p:nvPr/>
        </p:nvSpPr>
        <p:spPr>
          <a:xfrm>
            <a:off x="1162628" y="4201120"/>
            <a:ext cx="4757477" cy="440730"/>
          </a:xfrm>
          <a:prstGeom prst="rect">
            <a:avLst/>
          </a:prstGeom>
          <a:noFill/>
          <a:ln/>
        </p:spPr>
        <p:txBody>
          <a:bodyPr wrap="square" lIns="0" tIns="0" rIns="0" bIns="0" rtlCol="0" anchor="t">
            <a:normAutofit/>
          </a:bodyPr>
          <a:lstStyle/>
          <a:p>
            <a:pPr algn="l" marL="113722" indent="-113722">
              <a:lnSpc>
                <a:spcPts val="1098"/>
              </a:lnSpc>
              <a:buSzPct val="100000"/>
              <a:buChar char="•"/>
            </a:pPr>
            <a:r>
              <a:rPr lang="en-US" sz="757" dirty="0">
                <a:solidFill>
                  <a:srgbClr val="4A5568"/>
                </a:solidFill>
                <a:latin typeface="IBM Plex Sans" pitchFamily="34" charset="0"/>
                <a:ea typeface="IBM Plex Sans" pitchFamily="34" charset="-122"/>
                <a:cs typeface="IBM Plex Sans" pitchFamily="34" charset="-120"/>
              </a:rPr>
              <a:t>Edits sent by email after submission</a:t>
            </a:r>
            <a:endParaRPr lang="en-US" sz="757" dirty="0"/>
          </a:p>
          <a:p>
            <a:pPr algn="l" marL="113722" indent="-113722">
              <a:lnSpc>
                <a:spcPts val="1098"/>
              </a:lnSpc>
              <a:buSzPct val="100000"/>
              <a:buChar char="•"/>
            </a:pPr>
            <a:r>
              <a:rPr lang="en-US" sz="757" dirty="0">
                <a:solidFill>
                  <a:srgbClr val="4A5568"/>
                </a:solidFill>
                <a:latin typeface="IBM Plex Sans" pitchFamily="34" charset="0"/>
                <a:ea typeface="IBM Plex Sans" pitchFamily="34" charset="-122"/>
                <a:cs typeface="IBM Plex Sans" pitchFamily="34" charset="-120"/>
              </a:rPr>
              <a:t>Placeholder values entered to pass validation</a:t>
            </a:r>
            <a:endParaRPr lang="en-US" sz="757" dirty="0"/>
          </a:p>
          <a:p>
            <a:pPr algn="l" marL="113722" indent="-113722">
              <a:lnSpc>
                <a:spcPts val="1098"/>
              </a:lnSpc>
              <a:buSzPct val="100000"/>
              <a:buChar char="•"/>
            </a:pPr>
            <a:r>
              <a:rPr lang="en-US" sz="757" dirty="0">
                <a:solidFill>
                  <a:srgbClr val="4A5568"/>
                </a:solidFill>
                <a:latin typeface="IBM Plex Sans" pitchFamily="34" charset="0"/>
                <a:ea typeface="IBM Plex Sans" pitchFamily="34" charset="-122"/>
                <a:cs typeface="IBM Plex Sans" pitchFamily="34" charset="-120"/>
              </a:rPr>
              <a:t>Reference data sent as an email attachment</a:t>
            </a:r>
            <a:endParaRPr lang="en-US" sz="757" dirty="0"/>
          </a:p>
        </p:txBody>
      </p:sp>
      <p:sp>
        <p:nvSpPr>
          <p:cNvPr id="10" name="Shape 8"/>
          <p:cNvSpPr/>
          <p:nvPr/>
        </p:nvSpPr>
        <p:spPr>
          <a:xfrm>
            <a:off x="6200775" y="2517775"/>
            <a:ext cx="5175250" cy="2305050"/>
          </a:xfrm>
          <a:prstGeom prst="roundRect">
            <a:avLst>
              <a:gd name="adj" fmla="val 3168"/>
            </a:avLst>
          </a:prstGeom>
          <a:solidFill>
            <a:srgbClr val="FFFFFF"/>
          </a:solidFill>
          <a:ln w="6350">
            <a:solidFill>
              <a:srgbClr val="DCD9D0"/>
            </a:solidFill>
            <a:prstDash val="solid"/>
          </a:ln>
        </p:spPr>
      </p:sp>
      <p:sp>
        <p:nvSpPr>
          <p:cNvPr id="11" name="Text 9"/>
          <p:cNvSpPr/>
          <p:nvPr/>
        </p:nvSpPr>
        <p:spPr>
          <a:xfrm>
            <a:off x="6407150" y="2724150"/>
            <a:ext cx="4905375" cy="171946"/>
          </a:xfrm>
          <a:prstGeom prst="rect">
            <a:avLst/>
          </a:prstGeom>
          <a:noFill/>
          <a:ln/>
        </p:spPr>
        <p:txBody>
          <a:bodyPr wrap="square" lIns="0" tIns="0" rIns="0" bIns="0" rtlCol="0" anchor="t">
            <a:normAutofit/>
          </a:bodyPr>
          <a:lstStyle/>
          <a:p>
            <a:pPr algn="l" indent="0" marL="0">
              <a:lnSpc>
                <a:spcPts val="1198"/>
              </a:lnSpc>
              <a:buNone/>
            </a:pPr>
            <a:r>
              <a:rPr lang="en-US" sz="998" b="1" dirty="0">
                <a:solidFill>
                  <a:srgbClr val="C8702A"/>
                </a:solidFill>
                <a:latin typeface="IBM Plex Sans" pitchFamily="34" charset="0"/>
                <a:ea typeface="IBM Plex Sans" pitchFamily="34" charset="-122"/>
                <a:cs typeface="IBM Plex Sans" pitchFamily="34" charset="-120"/>
              </a:rPr>
              <a:t>For analysts</a:t>
            </a:r>
            <a:endParaRPr lang="en-US" sz="998" dirty="0"/>
          </a:p>
        </p:txBody>
      </p:sp>
      <p:sp>
        <p:nvSpPr>
          <p:cNvPr id="12" name="Text 10"/>
          <p:cNvSpPr/>
          <p:nvPr/>
        </p:nvSpPr>
        <p:spPr>
          <a:xfrm>
            <a:off x="6407150" y="2997696"/>
            <a:ext cx="4905375" cy="159742"/>
          </a:xfrm>
          <a:prstGeom prst="rect">
            <a:avLst/>
          </a:prstGeom>
          <a:noFill/>
          <a:ln/>
        </p:spPr>
        <p:txBody>
          <a:bodyPr wrap="square" lIns="0" tIns="0" rIns="0" bIns="0" rtlCol="0" anchor="t">
            <a:normAutofit/>
          </a:bodyPr>
          <a:lstStyle/>
          <a:p>
            <a:pPr algn="l" indent="0" marL="0">
              <a:lnSpc>
                <a:spcPts val="1097"/>
              </a:lnSpc>
              <a:buNone/>
            </a:pPr>
            <a:r>
              <a:rPr lang="en-US" sz="784" b="1" dirty="0">
                <a:solidFill>
                  <a:srgbClr val="1B2A41"/>
                </a:solidFill>
                <a:latin typeface="IBM Plex Sans" pitchFamily="34" charset="0"/>
                <a:ea typeface="IBM Plex Sans" pitchFamily="34" charset="-122"/>
                <a:cs typeface="IBM Plex Sans" pitchFamily="34" charset="-120"/>
              </a:rPr>
              <a:t>New</a:t>
            </a:r>
            <a:endParaRPr lang="en-US" sz="784" dirty="0"/>
          </a:p>
        </p:txBody>
      </p:sp>
      <p:sp>
        <p:nvSpPr>
          <p:cNvPr id="13" name="Text 11"/>
          <p:cNvSpPr/>
          <p:nvPr/>
        </p:nvSpPr>
        <p:spPr>
          <a:xfrm>
            <a:off x="6547428" y="3259038"/>
            <a:ext cx="4757477" cy="579140"/>
          </a:xfrm>
          <a:prstGeom prst="rect">
            <a:avLst/>
          </a:prstGeom>
          <a:noFill/>
          <a:ln/>
        </p:spPr>
        <p:txBody>
          <a:bodyPr wrap="square" lIns="0" tIns="0" rIns="0" bIns="0" rtlCol="0" anchor="t">
            <a:normAutofit/>
          </a:bodyPr>
          <a:lstStyle/>
          <a:p>
            <a:pPr algn="l" marL="113722" indent="-113722">
              <a:lnSpc>
                <a:spcPts val="1098"/>
              </a:lnSpc>
              <a:buSzPct val="100000"/>
              <a:buChar char="•"/>
            </a:pPr>
            <a:r>
              <a:rPr lang="en-US" sz="757" dirty="0">
                <a:solidFill>
                  <a:srgbClr val="4A5568"/>
                </a:solidFill>
                <a:latin typeface="IBM Plex Sans" pitchFamily="34" charset="0"/>
                <a:ea typeface="IBM Plex Sans" pitchFamily="34" charset="-122"/>
                <a:cs typeface="IBM Plex Sans" pitchFamily="34" charset="-120"/>
              </a:rPr>
              <a:t>Configuration pages for the chosen steps (D3)</a:t>
            </a:r>
            <a:endParaRPr lang="en-US" sz="757" dirty="0"/>
          </a:p>
          <a:p>
            <a:pPr algn="l" marL="113722" indent="-113722">
              <a:lnSpc>
                <a:spcPts val="1098"/>
              </a:lnSpc>
              <a:buSzPct val="100000"/>
              <a:buChar char="•"/>
            </a:pPr>
            <a:r>
              <a:rPr lang="en-US" sz="757" dirty="0">
                <a:solidFill>
                  <a:srgbClr val="4A5568"/>
                </a:solidFill>
                <a:latin typeface="IBM Plex Sans" pitchFamily="34" charset="0"/>
                <a:ea typeface="IBM Plex Sans" pitchFamily="34" charset="-122"/>
                <a:cs typeface="IBM Plex Sans" pitchFamily="34" charset="-120"/>
              </a:rPr>
              <a:t>Batch‑add suppliers to a live implementation</a:t>
            </a:r>
            <a:endParaRPr lang="en-US" sz="757" dirty="0"/>
          </a:p>
          <a:p>
            <a:pPr algn="l" marL="113722" indent="-113722">
              <a:lnSpc>
                <a:spcPts val="1098"/>
              </a:lnSpc>
              <a:buSzPct val="100000"/>
              <a:buChar char="•"/>
            </a:pPr>
            <a:r>
              <a:rPr lang="en-US" sz="757" dirty="0">
                <a:solidFill>
                  <a:srgbClr val="4A5568"/>
                </a:solidFill>
                <a:latin typeface="IBM Plex Sans" pitchFamily="34" charset="0"/>
                <a:ea typeface="IBM Plex Sans" pitchFamily="34" charset="-122"/>
                <a:cs typeface="IBM Plex Sans" pitchFamily="34" charset="-120"/>
              </a:rPr>
              <a:t>Push a template version; see who gets reassigned</a:t>
            </a:r>
            <a:endParaRPr lang="en-US" sz="757" dirty="0"/>
          </a:p>
          <a:p>
            <a:pPr algn="l" marL="113722" indent="-113722">
              <a:lnSpc>
                <a:spcPts val="1098"/>
              </a:lnSpc>
              <a:buSzPct val="100000"/>
              <a:buChar char="•"/>
            </a:pPr>
            <a:r>
              <a:rPr lang="en-US" sz="757" dirty="0">
                <a:solidFill>
                  <a:srgbClr val="4A5568"/>
                </a:solidFill>
                <a:latin typeface="IBM Plex Sans" pitchFamily="34" charset="0"/>
                <a:ea typeface="IBM Plex Sans" pitchFamily="34" charset="-122"/>
                <a:cs typeface="IBM Plex Sans" pitchFamily="34" charset="-120"/>
              </a:rPr>
              <a:t>Edit history with attribution on every task</a:t>
            </a:r>
            <a:endParaRPr lang="en-US" sz="757" dirty="0"/>
          </a:p>
        </p:txBody>
      </p:sp>
      <p:sp>
        <p:nvSpPr>
          <p:cNvPr id="14" name="Text 12"/>
          <p:cNvSpPr/>
          <p:nvPr/>
        </p:nvSpPr>
        <p:spPr>
          <a:xfrm>
            <a:off x="6407150" y="3939778"/>
            <a:ext cx="4905375" cy="159742"/>
          </a:xfrm>
          <a:prstGeom prst="rect">
            <a:avLst/>
          </a:prstGeom>
          <a:noFill/>
          <a:ln/>
        </p:spPr>
        <p:txBody>
          <a:bodyPr wrap="square" lIns="0" tIns="0" rIns="0" bIns="0" rtlCol="0" anchor="t">
            <a:normAutofit/>
          </a:bodyPr>
          <a:lstStyle/>
          <a:p>
            <a:pPr algn="l" indent="0" marL="0">
              <a:lnSpc>
                <a:spcPts val="1097"/>
              </a:lnSpc>
              <a:buNone/>
            </a:pPr>
            <a:r>
              <a:rPr lang="en-US" sz="784" b="1" dirty="0">
                <a:solidFill>
                  <a:srgbClr val="1B2A41"/>
                </a:solidFill>
                <a:latin typeface="IBM Plex Sans" pitchFamily="34" charset="0"/>
                <a:ea typeface="IBM Plex Sans" pitchFamily="34" charset="-122"/>
                <a:cs typeface="IBM Plex Sans" pitchFamily="34" charset="-120"/>
              </a:rPr>
              <a:t>Different</a:t>
            </a:r>
            <a:endParaRPr lang="en-US" sz="784" dirty="0"/>
          </a:p>
        </p:txBody>
      </p:sp>
      <p:sp>
        <p:nvSpPr>
          <p:cNvPr id="15" name="Text 13"/>
          <p:cNvSpPr/>
          <p:nvPr/>
        </p:nvSpPr>
        <p:spPr>
          <a:xfrm>
            <a:off x="6547428" y="4201120"/>
            <a:ext cx="4757477" cy="440730"/>
          </a:xfrm>
          <a:prstGeom prst="rect">
            <a:avLst/>
          </a:prstGeom>
          <a:noFill/>
          <a:ln/>
        </p:spPr>
        <p:txBody>
          <a:bodyPr wrap="square" lIns="0" tIns="0" rIns="0" bIns="0" rtlCol="0" anchor="t">
            <a:normAutofit/>
          </a:bodyPr>
          <a:lstStyle/>
          <a:p>
            <a:pPr algn="l" marL="113722" indent="-113722">
              <a:lnSpc>
                <a:spcPts val="1098"/>
              </a:lnSpc>
              <a:buSzPct val="100000"/>
              <a:buChar char="•"/>
            </a:pPr>
            <a:r>
              <a:rPr lang="en-US" sz="757" dirty="0">
                <a:solidFill>
                  <a:srgbClr val="4A5568"/>
                </a:solidFill>
                <a:latin typeface="IBM Plex Sans" pitchFamily="34" charset="0"/>
                <a:ea typeface="IBM Plex Sans" pitchFamily="34" charset="-122"/>
                <a:cs typeface="IBM Plex Sans" pitchFamily="34" charset="-120"/>
              </a:rPr>
              <a:t>Errors shown against the submitted rows</a:t>
            </a:r>
            <a:endParaRPr lang="en-US" sz="757" dirty="0"/>
          </a:p>
          <a:p>
            <a:pPr algn="l" marL="113722" indent="-113722">
              <a:lnSpc>
                <a:spcPts val="1098"/>
              </a:lnSpc>
              <a:buSzPct val="100000"/>
              <a:buChar char="•"/>
            </a:pPr>
            <a:r>
              <a:rPr lang="en-US" sz="757" dirty="0">
                <a:solidFill>
                  <a:srgbClr val="4A5568"/>
                </a:solidFill>
                <a:latin typeface="IBM Plex Sans" pitchFamily="34" charset="0"/>
                <a:ea typeface="IBM Plex Sans" pitchFamily="34" charset="-122"/>
                <a:cs typeface="IBM Plex Sans" pitchFamily="34" charset="-120"/>
              </a:rPr>
              <a:t>Seed mismatches stop the load instead of surfacing later</a:t>
            </a:r>
            <a:endParaRPr lang="en-US" sz="757" dirty="0"/>
          </a:p>
          <a:p>
            <a:pPr algn="l" marL="113722" indent="-113722">
              <a:lnSpc>
                <a:spcPts val="1098"/>
              </a:lnSpc>
              <a:buSzPct val="100000"/>
              <a:buChar char="•"/>
            </a:pPr>
            <a:r>
              <a:rPr lang="en-US" sz="757" dirty="0">
                <a:solidFill>
                  <a:srgbClr val="4A5568"/>
                </a:solidFill>
                <a:latin typeface="IBM Plex Sans" pitchFamily="34" charset="0"/>
                <a:ea typeface="IBM Plex Sans" pitchFamily="34" charset="-122"/>
                <a:cs typeface="IBM Plex Sans" pitchFamily="34" charset="-120"/>
              </a:rPr>
              <a:t>Edit requests and flags arrive as tasks, not emails</a:t>
            </a:r>
            <a:endParaRPr lang="en-US" sz="757" dirty="0"/>
          </a:p>
        </p:txBody>
      </p:sp>
      <p:sp>
        <p:nvSpPr>
          <p:cNvPr id="16" name="Shape 14"/>
          <p:cNvSpPr/>
          <p:nvPr/>
        </p:nvSpPr>
        <p:spPr>
          <a:xfrm>
            <a:off x="812800" y="5080000"/>
            <a:ext cx="10566400" cy="762000"/>
          </a:xfrm>
          <a:prstGeom prst="roundRect">
            <a:avLst>
              <a:gd name="adj" fmla="val 10000"/>
            </a:avLst>
          </a:prstGeom>
          <a:solidFill>
            <a:srgbClr val="1B2A41"/>
          </a:solidFill>
          <a:ln/>
        </p:spPr>
      </p:sp>
      <p:sp>
        <p:nvSpPr>
          <p:cNvPr id="17" name="Text 15"/>
          <p:cNvSpPr/>
          <p:nvPr/>
        </p:nvSpPr>
        <p:spPr>
          <a:xfrm>
            <a:off x="1016000" y="5346700"/>
            <a:ext cx="1962150" cy="25400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E39A5B"/>
                </a:solidFill>
                <a:latin typeface="IBM Plex Sans" pitchFamily="34" charset="0"/>
                <a:ea typeface="IBM Plex Sans" pitchFamily="34" charset="-122"/>
                <a:cs typeface="IBM Plex Sans" pitchFamily="34" charset="-120"/>
              </a:rPr>
              <a:t>Need something else?</a:t>
            </a:r>
            <a:endParaRPr lang="en-US" sz="1300" dirty="0"/>
          </a:p>
        </p:txBody>
      </p:sp>
      <p:sp>
        <p:nvSpPr>
          <p:cNvPr id="18" name="Text 16"/>
          <p:cNvSpPr/>
          <p:nvPr/>
        </p:nvSpPr>
        <p:spPr>
          <a:xfrm>
            <a:off x="3073400" y="5232400"/>
            <a:ext cx="8345678" cy="4826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7F6F2"/>
                </a:solidFill>
                <a:latin typeface="IBM Plex Sans" pitchFamily="34" charset="0"/>
                <a:ea typeface="IBM Plex Sans" pitchFamily="34" charset="-122"/>
                <a:cs typeface="IBM Plex Sans" pitchFamily="34" charset="-120"/>
              </a:rPr>
              <a:t>If your team needs something different from this list, the route is [change authority], not a message to the developer.</a:t>
            </a:r>
            <a:endParaRPr lang="en-US" sz="1300" dirty="0"/>
          </a:p>
        </p:txBody>
      </p:sp>
      <p:sp>
        <p:nvSpPr>
          <p:cNvPr id="19" name="Text 17"/>
          <p:cNvSpPr/>
          <p:nvPr/>
        </p:nvSpPr>
        <p:spPr>
          <a:xfrm>
            <a:off x="11287720" y="6242050"/>
            <a:ext cx="14228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DEBE4"/>
        </a:solidFill>
      </p:bgPr>
    </p:bg>
    <p:spTree>
      <p:nvGrpSpPr>
        <p:cNvPr id="1" name=""/>
        <p:cNvGrpSpPr/>
        <p:nvPr/>
      </p:nvGrpSpPr>
      <p:grpSpPr>
        <a:xfrm>
          <a:off x="0" y="0"/>
          <a:ext cx="0" cy="0"/>
          <a:chOff x="0" y="0"/>
          <a:chExt cx="0" cy="0"/>
        </a:xfrm>
      </p:grpSpPr>
      <p:sp>
        <p:nvSpPr>
          <p:cNvPr id="2" name="Text 0"/>
          <p:cNvSpPr/>
          <p:nvPr/>
        </p:nvSpPr>
        <p:spPr>
          <a:xfrm>
            <a:off x="812800" y="8128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spc="100" kern="0" dirty="0">
                <a:solidFill>
                  <a:srgbClr val="C8702A"/>
                </a:solidFill>
                <a:latin typeface="IBM Plex Sans" pitchFamily="34" charset="0"/>
                <a:ea typeface="IBM Plex Sans" pitchFamily="34" charset="-122"/>
                <a:cs typeface="IBM Plex Sans" pitchFamily="34" charset="-120"/>
              </a:rPr>
              <a:t>SYSTEM CHANGES</a:t>
            </a:r>
            <a:endParaRPr lang="en-US" sz="1500" dirty="0"/>
          </a:p>
        </p:txBody>
      </p:sp>
      <p:sp>
        <p:nvSpPr>
          <p:cNvPr id="3" name="Text 1"/>
          <p:cNvSpPr/>
          <p:nvPr>
            <p:ph type="title"/>
          </p:nvPr>
        </p:nvSpPr>
        <p:spPr>
          <a:xfrm>
            <a:off x="812800" y="1333500"/>
            <a:ext cx="10883392" cy="952500"/>
          </a:xfrm>
          <a:prstGeom prst="rect">
            <a:avLst/>
          </a:prstGeom>
          <a:noFill/>
          <a:ln/>
        </p:spPr>
        <p:txBody>
          <a:bodyPr wrap="square" lIns="0" tIns="0" rIns="0" bIns="0" rtlCol="0" anchor="t">
            <a:normAutofit/>
          </a:bodyPr>
          <a:lstStyle/>
          <a:p>
            <a:pPr algn="l" indent="0" marL="0">
              <a:lnSpc>
                <a:spcPts val="3680"/>
              </a:lnSpc>
              <a:buNone/>
            </a:pPr>
            <a:r>
              <a:rPr lang="en-US" sz="3200" b="0" i="0" dirty="0">
                <a:solidFill>
                  <a:srgbClr val="1B2A41"/>
                </a:solidFill>
                <a:latin typeface="Source Serif 4" pitchFamily="18" charset="0"/>
                <a:ea typeface="Source Serif 4" pitchFamily="18" charset="-122"/>
                <a:cs typeface="Source Serif 4" pitchFamily="18" charset="-120"/>
              </a:rPr>
              <a:t>Four parts of SDC change. Most additions are a page or a step; the task record is the one thing rebuilt.</a:t>
            </a:r>
            <a:endParaRPr lang="en-US" sz="3200" dirty="0"/>
          </a:p>
        </p:txBody>
      </p:sp>
      <p:sp>
        <p:nvSpPr>
          <p:cNvPr id="4" name="Shape 2"/>
          <p:cNvSpPr/>
          <p:nvPr/>
        </p:nvSpPr>
        <p:spPr>
          <a:xfrm>
            <a:off x="815975" y="2517775"/>
            <a:ext cx="2520950" cy="2857500"/>
          </a:xfrm>
          <a:prstGeom prst="roundRect">
            <a:avLst>
              <a:gd name="adj" fmla="val 2897"/>
            </a:avLst>
          </a:prstGeom>
          <a:solidFill>
            <a:srgbClr val="FFFFFF"/>
          </a:solidFill>
          <a:ln w="6350">
            <a:solidFill>
              <a:srgbClr val="DCD9D0"/>
            </a:solidFill>
            <a:prstDash val="solid"/>
          </a:ln>
        </p:spPr>
      </p:sp>
      <p:sp>
        <p:nvSpPr>
          <p:cNvPr id="5" name="Text 3"/>
          <p:cNvSpPr/>
          <p:nvPr/>
        </p:nvSpPr>
        <p:spPr>
          <a:xfrm>
            <a:off x="996950" y="2698750"/>
            <a:ext cx="2223770" cy="182463"/>
          </a:xfrm>
          <a:prstGeom prst="rect">
            <a:avLst/>
          </a:prstGeom>
          <a:noFill/>
          <a:ln/>
        </p:spPr>
        <p:txBody>
          <a:bodyPr wrap="square" lIns="0" tIns="0" rIns="0" bIns="0" rtlCol="0" anchor="t">
            <a:normAutofit/>
          </a:bodyPr>
          <a:lstStyle/>
          <a:p>
            <a:pPr algn="l" indent="0" marL="0">
              <a:lnSpc>
                <a:spcPts val="1297"/>
              </a:lnSpc>
              <a:buNone/>
            </a:pPr>
            <a:r>
              <a:rPr lang="en-US" sz="1081" b="1" dirty="0">
                <a:solidFill>
                  <a:srgbClr val="C8702A"/>
                </a:solidFill>
                <a:latin typeface="IBM Plex Sans" pitchFamily="34" charset="0"/>
                <a:ea typeface="IBM Plex Sans" pitchFamily="34" charset="-122"/>
                <a:cs typeface="IBM Plex Sans" pitchFamily="34" charset="-120"/>
              </a:rPr>
              <a:t>Supplier portal</a:t>
            </a:r>
            <a:endParaRPr lang="en-US" sz="1081" dirty="0"/>
          </a:p>
        </p:txBody>
      </p:sp>
      <p:sp>
        <p:nvSpPr>
          <p:cNvPr id="6" name="Text 4"/>
          <p:cNvSpPr/>
          <p:nvPr/>
        </p:nvSpPr>
        <p:spPr>
          <a:xfrm>
            <a:off x="996950" y="2957413"/>
            <a:ext cx="2223770" cy="182463"/>
          </a:xfrm>
          <a:prstGeom prst="rect">
            <a:avLst/>
          </a:prstGeom>
          <a:noFill/>
          <a:ln/>
        </p:spPr>
        <p:txBody>
          <a:bodyPr wrap="square" lIns="0" tIns="0" rIns="0" bIns="0" rtlCol="0" anchor="t">
            <a:normAutofit/>
          </a:bodyPr>
          <a:lstStyle/>
          <a:p>
            <a:pPr algn="l" indent="0" marL="0">
              <a:lnSpc>
                <a:spcPts val="1297"/>
              </a:lnSpc>
              <a:buNone/>
            </a:pPr>
            <a:r>
              <a:rPr lang="en-US" sz="926" b="1" dirty="0">
                <a:solidFill>
                  <a:srgbClr val="1B2A41"/>
                </a:solidFill>
                <a:latin typeface="IBM Plex Sans" pitchFamily="34" charset="0"/>
                <a:ea typeface="IBM Plex Sans" pitchFamily="34" charset="-122"/>
                <a:cs typeface="IBM Plex Sans" pitchFamily="34" charset="-120"/>
              </a:rPr>
              <a:t>Added</a:t>
            </a:r>
            <a:endParaRPr lang="en-US" sz="926" dirty="0"/>
          </a:p>
        </p:txBody>
      </p:sp>
      <p:sp>
        <p:nvSpPr>
          <p:cNvPr id="7" name="Text 5"/>
          <p:cNvSpPr/>
          <p:nvPr/>
        </p:nvSpPr>
        <p:spPr>
          <a:xfrm>
            <a:off x="1102678" y="3216077"/>
            <a:ext cx="2110423" cy="1319808"/>
          </a:xfrm>
          <a:prstGeom prst="rect">
            <a:avLst/>
          </a:prstGeom>
          <a:noFill/>
          <a:ln/>
        </p:spPr>
        <p:txBody>
          <a:bodyPr wrap="square" lIns="0" tIns="0" rIns="0" bIns="0" rtlCol="0" anchor="t">
            <a:normAutofit/>
          </a:bodyPr>
          <a:lstStyle/>
          <a:p>
            <a:pPr algn="l" marL="148273" indent="-148273">
              <a:lnSpc>
                <a:spcPts val="1631"/>
              </a:lnSpc>
              <a:buSzPct val="100000"/>
              <a:buChar char="•"/>
            </a:pPr>
            <a:r>
              <a:rPr lang="en-US" sz="1125" dirty="0">
                <a:solidFill>
                  <a:srgbClr val="4A5568"/>
                </a:solidFill>
                <a:latin typeface="IBM Plex Sans" pitchFamily="34" charset="0"/>
                <a:ea typeface="IBM Plex Sans" pitchFamily="34" charset="-122"/>
                <a:cs typeface="IBM Plex Sans" pitchFamily="34" charset="-120"/>
              </a:rPr>
              <a:t>Reference‑data upload · R01</a:t>
            </a:r>
            <a:endParaRPr lang="en-US" sz="1125" dirty="0"/>
          </a:p>
          <a:p>
            <a:pPr algn="l" marL="148273" indent="-148273">
              <a:lnSpc>
                <a:spcPts val="1631"/>
              </a:lnSpc>
              <a:buSzPct val="100000"/>
              <a:buChar char="•"/>
            </a:pPr>
            <a:r>
              <a:rPr lang="en-US" sz="1125" dirty="0">
                <a:solidFill>
                  <a:srgbClr val="4A5568"/>
                </a:solidFill>
                <a:latin typeface="IBM Plex Sans" pitchFamily="34" charset="0"/>
                <a:ea typeface="IBM Plex Sans" pitchFamily="34" charset="-122"/>
                <a:cs typeface="IBM Plex Sans" pitchFamily="34" charset="-120"/>
              </a:rPr>
              <a:t>Rate calculator in the form · R02</a:t>
            </a:r>
            <a:endParaRPr lang="en-US" sz="1125" dirty="0"/>
          </a:p>
          <a:p>
            <a:pPr algn="l" marL="148273" indent="-148273">
              <a:lnSpc>
                <a:spcPts val="1631"/>
              </a:lnSpc>
              <a:buSzPct val="100000"/>
              <a:buChar char="•"/>
            </a:pPr>
            <a:r>
              <a:rPr lang="en-US" sz="1125" dirty="0">
                <a:solidFill>
                  <a:srgbClr val="4A5568"/>
                </a:solidFill>
                <a:latin typeface="IBM Plex Sans" pitchFamily="34" charset="0"/>
                <a:ea typeface="IBM Plex Sans" pitchFamily="34" charset="-122"/>
                <a:cs typeface="IBM Plex Sans" pitchFamily="34" charset="-120"/>
              </a:rPr>
              <a:t>“Request an edit” action · R03</a:t>
            </a:r>
            <a:endParaRPr lang="en-US" sz="1125" dirty="0"/>
          </a:p>
          <a:p>
            <a:pPr algn="l" marL="148273" indent="-148273">
              <a:lnSpc>
                <a:spcPts val="1631"/>
              </a:lnSpc>
              <a:buSzPct val="100000"/>
              <a:buChar char="•"/>
            </a:pPr>
            <a:r>
              <a:rPr lang="en-US" sz="1125" dirty="0">
                <a:solidFill>
                  <a:srgbClr val="4A5568"/>
                </a:solidFill>
                <a:latin typeface="IBM Plex Sans" pitchFamily="34" charset="0"/>
                <a:ea typeface="IBM Plex Sans" pitchFamily="34" charset="-122"/>
                <a:cs typeface="IBM Plex Sans" pitchFamily="34" charset="-120"/>
              </a:rPr>
              <a:t>“Flag for review” option · R04</a:t>
            </a:r>
            <a:endParaRPr lang="en-US" sz="1125" dirty="0"/>
          </a:p>
        </p:txBody>
      </p:sp>
      <p:sp>
        <p:nvSpPr>
          <p:cNvPr id="8" name="Text 6"/>
          <p:cNvSpPr/>
          <p:nvPr/>
        </p:nvSpPr>
        <p:spPr>
          <a:xfrm>
            <a:off x="996950" y="4612084"/>
            <a:ext cx="2223770" cy="182463"/>
          </a:xfrm>
          <a:prstGeom prst="rect">
            <a:avLst/>
          </a:prstGeom>
          <a:noFill/>
          <a:ln/>
        </p:spPr>
        <p:txBody>
          <a:bodyPr wrap="square" lIns="0" tIns="0" rIns="0" bIns="0" rtlCol="0" anchor="t">
            <a:normAutofit/>
          </a:bodyPr>
          <a:lstStyle/>
          <a:p>
            <a:pPr algn="l" indent="0" marL="0">
              <a:lnSpc>
                <a:spcPts val="1297"/>
              </a:lnSpc>
              <a:buNone/>
            </a:pPr>
            <a:r>
              <a:rPr lang="en-US" sz="926" b="1" dirty="0">
                <a:solidFill>
                  <a:srgbClr val="1B2A41"/>
                </a:solidFill>
                <a:latin typeface="IBM Plex Sans" pitchFamily="34" charset="0"/>
                <a:ea typeface="IBM Plex Sans" pitchFamily="34" charset="-122"/>
                <a:cs typeface="IBM Plex Sans" pitchFamily="34" charset="-120"/>
              </a:rPr>
              <a:t>Changed</a:t>
            </a:r>
            <a:endParaRPr lang="en-US" sz="926" dirty="0"/>
          </a:p>
        </p:txBody>
      </p:sp>
      <p:sp>
        <p:nvSpPr>
          <p:cNvPr id="9" name="Text 7"/>
          <p:cNvSpPr/>
          <p:nvPr/>
        </p:nvSpPr>
        <p:spPr>
          <a:xfrm>
            <a:off x="1123471" y="4870748"/>
            <a:ext cx="2089629" cy="349052"/>
          </a:xfrm>
          <a:prstGeom prst="rect">
            <a:avLst/>
          </a:prstGeom>
          <a:noFill/>
          <a:ln/>
        </p:spPr>
        <p:txBody>
          <a:bodyPr wrap="square" lIns="0" tIns="0" rIns="0" bIns="0" rtlCol="0" anchor="t">
            <a:normAutofit/>
          </a:bodyPr>
          <a:lstStyle/>
          <a:p>
            <a:pPr algn="l" marL="127479" indent="-127479">
              <a:lnSpc>
                <a:spcPts val="1300"/>
              </a:lnSpc>
              <a:buSzPct val="100000"/>
              <a:buChar char="•"/>
            </a:pPr>
            <a:r>
              <a:rPr lang="en-US" sz="896" dirty="0">
                <a:solidFill>
                  <a:srgbClr val="4A5568"/>
                </a:solidFill>
                <a:latin typeface="IBM Plex Sans" pitchFamily="34" charset="0"/>
                <a:ea typeface="IBM Plex Sans" pitchFamily="34" charset="-122"/>
                <a:cs typeface="IBM Plex Sans" pitchFamily="34" charset="-120"/>
              </a:rPr>
              <a:t>Task list shows several tasks per supplier · R05</a:t>
            </a:r>
            <a:endParaRPr lang="en-US" sz="896" dirty="0"/>
          </a:p>
        </p:txBody>
      </p:sp>
      <p:sp>
        <p:nvSpPr>
          <p:cNvPr id="10" name="Shape 8"/>
          <p:cNvSpPr/>
          <p:nvPr/>
        </p:nvSpPr>
        <p:spPr>
          <a:xfrm>
            <a:off x="3495675" y="2517775"/>
            <a:ext cx="2520950" cy="2857500"/>
          </a:xfrm>
          <a:prstGeom prst="roundRect">
            <a:avLst>
              <a:gd name="adj" fmla="val 2897"/>
            </a:avLst>
          </a:prstGeom>
          <a:solidFill>
            <a:srgbClr val="FFFFFF"/>
          </a:solidFill>
          <a:ln w="6350">
            <a:solidFill>
              <a:srgbClr val="DCD9D0"/>
            </a:solidFill>
            <a:prstDash val="solid"/>
          </a:ln>
        </p:spPr>
      </p:sp>
      <p:sp>
        <p:nvSpPr>
          <p:cNvPr id="11" name="Text 9"/>
          <p:cNvSpPr/>
          <p:nvPr/>
        </p:nvSpPr>
        <p:spPr>
          <a:xfrm>
            <a:off x="3676650" y="2698750"/>
            <a:ext cx="2223770" cy="171152"/>
          </a:xfrm>
          <a:prstGeom prst="rect">
            <a:avLst/>
          </a:prstGeom>
          <a:noFill/>
          <a:ln/>
        </p:spPr>
        <p:txBody>
          <a:bodyPr wrap="square" lIns="0" tIns="0" rIns="0" bIns="0" rtlCol="0" anchor="t">
            <a:normAutofit/>
          </a:bodyPr>
          <a:lstStyle/>
          <a:p>
            <a:pPr algn="l" indent="0" marL="0">
              <a:lnSpc>
                <a:spcPts val="1197"/>
              </a:lnSpc>
              <a:buNone/>
            </a:pPr>
            <a:r>
              <a:rPr lang="en-US" sz="997" b="1" dirty="0">
                <a:solidFill>
                  <a:srgbClr val="C8702A"/>
                </a:solidFill>
                <a:latin typeface="IBM Plex Sans" pitchFamily="34" charset="0"/>
                <a:ea typeface="IBM Plex Sans" pitchFamily="34" charset="-122"/>
                <a:cs typeface="IBM Plex Sans" pitchFamily="34" charset="-120"/>
              </a:rPr>
              <a:t>Analyst pages</a:t>
            </a:r>
            <a:endParaRPr lang="en-US" sz="997" dirty="0"/>
          </a:p>
        </p:txBody>
      </p:sp>
      <p:sp>
        <p:nvSpPr>
          <p:cNvPr id="12" name="Text 10"/>
          <p:cNvSpPr/>
          <p:nvPr/>
        </p:nvSpPr>
        <p:spPr>
          <a:xfrm>
            <a:off x="3676650" y="2946102"/>
            <a:ext cx="2223770" cy="171152"/>
          </a:xfrm>
          <a:prstGeom prst="rect">
            <a:avLst/>
          </a:prstGeom>
          <a:noFill/>
          <a:ln/>
        </p:spPr>
        <p:txBody>
          <a:bodyPr wrap="square" lIns="0" tIns="0" rIns="0" bIns="0" rtlCol="0" anchor="t">
            <a:normAutofit/>
          </a:bodyPr>
          <a:lstStyle/>
          <a:p>
            <a:pPr algn="l" indent="0" marL="0">
              <a:lnSpc>
                <a:spcPts val="1197"/>
              </a:lnSpc>
              <a:buNone/>
            </a:pPr>
            <a:r>
              <a:rPr lang="en-US" sz="855" b="1" dirty="0">
                <a:solidFill>
                  <a:srgbClr val="1B2A41"/>
                </a:solidFill>
                <a:latin typeface="IBM Plex Sans" pitchFamily="34" charset="0"/>
                <a:ea typeface="IBM Plex Sans" pitchFamily="34" charset="-122"/>
                <a:cs typeface="IBM Plex Sans" pitchFamily="34" charset="-120"/>
              </a:rPr>
              <a:t>Added</a:t>
            </a:r>
            <a:endParaRPr lang="en-US" sz="855" dirty="0"/>
          </a:p>
        </p:txBody>
      </p:sp>
      <p:sp>
        <p:nvSpPr>
          <p:cNvPr id="13" name="Text 11"/>
          <p:cNvSpPr/>
          <p:nvPr/>
        </p:nvSpPr>
        <p:spPr>
          <a:xfrm>
            <a:off x="3775685" y="3193455"/>
            <a:ext cx="2117115" cy="1076623"/>
          </a:xfrm>
          <a:prstGeom prst="rect">
            <a:avLst/>
          </a:prstGeom>
          <a:noFill/>
          <a:ln/>
        </p:spPr>
        <p:txBody>
          <a:bodyPr wrap="square" lIns="0" tIns="0" rIns="0" bIns="0" rtlCol="0" anchor="t">
            <a:normAutofit/>
          </a:bodyPr>
          <a:lstStyle/>
          <a:p>
            <a:pPr algn="l" marL="154965" indent="-154965">
              <a:lnSpc>
                <a:spcPts val="1697"/>
              </a:lnSpc>
              <a:buSzPct val="100000"/>
              <a:buChar char="•"/>
            </a:pPr>
            <a:r>
              <a:rPr lang="en-US" sz="1170" dirty="0">
                <a:solidFill>
                  <a:srgbClr val="4A5568"/>
                </a:solidFill>
                <a:latin typeface="IBM Plex Sans" pitchFamily="34" charset="0"/>
                <a:ea typeface="IBM Plex Sans" pitchFamily="34" charset="-122"/>
                <a:cs typeface="IBM Plex Sans" pitchFamily="34" charset="-120"/>
              </a:rPr>
              <a:t>Configuration pages for chosen steps · R06</a:t>
            </a:r>
            <a:endParaRPr lang="en-US" sz="1170" dirty="0"/>
          </a:p>
          <a:p>
            <a:pPr algn="l" marL="154965" indent="-154965">
              <a:lnSpc>
                <a:spcPts val="1697"/>
              </a:lnSpc>
              <a:buSzPct val="100000"/>
              <a:buChar char="•"/>
            </a:pPr>
            <a:r>
              <a:rPr lang="en-US" sz="1170" dirty="0">
                <a:solidFill>
                  <a:srgbClr val="4A5568"/>
                </a:solidFill>
                <a:latin typeface="IBM Plex Sans" pitchFamily="34" charset="0"/>
                <a:ea typeface="IBM Plex Sans" pitchFamily="34" charset="-122"/>
                <a:cs typeface="IBM Plex Sans" pitchFamily="34" charset="-120"/>
              </a:rPr>
              <a:t>Batch‑add suppliers · R09</a:t>
            </a:r>
            <a:endParaRPr lang="en-US" sz="1170" dirty="0"/>
          </a:p>
          <a:p>
            <a:pPr algn="l" marL="154965" indent="-154965">
              <a:lnSpc>
                <a:spcPts val="1697"/>
              </a:lnSpc>
              <a:buSzPct val="100000"/>
              <a:buChar char="•"/>
            </a:pPr>
            <a:r>
              <a:rPr lang="en-US" sz="1170" dirty="0">
                <a:solidFill>
                  <a:srgbClr val="4A5568"/>
                </a:solidFill>
                <a:latin typeface="IBM Plex Sans" pitchFamily="34" charset="0"/>
                <a:ea typeface="IBM Plex Sans" pitchFamily="34" charset="-122"/>
                <a:cs typeface="IBM Plex Sans" pitchFamily="34" charset="-120"/>
              </a:rPr>
              <a:t>Push template version · R05</a:t>
            </a:r>
            <a:endParaRPr lang="en-US" sz="1170" dirty="0"/>
          </a:p>
          <a:p>
            <a:pPr algn="l" marL="154965" indent="-154965">
              <a:lnSpc>
                <a:spcPts val="1697"/>
              </a:lnSpc>
              <a:buSzPct val="100000"/>
              <a:buChar char="•"/>
            </a:pPr>
            <a:r>
              <a:rPr lang="en-US" sz="1170" dirty="0">
                <a:solidFill>
                  <a:srgbClr val="4A5568"/>
                </a:solidFill>
                <a:latin typeface="IBM Plex Sans" pitchFamily="34" charset="0"/>
                <a:ea typeface="IBM Plex Sans" pitchFamily="34" charset="-122"/>
                <a:cs typeface="IBM Plex Sans" pitchFamily="34" charset="-120"/>
              </a:rPr>
              <a:t>Seed validation report · R10</a:t>
            </a:r>
            <a:endParaRPr lang="en-US" sz="1170" dirty="0"/>
          </a:p>
        </p:txBody>
      </p:sp>
      <p:sp>
        <p:nvSpPr>
          <p:cNvPr id="14" name="Text 12"/>
          <p:cNvSpPr/>
          <p:nvPr/>
        </p:nvSpPr>
        <p:spPr>
          <a:xfrm>
            <a:off x="3676650" y="4346277"/>
            <a:ext cx="2223770" cy="171152"/>
          </a:xfrm>
          <a:prstGeom prst="rect">
            <a:avLst/>
          </a:prstGeom>
          <a:noFill/>
          <a:ln/>
        </p:spPr>
        <p:txBody>
          <a:bodyPr wrap="square" lIns="0" tIns="0" rIns="0" bIns="0" rtlCol="0" anchor="t">
            <a:normAutofit/>
          </a:bodyPr>
          <a:lstStyle/>
          <a:p>
            <a:pPr algn="l" indent="0" marL="0">
              <a:lnSpc>
                <a:spcPts val="1197"/>
              </a:lnSpc>
              <a:buNone/>
            </a:pPr>
            <a:r>
              <a:rPr lang="en-US" sz="855" b="1" dirty="0">
                <a:solidFill>
                  <a:srgbClr val="1B2A41"/>
                </a:solidFill>
                <a:latin typeface="IBM Plex Sans" pitchFamily="34" charset="0"/>
                <a:ea typeface="IBM Plex Sans" pitchFamily="34" charset="-122"/>
                <a:cs typeface="IBM Plex Sans" pitchFamily="34" charset="-120"/>
              </a:rPr>
              <a:t>Changed</a:t>
            </a:r>
            <a:endParaRPr lang="en-US" sz="855" dirty="0"/>
          </a:p>
        </p:txBody>
      </p:sp>
      <p:sp>
        <p:nvSpPr>
          <p:cNvPr id="15" name="Text 13"/>
          <p:cNvSpPr/>
          <p:nvPr/>
        </p:nvSpPr>
        <p:spPr>
          <a:xfrm>
            <a:off x="3803256" y="4593630"/>
            <a:ext cx="2089544" cy="626070"/>
          </a:xfrm>
          <a:prstGeom prst="rect">
            <a:avLst/>
          </a:prstGeom>
          <a:noFill/>
          <a:ln/>
        </p:spPr>
        <p:txBody>
          <a:bodyPr wrap="square" lIns="0" tIns="0" rIns="0" bIns="0" rtlCol="0" anchor="t">
            <a:normAutofit/>
          </a:bodyPr>
          <a:lstStyle/>
          <a:p>
            <a:pPr algn="l" marL="127394" indent="-127394">
              <a:lnSpc>
                <a:spcPts val="1283"/>
              </a:lnSpc>
              <a:buSzPct val="100000"/>
              <a:buChar char="•"/>
            </a:pPr>
            <a:r>
              <a:rPr lang="en-US" sz="885" dirty="0">
                <a:solidFill>
                  <a:srgbClr val="4A5568"/>
                </a:solidFill>
                <a:latin typeface="IBM Plex Sans" pitchFamily="34" charset="0"/>
                <a:ea typeface="IBM Plex Sans" pitchFamily="34" charset="-122"/>
                <a:cs typeface="IBM Plex Sans" pitchFamily="34" charset="-120"/>
              </a:rPr>
              <a:t>Error review in submitted shape · R08</a:t>
            </a:r>
            <a:endParaRPr lang="en-US" sz="885" dirty="0"/>
          </a:p>
          <a:p>
            <a:pPr algn="l" marL="127394" indent="-127394">
              <a:lnSpc>
                <a:spcPts val="1283"/>
              </a:lnSpc>
              <a:buSzPct val="100000"/>
              <a:buChar char="•"/>
            </a:pPr>
            <a:r>
              <a:rPr lang="en-US" sz="885" dirty="0">
                <a:solidFill>
                  <a:srgbClr val="4A5568"/>
                </a:solidFill>
                <a:latin typeface="IBM Plex Sans" pitchFamily="34" charset="0"/>
                <a:ea typeface="IBM Plex Sans" pitchFamily="34" charset="-122"/>
                <a:cs typeface="IBM Plex Sans" pitchFamily="34" charset="-120"/>
              </a:rPr>
              <a:t>Edit requests and flags arrive as tasks · R03 R04</a:t>
            </a:r>
            <a:endParaRPr lang="en-US" sz="885" dirty="0"/>
          </a:p>
        </p:txBody>
      </p:sp>
      <p:sp>
        <p:nvSpPr>
          <p:cNvPr id="16" name="Shape 14"/>
          <p:cNvSpPr/>
          <p:nvPr/>
        </p:nvSpPr>
        <p:spPr>
          <a:xfrm>
            <a:off x="6175375" y="2517775"/>
            <a:ext cx="2520950" cy="2857500"/>
          </a:xfrm>
          <a:prstGeom prst="roundRect">
            <a:avLst>
              <a:gd name="adj" fmla="val 2897"/>
            </a:avLst>
          </a:prstGeom>
          <a:solidFill>
            <a:srgbClr val="FFFFFF"/>
          </a:solidFill>
          <a:ln w="6350">
            <a:solidFill>
              <a:srgbClr val="DCD9D0"/>
            </a:solidFill>
            <a:prstDash val="solid"/>
          </a:ln>
        </p:spPr>
      </p:sp>
      <p:sp>
        <p:nvSpPr>
          <p:cNvPr id="17" name="Text 15"/>
          <p:cNvSpPr/>
          <p:nvPr/>
        </p:nvSpPr>
        <p:spPr>
          <a:xfrm>
            <a:off x="6356350" y="2698750"/>
            <a:ext cx="2223770" cy="211237"/>
          </a:xfrm>
          <a:prstGeom prst="rect">
            <a:avLst/>
          </a:prstGeom>
          <a:noFill/>
          <a:ln/>
        </p:spPr>
        <p:txBody>
          <a:bodyPr wrap="square" lIns="0" tIns="0" rIns="0" bIns="0" rtlCol="0" anchor="t">
            <a:normAutofit/>
          </a:bodyPr>
          <a:lstStyle/>
          <a:p>
            <a:pPr algn="l" indent="0" marL="0">
              <a:lnSpc>
                <a:spcPts val="1496"/>
              </a:lnSpc>
              <a:buNone/>
            </a:pPr>
            <a:r>
              <a:rPr lang="en-US" sz="1247" b="1" dirty="0">
                <a:solidFill>
                  <a:srgbClr val="C8702A"/>
                </a:solidFill>
                <a:latin typeface="IBM Plex Sans" pitchFamily="34" charset="0"/>
                <a:ea typeface="IBM Plex Sans" pitchFamily="34" charset="-122"/>
                <a:cs typeface="IBM Plex Sans" pitchFamily="34" charset="-120"/>
              </a:rPr>
              <a:t>Task record and data</a:t>
            </a:r>
            <a:endParaRPr lang="en-US" sz="1247" dirty="0"/>
          </a:p>
        </p:txBody>
      </p:sp>
      <p:sp>
        <p:nvSpPr>
          <p:cNvPr id="18" name="Text 16"/>
          <p:cNvSpPr/>
          <p:nvPr/>
        </p:nvSpPr>
        <p:spPr>
          <a:xfrm>
            <a:off x="6356350" y="2986187"/>
            <a:ext cx="2223770" cy="211237"/>
          </a:xfrm>
          <a:prstGeom prst="rect">
            <a:avLst/>
          </a:prstGeom>
          <a:noFill/>
          <a:ln/>
        </p:spPr>
        <p:txBody>
          <a:bodyPr wrap="square" lIns="0" tIns="0" rIns="0" bIns="0" rtlCol="0" anchor="t">
            <a:normAutofit/>
          </a:bodyPr>
          <a:lstStyle/>
          <a:p>
            <a:pPr algn="l" indent="0" marL="0">
              <a:lnSpc>
                <a:spcPts val="1496"/>
              </a:lnSpc>
              <a:buNone/>
            </a:pPr>
            <a:r>
              <a:rPr lang="en-US" sz="1069" b="1" dirty="0">
                <a:solidFill>
                  <a:srgbClr val="1B2A41"/>
                </a:solidFill>
                <a:latin typeface="IBM Plex Sans" pitchFamily="34" charset="0"/>
                <a:ea typeface="IBM Plex Sans" pitchFamily="34" charset="-122"/>
                <a:cs typeface="IBM Plex Sans" pitchFamily="34" charset="-120"/>
              </a:rPr>
              <a:t>Rebuilt</a:t>
            </a:r>
            <a:endParaRPr lang="en-US" sz="1069" dirty="0"/>
          </a:p>
        </p:txBody>
      </p:sp>
      <p:sp>
        <p:nvSpPr>
          <p:cNvPr id="19" name="Text 17"/>
          <p:cNvSpPr/>
          <p:nvPr/>
        </p:nvSpPr>
        <p:spPr>
          <a:xfrm>
            <a:off x="6468856" y="3273623"/>
            <a:ext cx="2103644" cy="982662"/>
          </a:xfrm>
          <a:prstGeom prst="rect">
            <a:avLst/>
          </a:prstGeom>
          <a:noFill/>
          <a:ln/>
        </p:spPr>
        <p:txBody>
          <a:bodyPr wrap="square" lIns="0" tIns="0" rIns="0" bIns="0" rtlCol="0" anchor="t">
            <a:normAutofit/>
          </a:bodyPr>
          <a:lstStyle/>
          <a:p>
            <a:pPr algn="l" marL="141494" indent="-141494">
              <a:lnSpc>
                <a:spcPts val="1550"/>
              </a:lnSpc>
              <a:buSzPct val="100000"/>
              <a:buChar char="•"/>
            </a:pPr>
            <a:r>
              <a:rPr lang="en-US" sz="1069" dirty="0">
                <a:solidFill>
                  <a:srgbClr val="4A5568"/>
                </a:solidFill>
                <a:latin typeface="IBM Plex Sans" pitchFamily="34" charset="0"/>
                <a:ea typeface="IBM Plex Sans" pitchFamily="34" charset="-122"/>
                <a:cs typeface="IBM Plex Sans" pitchFamily="34" charset="-120"/>
              </a:rPr>
              <a:t>Task record carries version, owner and history · R05</a:t>
            </a:r>
            <a:endParaRPr lang="en-US" sz="1069" dirty="0"/>
          </a:p>
          <a:p>
            <a:pPr algn="l" marL="141494" indent="-141494">
              <a:lnSpc>
                <a:spcPts val="1550"/>
              </a:lnSpc>
              <a:buSzPct val="100000"/>
              <a:buChar char="•"/>
            </a:pPr>
            <a:r>
              <a:rPr lang="en-US" sz="1069" dirty="0">
                <a:solidFill>
                  <a:srgbClr val="4A5568"/>
                </a:solidFill>
                <a:latin typeface="IBM Plex Sans" pitchFamily="34" charset="0"/>
                <a:ea typeface="IBM Plex Sans" pitchFamily="34" charset="-122"/>
                <a:cs typeface="IBM Plex Sans" pitchFamily="34" charset="-120"/>
              </a:rPr>
              <a:t>Every process that reads “the task” reads “one of the tasks” · R05</a:t>
            </a:r>
            <a:endParaRPr lang="en-US" sz="1069" dirty="0"/>
          </a:p>
        </p:txBody>
      </p:sp>
      <p:sp>
        <p:nvSpPr>
          <p:cNvPr id="20" name="Text 18"/>
          <p:cNvSpPr/>
          <p:nvPr/>
        </p:nvSpPr>
        <p:spPr>
          <a:xfrm>
            <a:off x="6356350" y="4332486"/>
            <a:ext cx="2223770" cy="211237"/>
          </a:xfrm>
          <a:prstGeom prst="rect">
            <a:avLst/>
          </a:prstGeom>
          <a:noFill/>
          <a:ln/>
        </p:spPr>
        <p:txBody>
          <a:bodyPr wrap="square" lIns="0" tIns="0" rIns="0" bIns="0" rtlCol="0" anchor="t">
            <a:normAutofit/>
          </a:bodyPr>
          <a:lstStyle/>
          <a:p>
            <a:pPr algn="l" indent="0" marL="0">
              <a:lnSpc>
                <a:spcPts val="1496"/>
              </a:lnSpc>
              <a:buNone/>
            </a:pPr>
            <a:r>
              <a:rPr lang="en-US" sz="1069" b="1" dirty="0">
                <a:solidFill>
                  <a:srgbClr val="1B2A41"/>
                </a:solidFill>
                <a:latin typeface="IBM Plex Sans" pitchFamily="34" charset="0"/>
                <a:ea typeface="IBM Plex Sans" pitchFamily="34" charset="-122"/>
                <a:cs typeface="IBM Plex Sans" pitchFamily="34" charset="-120"/>
              </a:rPr>
              <a:t>Added</a:t>
            </a:r>
            <a:endParaRPr lang="en-US" sz="1069" dirty="0"/>
          </a:p>
        </p:txBody>
      </p:sp>
      <p:sp>
        <p:nvSpPr>
          <p:cNvPr id="21" name="Text 19"/>
          <p:cNvSpPr/>
          <p:nvPr/>
        </p:nvSpPr>
        <p:spPr>
          <a:xfrm>
            <a:off x="6468856" y="4619923"/>
            <a:ext cx="2103644" cy="599777"/>
          </a:xfrm>
          <a:prstGeom prst="rect">
            <a:avLst/>
          </a:prstGeom>
          <a:noFill/>
          <a:ln/>
        </p:spPr>
        <p:txBody>
          <a:bodyPr wrap="square" lIns="0" tIns="0" rIns="0" bIns="0" rtlCol="0" anchor="t">
            <a:normAutofit/>
          </a:bodyPr>
          <a:lstStyle/>
          <a:p>
            <a:pPr algn="l" marL="141494" indent="-141494">
              <a:lnSpc>
                <a:spcPts val="1550"/>
              </a:lnSpc>
              <a:buSzPct val="100000"/>
              <a:buChar char="•"/>
            </a:pPr>
            <a:r>
              <a:rPr lang="en-US" sz="1069" dirty="0">
                <a:solidFill>
                  <a:srgbClr val="4A5568"/>
                </a:solidFill>
                <a:latin typeface="IBM Plex Sans" pitchFamily="34" charset="0"/>
                <a:ea typeface="IBM Plex Sans" pitchFamily="34" charset="-122"/>
                <a:cs typeface="IBM Plex Sans" pitchFamily="34" charset="-120"/>
              </a:rPr>
              <a:t>Reference‑data store with analyst access · R01</a:t>
            </a:r>
            <a:endParaRPr lang="en-US" sz="1069" dirty="0"/>
          </a:p>
          <a:p>
            <a:pPr algn="l" marL="141494" indent="-141494">
              <a:lnSpc>
                <a:spcPts val="1550"/>
              </a:lnSpc>
              <a:buSzPct val="100000"/>
              <a:buChar char="•"/>
            </a:pPr>
            <a:r>
              <a:rPr lang="en-US" sz="1069" dirty="0">
                <a:solidFill>
                  <a:srgbClr val="4A5568"/>
                </a:solidFill>
                <a:latin typeface="IBM Plex Sans" pitchFamily="34" charset="0"/>
                <a:ea typeface="IBM Plex Sans" pitchFamily="34" charset="-122"/>
                <a:cs typeface="IBM Plex Sans" pitchFamily="34" charset="-120"/>
              </a:rPr>
              <a:t>Edit history · R03</a:t>
            </a:r>
            <a:endParaRPr lang="en-US" sz="1069" dirty="0"/>
          </a:p>
        </p:txBody>
      </p:sp>
      <p:sp>
        <p:nvSpPr>
          <p:cNvPr id="22" name="Shape 20"/>
          <p:cNvSpPr/>
          <p:nvPr/>
        </p:nvSpPr>
        <p:spPr>
          <a:xfrm>
            <a:off x="8855075" y="2517775"/>
            <a:ext cx="2520950" cy="2857500"/>
          </a:xfrm>
          <a:prstGeom prst="roundRect">
            <a:avLst>
              <a:gd name="adj" fmla="val 2897"/>
            </a:avLst>
          </a:prstGeom>
          <a:solidFill>
            <a:srgbClr val="FFFFFF"/>
          </a:solidFill>
          <a:ln w="6350">
            <a:solidFill>
              <a:srgbClr val="DCD9D0"/>
            </a:solidFill>
            <a:prstDash val="solid"/>
          </a:ln>
        </p:spPr>
      </p:sp>
      <p:sp>
        <p:nvSpPr>
          <p:cNvPr id="23" name="Text 21"/>
          <p:cNvSpPr/>
          <p:nvPr/>
        </p:nvSpPr>
        <p:spPr>
          <a:xfrm>
            <a:off x="9036050" y="2698750"/>
            <a:ext cx="2336800" cy="334268"/>
          </a:xfrm>
          <a:prstGeom prst="rect">
            <a:avLst/>
          </a:prstGeom>
          <a:noFill/>
          <a:ln/>
        </p:spPr>
        <p:txBody>
          <a:bodyPr wrap="square" lIns="0" tIns="0" rIns="0" bIns="0" rtlCol="0" anchor="t">
            <a:normAutofit/>
          </a:bodyPr>
          <a:lstStyle/>
          <a:p>
            <a:pPr algn="l" indent="0" marL="0">
              <a:lnSpc>
                <a:spcPts val="1554"/>
              </a:lnSpc>
              <a:buNone/>
            </a:pPr>
            <a:r>
              <a:rPr lang="en-US" sz="1295" b="1" dirty="0">
                <a:solidFill>
                  <a:srgbClr val="C8702A"/>
                </a:solidFill>
                <a:latin typeface="IBM Plex Sans" pitchFamily="34" charset="0"/>
                <a:ea typeface="IBM Plex Sans" pitchFamily="34" charset="-122"/>
                <a:cs typeface="IBM Plex Sans" pitchFamily="34" charset="-120"/>
              </a:rPr>
              <a:t>Configuration and validation</a:t>
            </a:r>
            <a:endParaRPr lang="en-US" sz="1295" dirty="0"/>
          </a:p>
        </p:txBody>
      </p:sp>
      <p:sp>
        <p:nvSpPr>
          <p:cNvPr id="24" name="Text 22"/>
          <p:cNvSpPr/>
          <p:nvPr/>
        </p:nvSpPr>
        <p:spPr>
          <a:xfrm>
            <a:off x="9036050" y="3109218"/>
            <a:ext cx="2223770" cy="179784"/>
          </a:xfrm>
          <a:prstGeom prst="rect">
            <a:avLst/>
          </a:prstGeom>
          <a:noFill/>
          <a:ln/>
        </p:spPr>
        <p:txBody>
          <a:bodyPr wrap="square" lIns="0" tIns="0" rIns="0" bIns="0" rtlCol="0" anchor="t">
            <a:normAutofit/>
          </a:bodyPr>
          <a:lstStyle/>
          <a:p>
            <a:pPr algn="l" indent="0" marL="0">
              <a:lnSpc>
                <a:spcPts val="1250"/>
              </a:lnSpc>
              <a:buNone/>
            </a:pPr>
            <a:r>
              <a:rPr lang="en-US" sz="893" b="1" dirty="0">
                <a:solidFill>
                  <a:srgbClr val="1B2A41"/>
                </a:solidFill>
                <a:latin typeface="IBM Plex Sans" pitchFamily="34" charset="0"/>
                <a:ea typeface="IBM Plex Sans" pitchFamily="34" charset="-122"/>
                <a:cs typeface="IBM Plex Sans" pitchFamily="34" charset="-120"/>
              </a:rPr>
              <a:t>Added</a:t>
            </a:r>
            <a:endParaRPr lang="en-US" sz="893" dirty="0"/>
          </a:p>
        </p:txBody>
      </p:sp>
      <p:sp>
        <p:nvSpPr>
          <p:cNvPr id="25" name="Text 23"/>
          <p:cNvSpPr/>
          <p:nvPr/>
        </p:nvSpPr>
        <p:spPr>
          <a:xfrm>
            <a:off x="9162571" y="3365202"/>
            <a:ext cx="2089629" cy="661888"/>
          </a:xfrm>
          <a:prstGeom prst="rect">
            <a:avLst/>
          </a:prstGeom>
          <a:noFill/>
          <a:ln/>
        </p:spPr>
        <p:txBody>
          <a:bodyPr wrap="square" lIns="0" tIns="0" rIns="0" bIns="0" rtlCol="0" anchor="t">
            <a:normAutofit/>
          </a:bodyPr>
          <a:lstStyle/>
          <a:p>
            <a:pPr algn="l" marL="127479" indent="-127479">
              <a:lnSpc>
                <a:spcPts val="1300"/>
              </a:lnSpc>
              <a:buSzPct val="100000"/>
              <a:buChar char="•"/>
            </a:pPr>
            <a:r>
              <a:rPr lang="en-US" sz="896" dirty="0">
                <a:solidFill>
                  <a:srgbClr val="4A5568"/>
                </a:solidFill>
                <a:latin typeface="IBM Plex Sans" pitchFamily="34" charset="0"/>
                <a:ea typeface="IBM Plex Sans" pitchFamily="34" charset="-122"/>
                <a:cs typeface="IBM Plex Sans" pitchFamily="34" charset="-120"/>
              </a:rPr>
              <a:t>Seed‑vs‑configuration check at load · R10</a:t>
            </a:r>
            <a:endParaRPr lang="en-US" sz="896" dirty="0"/>
          </a:p>
          <a:p>
            <a:pPr algn="l" marL="127479" indent="-127479">
              <a:lnSpc>
                <a:spcPts val="1300"/>
              </a:lnSpc>
              <a:buSzPct val="100000"/>
              <a:buChar char="•"/>
            </a:pPr>
            <a:r>
              <a:rPr lang="en-US" sz="896" dirty="0">
                <a:solidFill>
                  <a:srgbClr val="4A5568"/>
                </a:solidFill>
                <a:latin typeface="IBM Plex Sans" pitchFamily="34" charset="0"/>
                <a:ea typeface="IBM Plex Sans" pitchFamily="34" charset="-122"/>
                <a:cs typeface="IBM Plex Sans" pitchFamily="34" charset="-120"/>
              </a:rPr>
              <a:t>Rate rules as configuration · R02, pending</a:t>
            </a:r>
            <a:endParaRPr lang="en-US" sz="896" dirty="0"/>
          </a:p>
        </p:txBody>
      </p:sp>
      <p:sp>
        <p:nvSpPr>
          <p:cNvPr id="26" name="Text 24"/>
          <p:cNvSpPr/>
          <p:nvPr/>
        </p:nvSpPr>
        <p:spPr>
          <a:xfrm>
            <a:off x="9036050" y="4103291"/>
            <a:ext cx="2223770" cy="179784"/>
          </a:xfrm>
          <a:prstGeom prst="rect">
            <a:avLst/>
          </a:prstGeom>
          <a:noFill/>
          <a:ln/>
        </p:spPr>
        <p:txBody>
          <a:bodyPr wrap="square" lIns="0" tIns="0" rIns="0" bIns="0" rtlCol="0" anchor="t">
            <a:normAutofit/>
          </a:bodyPr>
          <a:lstStyle/>
          <a:p>
            <a:pPr algn="l" indent="0" marL="0">
              <a:lnSpc>
                <a:spcPts val="1250"/>
              </a:lnSpc>
              <a:buNone/>
            </a:pPr>
            <a:r>
              <a:rPr lang="en-US" sz="893" b="1" dirty="0">
                <a:solidFill>
                  <a:srgbClr val="1B2A41"/>
                </a:solidFill>
                <a:latin typeface="IBM Plex Sans" pitchFamily="34" charset="0"/>
                <a:ea typeface="IBM Plex Sans" pitchFamily="34" charset="-122"/>
                <a:cs typeface="IBM Plex Sans" pitchFamily="34" charset="-120"/>
              </a:rPr>
              <a:t>Retired</a:t>
            </a:r>
            <a:endParaRPr lang="en-US" sz="893" dirty="0"/>
          </a:p>
        </p:txBody>
      </p:sp>
      <p:sp>
        <p:nvSpPr>
          <p:cNvPr id="27" name="Text 25"/>
          <p:cNvSpPr/>
          <p:nvPr/>
        </p:nvSpPr>
        <p:spPr>
          <a:xfrm>
            <a:off x="9162571" y="4359275"/>
            <a:ext cx="2089629" cy="343595"/>
          </a:xfrm>
          <a:prstGeom prst="rect">
            <a:avLst/>
          </a:prstGeom>
          <a:noFill/>
          <a:ln/>
        </p:spPr>
        <p:txBody>
          <a:bodyPr wrap="square" lIns="0" tIns="0" rIns="0" bIns="0" rtlCol="0" anchor="t">
            <a:normAutofit/>
          </a:bodyPr>
          <a:lstStyle/>
          <a:p>
            <a:pPr algn="l" marL="127479" indent="-127479">
              <a:lnSpc>
                <a:spcPts val="1300"/>
              </a:lnSpc>
              <a:buSzPct val="100000"/>
              <a:buChar char="•"/>
            </a:pPr>
            <a:r>
              <a:rPr lang="en-US" sz="896" dirty="0">
                <a:solidFill>
                  <a:srgbClr val="4A5568"/>
                </a:solidFill>
                <a:latin typeface="IBM Plex Sans" pitchFamily="34" charset="0"/>
                <a:ea typeface="IBM Plex Sans" pitchFamily="34" charset="-122"/>
                <a:cs typeface="IBM Plex Sans" pitchFamily="34" charset="-120"/>
              </a:rPr>
              <a:t>Workbook steps replaced by pages · R06, per D3</a:t>
            </a:r>
            <a:endParaRPr lang="en-US" sz="896" dirty="0"/>
          </a:p>
        </p:txBody>
      </p:sp>
      <p:sp>
        <p:nvSpPr>
          <p:cNvPr id="28" name="Text 26"/>
          <p:cNvSpPr/>
          <p:nvPr/>
        </p:nvSpPr>
        <p:spPr>
          <a:xfrm>
            <a:off x="9036050" y="4779070"/>
            <a:ext cx="2223770" cy="179784"/>
          </a:xfrm>
          <a:prstGeom prst="rect">
            <a:avLst/>
          </a:prstGeom>
          <a:noFill/>
          <a:ln/>
        </p:spPr>
        <p:txBody>
          <a:bodyPr wrap="square" lIns="0" tIns="0" rIns="0" bIns="0" rtlCol="0" anchor="t">
            <a:normAutofit/>
          </a:bodyPr>
          <a:lstStyle/>
          <a:p>
            <a:pPr algn="l" indent="0" marL="0">
              <a:lnSpc>
                <a:spcPts val="1250"/>
              </a:lnSpc>
              <a:buNone/>
            </a:pPr>
            <a:r>
              <a:rPr lang="en-US" sz="893" b="1" dirty="0">
                <a:solidFill>
                  <a:srgbClr val="1B2A41"/>
                </a:solidFill>
                <a:latin typeface="IBM Plex Sans" pitchFamily="34" charset="0"/>
                <a:ea typeface="IBM Plex Sans" pitchFamily="34" charset="-122"/>
                <a:cs typeface="IBM Plex Sans" pitchFamily="34" charset="-120"/>
              </a:rPr>
              <a:t>Unchanged</a:t>
            </a:r>
            <a:endParaRPr lang="en-US" sz="893" dirty="0"/>
          </a:p>
        </p:txBody>
      </p:sp>
      <p:sp>
        <p:nvSpPr>
          <p:cNvPr id="29" name="Text 27"/>
          <p:cNvSpPr/>
          <p:nvPr/>
        </p:nvSpPr>
        <p:spPr>
          <a:xfrm>
            <a:off x="9162571" y="5035054"/>
            <a:ext cx="2089629" cy="184547"/>
          </a:xfrm>
          <a:prstGeom prst="rect">
            <a:avLst/>
          </a:prstGeom>
          <a:noFill/>
          <a:ln/>
        </p:spPr>
        <p:txBody>
          <a:bodyPr wrap="square" lIns="0" tIns="0" rIns="0" bIns="0" rtlCol="0" anchor="t">
            <a:normAutofit/>
          </a:bodyPr>
          <a:lstStyle/>
          <a:p>
            <a:pPr algn="l" marL="127479" indent="-127479">
              <a:lnSpc>
                <a:spcPts val="1300"/>
              </a:lnSpc>
              <a:buSzPct val="100000"/>
              <a:buChar char="•"/>
            </a:pPr>
            <a:r>
              <a:rPr lang="en-US" sz="896" dirty="0">
                <a:solidFill>
                  <a:srgbClr val="4A5568"/>
                </a:solidFill>
                <a:latin typeface="IBM Plex Sans" pitchFamily="34" charset="0"/>
                <a:ea typeface="IBM Plex Sans" pitchFamily="34" charset="-122"/>
                <a:cs typeface="IBM Plex Sans" pitchFamily="34" charset="-120"/>
              </a:rPr>
              <a:t>Validation rules themselves</a:t>
            </a:r>
            <a:endParaRPr lang="en-US" sz="896" dirty="0"/>
          </a:p>
        </p:txBody>
      </p:sp>
      <p:sp>
        <p:nvSpPr>
          <p:cNvPr id="30" name="Text 28"/>
          <p:cNvSpPr/>
          <p:nvPr/>
        </p:nvSpPr>
        <p:spPr>
          <a:xfrm>
            <a:off x="812800" y="563245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Design is shown at the level of which parts change. How each part works is settled at the next gate and is not part of today’s approval.</a:t>
            </a:r>
            <a:endParaRPr lang="en-US" sz="1200" dirty="0"/>
          </a:p>
        </p:txBody>
      </p:sp>
      <p:sp>
        <p:nvSpPr>
          <p:cNvPr id="31" name="Text 29"/>
          <p:cNvSpPr/>
          <p:nvPr/>
        </p:nvSpPr>
        <p:spPr>
          <a:xfrm>
            <a:off x="11287720" y="6242050"/>
            <a:ext cx="14228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spc="100" kern="0" dirty="0">
                <a:solidFill>
                  <a:srgbClr val="C8702A"/>
                </a:solidFill>
                <a:latin typeface="IBM Plex Sans" pitchFamily="34" charset="0"/>
                <a:ea typeface="IBM Plex Sans" pitchFamily="34" charset="-122"/>
                <a:cs typeface="IBM Plex Sans" pitchFamily="34" charset="-120"/>
              </a:rPr>
              <a:t>SUBJECT TO DEFINITION</a:t>
            </a:r>
            <a:endParaRPr lang="en-US" sz="1500" dirty="0"/>
          </a:p>
        </p:txBody>
      </p:sp>
      <p:sp>
        <p:nvSpPr>
          <p:cNvPr id="3" name="Text 1"/>
          <p:cNvSpPr/>
          <p:nvPr>
            <p:ph type="title"/>
          </p:nvPr>
        </p:nvSpPr>
        <p:spPr>
          <a:xfrm>
            <a:off x="812800" y="1333500"/>
            <a:ext cx="10883392" cy="952500"/>
          </a:xfrm>
          <a:prstGeom prst="rect">
            <a:avLst/>
          </a:prstGeom>
          <a:noFill/>
          <a:ln/>
        </p:spPr>
        <p:txBody>
          <a:bodyPr wrap="square" lIns="0" tIns="0" rIns="0" bIns="0" rtlCol="0" anchor="t">
            <a:normAutofit/>
          </a:bodyPr>
          <a:lstStyle/>
          <a:p>
            <a:pPr algn="l" indent="0" marL="0">
              <a:lnSpc>
                <a:spcPts val="3680"/>
              </a:lnSpc>
              <a:buNone/>
            </a:pPr>
            <a:r>
              <a:rPr lang="en-US" sz="3200" b="0" i="0" dirty="0">
                <a:solidFill>
                  <a:srgbClr val="1B2A41"/>
                </a:solidFill>
                <a:latin typeface="Source Serif 4" pitchFamily="18" charset="0"/>
                <a:ea typeface="Source Serif 4" pitchFamily="18" charset="-122"/>
                <a:cs typeface="Source Serif 4" pitchFamily="18" charset="-120"/>
              </a:rPr>
              <a:t>Two elements are approved as scope today; their definitions come back at the next gate.</a:t>
            </a:r>
            <a:endParaRPr lang="en-US" sz="3200" dirty="0"/>
          </a:p>
        </p:txBody>
      </p:sp>
      <p:sp>
        <p:nvSpPr>
          <p:cNvPr id="4" name="Shape 2"/>
          <p:cNvSpPr/>
          <p:nvPr/>
        </p:nvSpPr>
        <p:spPr>
          <a:xfrm>
            <a:off x="815975" y="2517775"/>
            <a:ext cx="5175250" cy="2305050"/>
          </a:xfrm>
          <a:prstGeom prst="roundRect">
            <a:avLst>
              <a:gd name="adj" fmla="val 3168"/>
            </a:avLst>
          </a:prstGeom>
          <a:solidFill>
            <a:srgbClr val="FFFFFF"/>
          </a:solidFill>
          <a:ln w="6350">
            <a:solidFill>
              <a:srgbClr val="DCD9D0"/>
            </a:solidFill>
            <a:prstDash val="solid"/>
          </a:ln>
        </p:spPr>
      </p:sp>
      <p:sp>
        <p:nvSpPr>
          <p:cNvPr id="5" name="Text 3"/>
          <p:cNvSpPr/>
          <p:nvPr/>
        </p:nvSpPr>
        <p:spPr>
          <a:xfrm>
            <a:off x="1022350" y="2724150"/>
            <a:ext cx="4905375" cy="157758"/>
          </a:xfrm>
          <a:prstGeom prst="rect">
            <a:avLst/>
          </a:prstGeom>
          <a:noFill/>
          <a:ln/>
        </p:spPr>
        <p:txBody>
          <a:bodyPr wrap="square" lIns="0" tIns="0" rIns="0" bIns="0" rtlCol="0" anchor="t">
            <a:normAutofit/>
          </a:bodyPr>
          <a:lstStyle/>
          <a:p>
            <a:pPr algn="l" indent="0" marL="0">
              <a:lnSpc>
                <a:spcPts val="1097"/>
              </a:lnSpc>
              <a:buNone/>
            </a:pPr>
            <a:r>
              <a:rPr lang="en-US" sz="914" b="1" dirty="0">
                <a:solidFill>
                  <a:srgbClr val="1B2A41"/>
                </a:solidFill>
                <a:latin typeface="IBM Plex Sans" pitchFamily="34" charset="0"/>
                <a:ea typeface="IBM Plex Sans" pitchFamily="34" charset="-122"/>
                <a:cs typeface="IBM Plex Sans" pitchFamily="34" charset="-120"/>
              </a:rPr>
              <a:t>R11 SOW support</a:t>
            </a:r>
            <a:endParaRPr lang="en-US" sz="914" dirty="0"/>
          </a:p>
        </p:txBody>
      </p:sp>
      <p:sp>
        <p:nvSpPr>
          <p:cNvPr id="6" name="Text 4"/>
          <p:cNvSpPr/>
          <p:nvPr/>
        </p:nvSpPr>
        <p:spPr>
          <a:xfrm>
            <a:off x="1022350" y="2983508"/>
            <a:ext cx="4905375" cy="422473"/>
          </a:xfrm>
          <a:prstGeom prst="rect">
            <a:avLst/>
          </a:prstGeom>
          <a:noFill/>
          <a:ln/>
        </p:spPr>
        <p:txBody>
          <a:bodyPr wrap="square" lIns="0" tIns="0" rIns="0" bIns="0" rtlCol="0" anchor="t">
            <a:normAutofit/>
          </a:bodyPr>
          <a:lstStyle/>
          <a:p>
            <a:pPr algn="l" indent="0" marL="0">
              <a:lnSpc>
                <a:spcPts val="1382"/>
              </a:lnSpc>
              <a:buNone/>
            </a:pPr>
            <a:r>
              <a:rPr lang="en-US" sz="987" dirty="0">
                <a:solidFill>
                  <a:srgbClr val="4A5568"/>
                </a:solidFill>
                <a:latin typeface="IBM Plex Sans" pitchFamily="34" charset="0"/>
                <a:ea typeface="IBM Plex Sans" pitchFamily="34" charset="-122"/>
                <a:cs typeface="IBM Plex Sans" pitchFamily="34" charset="-120"/>
              </a:rPr>
              <a:t>SOW implementations send several documents over time, tied to milestones, instead of one roster upload. That needs phased templates and the task model on slide 6.</a:t>
            </a:r>
            <a:endParaRPr lang="en-US" sz="987" dirty="0"/>
          </a:p>
        </p:txBody>
      </p:sp>
      <p:sp>
        <p:nvSpPr>
          <p:cNvPr id="7" name="Text 5"/>
          <p:cNvSpPr/>
          <p:nvPr/>
        </p:nvSpPr>
        <p:spPr>
          <a:xfrm>
            <a:off x="1022350" y="3507581"/>
            <a:ext cx="4905375" cy="146745"/>
          </a:xfrm>
          <a:prstGeom prst="rect">
            <a:avLst/>
          </a:prstGeom>
          <a:noFill/>
          <a:ln/>
        </p:spPr>
        <p:txBody>
          <a:bodyPr wrap="square" lIns="0" tIns="0" rIns="0" bIns="0" rtlCol="0" anchor="t">
            <a:normAutofit/>
          </a:bodyPr>
          <a:lstStyle/>
          <a:p>
            <a:pPr algn="l" indent="0" marL="0">
              <a:lnSpc>
                <a:spcPts val="1008"/>
              </a:lnSpc>
              <a:buNone/>
            </a:pPr>
            <a:r>
              <a:rPr lang="en-US" sz="720" b="1" dirty="0">
                <a:solidFill>
                  <a:srgbClr val="1B2A41"/>
                </a:solidFill>
                <a:latin typeface="IBM Plex Sans" pitchFamily="34" charset="0"/>
                <a:ea typeface="IBM Plex Sans" pitchFamily="34" charset="-122"/>
                <a:cs typeface="IBM Plex Sans" pitchFamily="34" charset="-120"/>
              </a:rPr>
              <a:t>Approved today</a:t>
            </a:r>
            <a:endParaRPr lang="en-US" sz="720" dirty="0"/>
          </a:p>
        </p:txBody>
      </p:sp>
      <p:sp>
        <p:nvSpPr>
          <p:cNvPr id="8" name="Text 6"/>
          <p:cNvSpPr/>
          <p:nvPr/>
        </p:nvSpPr>
        <p:spPr>
          <a:xfrm>
            <a:off x="1022350" y="3755926"/>
            <a:ext cx="4965700" cy="267990"/>
          </a:xfrm>
          <a:prstGeom prst="rect">
            <a:avLst/>
          </a:prstGeom>
          <a:noFill/>
          <a:ln/>
        </p:spPr>
        <p:txBody>
          <a:bodyPr wrap="square" lIns="0" tIns="0" rIns="0" bIns="0" rtlCol="0" anchor="t">
            <a:normAutofit/>
          </a:bodyPr>
          <a:lstStyle/>
          <a:p>
            <a:pPr algn="l" indent="0" marL="0">
              <a:lnSpc>
                <a:spcPts val="1397"/>
              </a:lnSpc>
              <a:buNone/>
            </a:pPr>
            <a:r>
              <a:rPr lang="en-US" sz="998" dirty="0">
                <a:solidFill>
                  <a:srgbClr val="4A5568"/>
                </a:solidFill>
                <a:latin typeface="IBM Plex Sans" pitchFamily="34" charset="0"/>
                <a:ea typeface="IBM Plex Sans" pitchFamily="34" charset="-122"/>
                <a:cs typeface="IBM Plex Sans" pitchFamily="34" charset="-120"/>
              </a:rPr>
              <a:t>The element, and its success test: one SOW implementation runs end to end in SDC.</a:t>
            </a:r>
            <a:endParaRPr lang="en-US" sz="998" dirty="0"/>
          </a:p>
        </p:txBody>
      </p:sp>
      <p:sp>
        <p:nvSpPr>
          <p:cNvPr id="9" name="Text 7"/>
          <p:cNvSpPr/>
          <p:nvPr/>
        </p:nvSpPr>
        <p:spPr>
          <a:xfrm>
            <a:off x="1022350" y="4125516"/>
            <a:ext cx="4905375" cy="146745"/>
          </a:xfrm>
          <a:prstGeom prst="rect">
            <a:avLst/>
          </a:prstGeom>
          <a:noFill/>
          <a:ln/>
        </p:spPr>
        <p:txBody>
          <a:bodyPr wrap="square" lIns="0" tIns="0" rIns="0" bIns="0" rtlCol="0" anchor="t">
            <a:normAutofit/>
          </a:bodyPr>
          <a:lstStyle/>
          <a:p>
            <a:pPr algn="l" indent="0" marL="0">
              <a:lnSpc>
                <a:spcPts val="1008"/>
              </a:lnSpc>
              <a:buNone/>
            </a:pPr>
            <a:r>
              <a:rPr lang="en-US" sz="720" b="1" dirty="0">
                <a:solidFill>
                  <a:srgbClr val="1B2A41"/>
                </a:solidFill>
                <a:latin typeface="IBM Plex Sans" pitchFamily="34" charset="0"/>
                <a:ea typeface="IBM Plex Sans" pitchFamily="34" charset="-122"/>
                <a:cs typeface="IBM Plex Sans" pitchFamily="34" charset="-120"/>
              </a:rPr>
              <a:t>Returns at the next gate</a:t>
            </a:r>
            <a:endParaRPr lang="en-US" sz="720" dirty="0"/>
          </a:p>
        </p:txBody>
      </p:sp>
      <p:sp>
        <p:nvSpPr>
          <p:cNvPr id="10" name="Text 8"/>
          <p:cNvSpPr/>
          <p:nvPr/>
        </p:nvSpPr>
        <p:spPr>
          <a:xfrm>
            <a:off x="1022350" y="4373860"/>
            <a:ext cx="4965700" cy="267990"/>
          </a:xfrm>
          <a:prstGeom prst="rect">
            <a:avLst/>
          </a:prstGeom>
          <a:noFill/>
          <a:ln/>
        </p:spPr>
        <p:txBody>
          <a:bodyPr wrap="square" lIns="0" tIns="0" rIns="0" bIns="0" rtlCol="0" anchor="t">
            <a:normAutofit/>
          </a:bodyPr>
          <a:lstStyle/>
          <a:p>
            <a:pPr algn="l" indent="0" marL="0">
              <a:lnSpc>
                <a:spcPts val="1213"/>
              </a:lnSpc>
              <a:buNone/>
            </a:pPr>
            <a:r>
              <a:rPr lang="en-US" sz="866" dirty="0">
                <a:solidFill>
                  <a:srgbClr val="4A5568"/>
                </a:solidFill>
                <a:latin typeface="IBM Plex Sans" pitchFamily="34" charset="0"/>
                <a:ea typeface="IBM Plex Sans" pitchFamily="34" charset="-122"/>
                <a:cs typeface="IBM Plex Sans" pitchFamily="34" charset="-120"/>
              </a:rPr>
              <a:t>The SOW document set, which templates are phased, and the in/out list. SME time needed: SCM.</a:t>
            </a:r>
            <a:endParaRPr lang="en-US" sz="866" dirty="0"/>
          </a:p>
        </p:txBody>
      </p:sp>
      <p:sp>
        <p:nvSpPr>
          <p:cNvPr id="11" name="Shape 9"/>
          <p:cNvSpPr/>
          <p:nvPr/>
        </p:nvSpPr>
        <p:spPr>
          <a:xfrm>
            <a:off x="6200775" y="2517775"/>
            <a:ext cx="5175250" cy="2305050"/>
          </a:xfrm>
          <a:prstGeom prst="roundRect">
            <a:avLst>
              <a:gd name="adj" fmla="val 3168"/>
            </a:avLst>
          </a:prstGeom>
          <a:solidFill>
            <a:srgbClr val="FFFFFF"/>
          </a:solidFill>
          <a:ln w="6350">
            <a:solidFill>
              <a:srgbClr val="DCD9D0"/>
            </a:solidFill>
            <a:prstDash val="solid"/>
          </a:ln>
        </p:spPr>
      </p:sp>
      <p:sp>
        <p:nvSpPr>
          <p:cNvPr id="12" name="Text 10"/>
          <p:cNvSpPr/>
          <p:nvPr/>
        </p:nvSpPr>
        <p:spPr>
          <a:xfrm>
            <a:off x="6407150" y="2724150"/>
            <a:ext cx="4905375" cy="157758"/>
          </a:xfrm>
          <a:prstGeom prst="rect">
            <a:avLst/>
          </a:prstGeom>
          <a:noFill/>
          <a:ln/>
        </p:spPr>
        <p:txBody>
          <a:bodyPr wrap="square" lIns="0" tIns="0" rIns="0" bIns="0" rtlCol="0" anchor="t">
            <a:normAutofit/>
          </a:bodyPr>
          <a:lstStyle/>
          <a:p>
            <a:pPr algn="l" indent="0" marL="0">
              <a:lnSpc>
                <a:spcPts val="1097"/>
              </a:lnSpc>
              <a:buNone/>
            </a:pPr>
            <a:r>
              <a:rPr lang="en-US" sz="914" b="1" dirty="0">
                <a:solidFill>
                  <a:srgbClr val="1B2A41"/>
                </a:solidFill>
                <a:latin typeface="IBM Plex Sans" pitchFamily="34" charset="0"/>
                <a:ea typeface="IBM Plex Sans" pitchFamily="34" charset="-122"/>
                <a:cs typeface="IBM Plex Sans" pitchFamily="34" charset="-120"/>
              </a:rPr>
              <a:t>R02 Rate rules</a:t>
            </a:r>
            <a:endParaRPr lang="en-US" sz="914" dirty="0"/>
          </a:p>
        </p:txBody>
      </p:sp>
      <p:sp>
        <p:nvSpPr>
          <p:cNvPr id="13" name="Text 11"/>
          <p:cNvSpPr/>
          <p:nvPr/>
        </p:nvSpPr>
        <p:spPr>
          <a:xfrm>
            <a:off x="6407150" y="2983508"/>
            <a:ext cx="4905375" cy="422473"/>
          </a:xfrm>
          <a:prstGeom prst="rect">
            <a:avLst/>
          </a:prstGeom>
          <a:noFill/>
          <a:ln/>
        </p:spPr>
        <p:txBody>
          <a:bodyPr wrap="square" lIns="0" tIns="0" rIns="0" bIns="0" rtlCol="0" anchor="t">
            <a:normAutofit/>
          </a:bodyPr>
          <a:lstStyle/>
          <a:p>
            <a:pPr algn="l" indent="0" marL="0">
              <a:lnSpc>
                <a:spcPts val="1598"/>
              </a:lnSpc>
              <a:buNone/>
            </a:pPr>
            <a:r>
              <a:rPr lang="en-US" sz="1142" dirty="0">
                <a:solidFill>
                  <a:srgbClr val="4A5568"/>
                </a:solidFill>
                <a:latin typeface="IBM Plex Sans" pitchFamily="34" charset="0"/>
                <a:ea typeface="IBM Plex Sans" pitchFamily="34" charset="-122"/>
                <a:cs typeface="IBM Plex Sans" pitchFamily="34" charset="-120"/>
              </a:rPr>
              <a:t>The calculator is only as good as the rules behind it, and those live with the people who support the process today. Definition writes them down.</a:t>
            </a:r>
            <a:endParaRPr lang="en-US" sz="1142" dirty="0"/>
          </a:p>
        </p:txBody>
      </p:sp>
      <p:sp>
        <p:nvSpPr>
          <p:cNvPr id="14" name="Text 12"/>
          <p:cNvSpPr/>
          <p:nvPr/>
        </p:nvSpPr>
        <p:spPr>
          <a:xfrm>
            <a:off x="6407150" y="3507581"/>
            <a:ext cx="4905375" cy="146745"/>
          </a:xfrm>
          <a:prstGeom prst="rect">
            <a:avLst/>
          </a:prstGeom>
          <a:noFill/>
          <a:ln/>
        </p:spPr>
        <p:txBody>
          <a:bodyPr wrap="square" lIns="0" tIns="0" rIns="0" bIns="0" rtlCol="0" anchor="t">
            <a:normAutofit/>
          </a:bodyPr>
          <a:lstStyle/>
          <a:p>
            <a:pPr algn="l" indent="0" marL="0">
              <a:lnSpc>
                <a:spcPts val="1008"/>
              </a:lnSpc>
              <a:buNone/>
            </a:pPr>
            <a:r>
              <a:rPr lang="en-US" sz="720" b="1" dirty="0">
                <a:solidFill>
                  <a:srgbClr val="1B2A41"/>
                </a:solidFill>
                <a:latin typeface="IBM Plex Sans" pitchFamily="34" charset="0"/>
                <a:ea typeface="IBM Plex Sans" pitchFamily="34" charset="-122"/>
                <a:cs typeface="IBM Plex Sans" pitchFamily="34" charset="-120"/>
              </a:rPr>
              <a:t>Approved today</a:t>
            </a:r>
            <a:endParaRPr lang="en-US" sz="720" dirty="0"/>
          </a:p>
        </p:txBody>
      </p:sp>
      <p:sp>
        <p:nvSpPr>
          <p:cNvPr id="15" name="Text 13"/>
          <p:cNvSpPr/>
          <p:nvPr/>
        </p:nvSpPr>
        <p:spPr>
          <a:xfrm>
            <a:off x="6407150" y="3755926"/>
            <a:ext cx="4965700" cy="267990"/>
          </a:xfrm>
          <a:prstGeom prst="rect">
            <a:avLst/>
          </a:prstGeom>
          <a:noFill/>
          <a:ln/>
        </p:spPr>
        <p:txBody>
          <a:bodyPr wrap="square" lIns="0" tIns="0" rIns="0" bIns="0" rtlCol="0" anchor="t">
            <a:normAutofit/>
          </a:bodyPr>
          <a:lstStyle/>
          <a:p>
            <a:pPr algn="l" indent="0" marL="0">
              <a:lnSpc>
                <a:spcPts val="1376"/>
              </a:lnSpc>
              <a:buNone/>
            </a:pPr>
            <a:r>
              <a:rPr lang="en-US" sz="983" dirty="0">
                <a:solidFill>
                  <a:srgbClr val="4A5568"/>
                </a:solidFill>
                <a:latin typeface="IBM Plex Sans" pitchFamily="34" charset="0"/>
                <a:ea typeface="IBM Plex Sans" pitchFamily="34" charset="-122"/>
                <a:cs typeface="IBM Plex Sans" pitchFamily="34" charset="-120"/>
              </a:rPr>
              <a:t>The calculator (slide 4), and that the rules will be captured as configuration, not code.</a:t>
            </a:r>
            <a:endParaRPr lang="en-US" sz="983" dirty="0"/>
          </a:p>
        </p:txBody>
      </p:sp>
      <p:sp>
        <p:nvSpPr>
          <p:cNvPr id="16" name="Text 14"/>
          <p:cNvSpPr/>
          <p:nvPr/>
        </p:nvSpPr>
        <p:spPr>
          <a:xfrm>
            <a:off x="6407150" y="4125516"/>
            <a:ext cx="4905375" cy="146745"/>
          </a:xfrm>
          <a:prstGeom prst="rect">
            <a:avLst/>
          </a:prstGeom>
          <a:noFill/>
          <a:ln/>
        </p:spPr>
        <p:txBody>
          <a:bodyPr wrap="square" lIns="0" tIns="0" rIns="0" bIns="0" rtlCol="0" anchor="t">
            <a:normAutofit/>
          </a:bodyPr>
          <a:lstStyle/>
          <a:p>
            <a:pPr algn="l" indent="0" marL="0">
              <a:lnSpc>
                <a:spcPts val="1008"/>
              </a:lnSpc>
              <a:buNone/>
            </a:pPr>
            <a:r>
              <a:rPr lang="en-US" sz="720" b="1" dirty="0">
                <a:solidFill>
                  <a:srgbClr val="1B2A41"/>
                </a:solidFill>
                <a:latin typeface="IBM Plex Sans" pitchFamily="34" charset="0"/>
                <a:ea typeface="IBM Plex Sans" pitchFamily="34" charset="-122"/>
                <a:cs typeface="IBM Plex Sans" pitchFamily="34" charset="-120"/>
              </a:rPr>
              <a:t>Returns at the next gate</a:t>
            </a:r>
            <a:endParaRPr lang="en-US" sz="720" dirty="0"/>
          </a:p>
        </p:txBody>
      </p:sp>
      <p:sp>
        <p:nvSpPr>
          <p:cNvPr id="17" name="Text 15"/>
          <p:cNvSpPr/>
          <p:nvPr/>
        </p:nvSpPr>
        <p:spPr>
          <a:xfrm>
            <a:off x="6407150" y="4373860"/>
            <a:ext cx="4905375" cy="267990"/>
          </a:xfrm>
          <a:prstGeom prst="rect">
            <a:avLst/>
          </a:prstGeom>
          <a:noFill/>
          <a:ln/>
        </p:spPr>
        <p:txBody>
          <a:bodyPr wrap="square" lIns="0" tIns="0" rIns="0" bIns="0" rtlCol="0" anchor="t">
            <a:normAutofit/>
          </a:bodyPr>
          <a:lstStyle/>
          <a:p>
            <a:pPr algn="l" indent="0" marL="0">
              <a:lnSpc>
                <a:spcPts val="1008"/>
              </a:lnSpc>
              <a:buNone/>
            </a:pPr>
            <a:r>
              <a:rPr lang="en-US" sz="720" dirty="0">
                <a:solidFill>
                  <a:srgbClr val="4A5568"/>
                </a:solidFill>
                <a:latin typeface="IBM Plex Sans" pitchFamily="34" charset="0"/>
                <a:ea typeface="IBM Plex Sans" pitchFamily="34" charset="-122"/>
                <a:cs typeface="IBM Plex Sans" pitchFamily="34" charset="-120"/>
              </a:rPr>
              <a:t>The rule set, whether it differs for MSP and SOW, and the override policy. SME time needed: the rate‑validation task owner.</a:t>
            </a:r>
            <a:endParaRPr lang="en-US" sz="720" dirty="0"/>
          </a:p>
        </p:txBody>
      </p:sp>
      <p:sp>
        <p:nvSpPr>
          <p:cNvPr id="18" name="Shape 16"/>
          <p:cNvSpPr/>
          <p:nvPr/>
        </p:nvSpPr>
        <p:spPr>
          <a:xfrm>
            <a:off x="812800" y="5080000"/>
            <a:ext cx="10566400" cy="762000"/>
          </a:xfrm>
          <a:prstGeom prst="roundRect">
            <a:avLst>
              <a:gd name="adj" fmla="val 10000"/>
            </a:avLst>
          </a:prstGeom>
          <a:solidFill>
            <a:srgbClr val="1B2A41"/>
          </a:solidFill>
          <a:ln/>
        </p:spPr>
      </p:sp>
      <p:sp>
        <p:nvSpPr>
          <p:cNvPr id="19" name="Text 17"/>
          <p:cNvSpPr/>
          <p:nvPr/>
        </p:nvSpPr>
        <p:spPr>
          <a:xfrm>
            <a:off x="1016000" y="5346700"/>
            <a:ext cx="1962150" cy="25400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E39A5B"/>
                </a:solidFill>
                <a:latin typeface="IBM Plex Sans" pitchFamily="34" charset="0"/>
                <a:ea typeface="IBM Plex Sans" pitchFamily="34" charset="-122"/>
                <a:cs typeface="IBM Plex Sans" pitchFamily="34" charset="-120"/>
              </a:rPr>
              <a:t>Not a change request</a:t>
            </a:r>
            <a:endParaRPr lang="en-US" sz="1300" dirty="0"/>
          </a:p>
        </p:txBody>
      </p:sp>
      <p:sp>
        <p:nvSpPr>
          <p:cNvPr id="20" name="Text 18"/>
          <p:cNvSpPr/>
          <p:nvPr/>
        </p:nvSpPr>
        <p:spPr>
          <a:xfrm>
            <a:off x="3073400" y="5232400"/>
            <a:ext cx="8345678" cy="4826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7F6F2"/>
                </a:solidFill>
                <a:latin typeface="IBM Plex Sans" pitchFamily="34" charset="0"/>
                <a:ea typeface="IBM Plex Sans" pitchFamily="34" charset="-122"/>
                <a:cs typeface="IBM Plex Sans" pitchFamily="34" charset="-120"/>
              </a:rPr>
              <a:t>Filling in these two definitions at the next gate is planned work. Altering an element approved today is a change, and goes through [change authority].</a:t>
            </a:r>
            <a:endParaRPr lang="en-US" sz="1300" dirty="0"/>
          </a:p>
        </p:txBody>
      </p:sp>
      <p:sp>
        <p:nvSpPr>
          <p:cNvPr id="21" name="Text 19"/>
          <p:cNvSpPr/>
          <p:nvPr/>
        </p:nvSpPr>
        <p:spPr>
          <a:xfrm>
            <a:off x="11287720" y="6242050"/>
            <a:ext cx="14228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63327"/>
          </a:xfrm>
          <a:prstGeom prst="rect">
            <a:avLst/>
          </a:prstGeom>
          <a:noFill/>
          <a:ln/>
        </p:spPr>
        <p:txBody>
          <a:bodyPr wrap="square" lIns="0" tIns="0" rIns="0" bIns="0" rtlCol="0" anchor="t">
            <a:normAutofit/>
          </a:bodyPr>
          <a:lstStyle/>
          <a:p>
            <a:pPr algn="l" indent="0" marL="0">
              <a:lnSpc>
                <a:spcPts val="1897"/>
              </a:lnSpc>
              <a:buNone/>
            </a:pPr>
            <a:r>
              <a:rPr lang="en-US" sz="1355" spc="100" kern="0" dirty="0">
                <a:solidFill>
                  <a:srgbClr val="C8702A"/>
                </a:solidFill>
                <a:latin typeface="IBM Plex Sans" pitchFamily="34" charset="0"/>
                <a:ea typeface="IBM Plex Sans" pitchFamily="34" charset="-122"/>
                <a:cs typeface="IBM Plex Sans" pitchFamily="34" charset="-120"/>
              </a:rPr>
              <a:t>DECISIONS</a:t>
            </a:r>
            <a:endParaRPr lang="en-US" sz="1355" dirty="0"/>
          </a:p>
        </p:txBody>
      </p:sp>
      <p:sp>
        <p:nvSpPr>
          <p:cNvPr id="3" name="Text 1"/>
          <p:cNvSpPr/>
          <p:nvPr>
            <p:ph type="title"/>
          </p:nvPr>
        </p:nvSpPr>
        <p:spPr>
          <a:xfrm>
            <a:off x="812800" y="1253927"/>
            <a:ext cx="10883392" cy="750491"/>
          </a:xfrm>
          <a:prstGeom prst="rect">
            <a:avLst/>
          </a:prstGeom>
          <a:noFill/>
          <a:ln/>
        </p:spPr>
        <p:txBody>
          <a:bodyPr wrap="square" lIns="0" tIns="0" rIns="0" bIns="0" rtlCol="0" anchor="t">
            <a:normAutofit/>
          </a:bodyPr>
          <a:lstStyle/>
          <a:p>
            <a:pPr algn="l" indent="0" marL="0">
              <a:lnSpc>
                <a:spcPts val="2898"/>
              </a:lnSpc>
              <a:buNone/>
            </a:pPr>
            <a:r>
              <a:rPr lang="en-US" sz="2520" b="0" i="0" dirty="0">
                <a:solidFill>
                  <a:srgbClr val="1B2A41"/>
                </a:solidFill>
                <a:latin typeface="Source Serif 4" pitchFamily="18" charset="0"/>
                <a:ea typeface="Source Serif 4" pitchFamily="18" charset="-122"/>
                <a:cs typeface="Source Serif 4" pitchFamily="18" charset="-120"/>
              </a:rPr>
              <a:t>Three questions settle the shape of three elements; the rest are approved as written, modified, or deferred.</a:t>
            </a:r>
            <a:endParaRPr lang="en-US" sz="2520" dirty="0"/>
          </a:p>
        </p:txBody>
      </p:sp>
      <p:sp>
        <p:nvSpPr>
          <p:cNvPr id="4" name="Shape 2"/>
          <p:cNvSpPr/>
          <p:nvPr/>
        </p:nvSpPr>
        <p:spPr>
          <a:xfrm>
            <a:off x="815975" y="2185392"/>
            <a:ext cx="3414117" cy="1421209"/>
          </a:xfrm>
          <a:prstGeom prst="roundRect">
            <a:avLst>
              <a:gd name="adj" fmla="val 5138"/>
            </a:avLst>
          </a:prstGeom>
          <a:solidFill>
            <a:srgbClr val="FFFFFF"/>
          </a:solidFill>
          <a:ln w="6350">
            <a:solidFill>
              <a:srgbClr val="DCD9D0"/>
            </a:solidFill>
            <a:prstDash val="solid"/>
          </a:ln>
        </p:spPr>
      </p:sp>
      <p:sp>
        <p:nvSpPr>
          <p:cNvPr id="5" name="Text 3"/>
          <p:cNvSpPr/>
          <p:nvPr/>
        </p:nvSpPr>
        <p:spPr>
          <a:xfrm>
            <a:off x="996950" y="2366367"/>
            <a:ext cx="3143732" cy="220563"/>
          </a:xfrm>
          <a:prstGeom prst="rect">
            <a:avLst/>
          </a:prstGeom>
          <a:noFill/>
          <a:ln/>
        </p:spPr>
        <p:txBody>
          <a:bodyPr wrap="square" lIns="0" tIns="0" rIns="0" bIns="0" rtlCol="0" anchor="t">
            <a:normAutofit/>
          </a:bodyPr>
          <a:lstStyle/>
          <a:p>
            <a:pPr algn="l" indent="0" marL="0">
              <a:lnSpc>
                <a:spcPts val="1598"/>
              </a:lnSpc>
              <a:buNone/>
            </a:pPr>
            <a:r>
              <a:rPr lang="en-US" sz="1142" b="1" dirty="0">
                <a:solidFill>
                  <a:srgbClr val="C8702A"/>
                </a:solidFill>
                <a:latin typeface="IBM Plex Sans" pitchFamily="34" charset="0"/>
                <a:ea typeface="IBM Plex Sans" pitchFamily="34" charset="-122"/>
                <a:cs typeface="IBM Plex Sans" pitchFamily="34" charset="-120"/>
              </a:rPr>
              <a:t>D1 · R01 Master data</a:t>
            </a:r>
            <a:endParaRPr lang="en-US" sz="1142" dirty="0"/>
          </a:p>
        </p:txBody>
      </p:sp>
      <p:sp>
        <p:nvSpPr>
          <p:cNvPr id="6" name="Text 4"/>
          <p:cNvSpPr/>
          <p:nvPr/>
        </p:nvSpPr>
        <p:spPr>
          <a:xfrm>
            <a:off x="996950" y="2625030"/>
            <a:ext cx="3143732" cy="404813"/>
          </a:xfrm>
          <a:prstGeom prst="rect">
            <a:avLst/>
          </a:prstGeom>
          <a:noFill/>
          <a:ln/>
        </p:spPr>
        <p:txBody>
          <a:bodyPr wrap="square" lIns="0" tIns="0" rIns="0" bIns="0" rtlCol="0" anchor="t">
            <a:normAutofit/>
          </a:bodyPr>
          <a:lstStyle/>
          <a:p>
            <a:pPr algn="l" indent="0" marL="0">
              <a:lnSpc>
                <a:spcPts val="1547"/>
              </a:lnSpc>
              <a:buNone/>
            </a:pPr>
            <a:r>
              <a:rPr lang="en-US" sz="1146" dirty="0">
                <a:solidFill>
                  <a:srgbClr val="1B2A41"/>
                </a:solidFill>
                <a:latin typeface="IBM Plex Sans" pitchFamily="34" charset="0"/>
                <a:ea typeface="IBM Plex Sans" pitchFamily="34" charset="-122"/>
                <a:cs typeface="IBM Plex Sans" pitchFamily="34" charset="-120"/>
              </a:rPr>
              <a:t>Is the file only stored, or does the system use it to populate configuration?</a:t>
            </a:r>
            <a:endParaRPr lang="en-US" sz="1146" dirty="0"/>
          </a:p>
        </p:txBody>
      </p:sp>
      <p:sp>
        <p:nvSpPr>
          <p:cNvPr id="7" name="Text 5"/>
          <p:cNvSpPr/>
          <p:nvPr/>
        </p:nvSpPr>
        <p:spPr>
          <a:xfrm>
            <a:off x="996950" y="3067943"/>
            <a:ext cx="3229967" cy="383084"/>
          </a:xfrm>
          <a:prstGeom prst="rect">
            <a:avLst/>
          </a:prstGeom>
          <a:noFill/>
          <a:ln/>
        </p:spPr>
        <p:txBody>
          <a:bodyPr wrap="square" lIns="0" tIns="0" rIns="0" bIns="0" rtlCol="0" anchor="t">
            <a:normAutofit/>
          </a:bodyPr>
          <a:lstStyle/>
          <a:p>
            <a:pPr algn="l" indent="0" marL="0">
              <a:lnSpc>
                <a:spcPts val="1648"/>
              </a:lnSpc>
              <a:buNone/>
            </a:pPr>
            <a:r>
              <a:rPr lang="en-US" sz="1177" dirty="0">
                <a:solidFill>
                  <a:srgbClr val="4A5568"/>
                </a:solidFill>
                <a:latin typeface="IBM Plex Sans" pitchFamily="34" charset="0"/>
                <a:ea typeface="IBM Plex Sans" pitchFamily="34" charset="-122"/>
                <a:cs typeface="IBM Plex Sans" pitchFamily="34" charset="-120"/>
              </a:rPr>
              <a:t>Stored only is small. Used downstream is not.</a:t>
            </a:r>
            <a:endParaRPr lang="en-US" sz="1177" dirty="0"/>
          </a:p>
        </p:txBody>
      </p:sp>
      <p:sp>
        <p:nvSpPr>
          <p:cNvPr id="8" name="Shape 6"/>
          <p:cNvSpPr/>
          <p:nvPr/>
        </p:nvSpPr>
        <p:spPr>
          <a:xfrm>
            <a:off x="4388842" y="2185392"/>
            <a:ext cx="3414216" cy="1421209"/>
          </a:xfrm>
          <a:prstGeom prst="roundRect">
            <a:avLst>
              <a:gd name="adj" fmla="val 5138"/>
            </a:avLst>
          </a:prstGeom>
          <a:solidFill>
            <a:srgbClr val="FFFFFF"/>
          </a:solidFill>
          <a:ln w="6350">
            <a:solidFill>
              <a:srgbClr val="DCD9D0"/>
            </a:solidFill>
            <a:prstDash val="solid"/>
          </a:ln>
        </p:spPr>
      </p:sp>
      <p:sp>
        <p:nvSpPr>
          <p:cNvPr id="9" name="Text 7"/>
          <p:cNvSpPr/>
          <p:nvPr/>
        </p:nvSpPr>
        <p:spPr>
          <a:xfrm>
            <a:off x="4569817" y="2366367"/>
            <a:ext cx="3143834" cy="25400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C8702A"/>
                </a:solidFill>
                <a:latin typeface="IBM Plex Sans" pitchFamily="34" charset="0"/>
                <a:ea typeface="IBM Plex Sans" pitchFamily="34" charset="-122"/>
                <a:cs typeface="IBM Plex Sans" pitchFamily="34" charset="-120"/>
              </a:rPr>
              <a:t>D2 · R03 In‑flight changes</a:t>
            </a:r>
            <a:endParaRPr lang="en-US" sz="1300" dirty="0"/>
          </a:p>
        </p:txBody>
      </p:sp>
      <p:sp>
        <p:nvSpPr>
          <p:cNvPr id="10" name="Text 8"/>
          <p:cNvSpPr/>
          <p:nvPr/>
        </p:nvSpPr>
        <p:spPr>
          <a:xfrm>
            <a:off x="4569817" y="2658467"/>
            <a:ext cx="3143834" cy="46990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B2A41"/>
                </a:solidFill>
                <a:latin typeface="IBM Plex Sans" pitchFamily="34" charset="0"/>
                <a:ea typeface="IBM Plex Sans" pitchFamily="34" charset="-122"/>
                <a:cs typeface="IBM Plex Sans" pitchFamily="34" charset="-120"/>
              </a:rPr>
              <a:t>Can a supplier request an edit at any state, or only before analyst approval?</a:t>
            </a:r>
            <a:endParaRPr lang="en-US" sz="1300" dirty="0"/>
          </a:p>
        </p:txBody>
      </p:sp>
      <p:sp>
        <p:nvSpPr>
          <p:cNvPr id="11" name="Text 9"/>
          <p:cNvSpPr/>
          <p:nvPr/>
        </p:nvSpPr>
        <p:spPr>
          <a:xfrm>
            <a:off x="4569817" y="3166467"/>
            <a:ext cx="3143834"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“Any state” adds re‑approval handling.</a:t>
            </a:r>
            <a:endParaRPr lang="en-US" sz="1200" dirty="0"/>
          </a:p>
        </p:txBody>
      </p:sp>
      <p:sp>
        <p:nvSpPr>
          <p:cNvPr id="12" name="Shape 10"/>
          <p:cNvSpPr/>
          <p:nvPr/>
        </p:nvSpPr>
        <p:spPr>
          <a:xfrm>
            <a:off x="7961809" y="2185392"/>
            <a:ext cx="3414117" cy="1421209"/>
          </a:xfrm>
          <a:prstGeom prst="roundRect">
            <a:avLst>
              <a:gd name="adj" fmla="val 5138"/>
            </a:avLst>
          </a:prstGeom>
          <a:solidFill>
            <a:srgbClr val="FFFFFF"/>
          </a:solidFill>
          <a:ln w="6350">
            <a:solidFill>
              <a:srgbClr val="DCD9D0"/>
            </a:solidFill>
            <a:prstDash val="solid"/>
          </a:ln>
        </p:spPr>
      </p:sp>
      <p:sp>
        <p:nvSpPr>
          <p:cNvPr id="13" name="Text 11"/>
          <p:cNvSpPr/>
          <p:nvPr/>
        </p:nvSpPr>
        <p:spPr>
          <a:xfrm>
            <a:off x="8142784" y="2366367"/>
            <a:ext cx="3143732" cy="218281"/>
          </a:xfrm>
          <a:prstGeom prst="rect">
            <a:avLst/>
          </a:prstGeom>
          <a:noFill/>
          <a:ln/>
        </p:spPr>
        <p:txBody>
          <a:bodyPr wrap="square" lIns="0" tIns="0" rIns="0" bIns="0" rtlCol="0" anchor="t">
            <a:normAutofit/>
          </a:bodyPr>
          <a:lstStyle/>
          <a:p>
            <a:pPr algn="l" indent="0" marL="0">
              <a:lnSpc>
                <a:spcPts val="1547"/>
              </a:lnSpc>
              <a:buNone/>
            </a:pPr>
            <a:r>
              <a:rPr lang="en-US" sz="1105" b="1" dirty="0">
                <a:solidFill>
                  <a:srgbClr val="C8702A"/>
                </a:solidFill>
                <a:latin typeface="IBM Plex Sans" pitchFamily="34" charset="0"/>
                <a:ea typeface="IBM Plex Sans" pitchFamily="34" charset="-122"/>
                <a:cs typeface="IBM Plex Sans" pitchFamily="34" charset="-120"/>
              </a:rPr>
              <a:t>D3 · R06 Configuration web app</a:t>
            </a:r>
            <a:endParaRPr lang="en-US" sz="1105" dirty="0"/>
          </a:p>
        </p:txBody>
      </p:sp>
      <p:sp>
        <p:nvSpPr>
          <p:cNvPr id="14" name="Text 12"/>
          <p:cNvSpPr/>
          <p:nvPr/>
        </p:nvSpPr>
        <p:spPr>
          <a:xfrm>
            <a:off x="8142784" y="2622748"/>
            <a:ext cx="3143732" cy="587970"/>
          </a:xfrm>
          <a:prstGeom prst="rect">
            <a:avLst/>
          </a:prstGeom>
          <a:noFill/>
          <a:ln/>
        </p:spPr>
        <p:txBody>
          <a:bodyPr wrap="square" lIns="0" tIns="0" rIns="0" bIns="0" rtlCol="0" anchor="t">
            <a:normAutofit/>
          </a:bodyPr>
          <a:lstStyle/>
          <a:p>
            <a:pPr algn="l" indent="0" marL="0">
              <a:lnSpc>
                <a:spcPts val="1744"/>
              </a:lnSpc>
              <a:buNone/>
            </a:pPr>
            <a:r>
              <a:rPr lang="en-US" sz="1292" dirty="0">
                <a:solidFill>
                  <a:srgbClr val="1B2A41"/>
                </a:solidFill>
                <a:latin typeface="IBM Plex Sans" pitchFamily="34" charset="0"/>
                <a:ea typeface="IBM Plex Sans" pitchFamily="34" charset="-122"/>
                <a:cs typeface="IBM Plex Sans" pitchFamily="34" charset="-120"/>
              </a:rPr>
              <a:t>Move all of configuration, or start with the steps that cause the most errors today?</a:t>
            </a:r>
            <a:endParaRPr lang="en-US" sz="1292" dirty="0"/>
          </a:p>
        </p:txBody>
      </p:sp>
      <p:sp>
        <p:nvSpPr>
          <p:cNvPr id="15" name="Text 13"/>
          <p:cNvSpPr/>
          <p:nvPr/>
        </p:nvSpPr>
        <p:spPr>
          <a:xfrm>
            <a:off x="8142784" y="3248819"/>
            <a:ext cx="3143732" cy="202208"/>
          </a:xfrm>
          <a:prstGeom prst="rect">
            <a:avLst/>
          </a:prstGeom>
          <a:noFill/>
          <a:ln/>
        </p:spPr>
        <p:txBody>
          <a:bodyPr wrap="square" lIns="0" tIns="0" rIns="0" bIns="0" rtlCol="0" anchor="t">
            <a:normAutofit/>
          </a:bodyPr>
          <a:lstStyle/>
          <a:p>
            <a:pPr algn="l" indent="0" marL="0">
              <a:lnSpc>
                <a:spcPts val="1449"/>
              </a:lnSpc>
              <a:buNone/>
            </a:pPr>
            <a:r>
              <a:rPr lang="en-US" sz="1035" dirty="0">
                <a:solidFill>
                  <a:srgbClr val="4A5568"/>
                </a:solidFill>
                <a:latin typeface="IBM Plex Sans" pitchFamily="34" charset="0"/>
                <a:ea typeface="IBM Plex Sans" pitchFamily="34" charset="-122"/>
                <a:cs typeface="IBM Plex Sans" pitchFamily="34" charset="-120"/>
              </a:rPr>
              <a:t>Starting small lets it ship in phase 2.</a:t>
            </a:r>
            <a:endParaRPr lang="en-US" sz="1035" dirty="0"/>
          </a:p>
        </p:txBody>
      </p:sp>
      <p:sp>
        <p:nvSpPr>
          <p:cNvPr id="16" name="Shape 14"/>
          <p:cNvSpPr/>
          <p:nvPr/>
        </p:nvSpPr>
        <p:spPr>
          <a:xfrm>
            <a:off x="812800" y="3812977"/>
            <a:ext cx="10566400" cy="1638895"/>
          </a:xfrm>
          <a:prstGeom prst="rect">
            <a:avLst/>
          </a:prstGeom>
          <a:solidFill>
            <a:srgbClr val="FFFFFF"/>
          </a:solidFill>
          <a:ln/>
        </p:spPr>
      </p:sp>
      <p:sp>
        <p:nvSpPr>
          <p:cNvPr id="17" name="Shape 15"/>
          <p:cNvSpPr/>
          <p:nvPr/>
        </p:nvSpPr>
        <p:spPr>
          <a:xfrm>
            <a:off x="11376025" y="3812977"/>
            <a:ext cx="0" cy="1638895"/>
          </a:xfrm>
          <a:prstGeom prst="line">
            <a:avLst/>
          </a:prstGeom>
          <a:noFill/>
          <a:ln w="6350">
            <a:solidFill>
              <a:srgbClr val="DCD9D0"/>
            </a:solidFill>
            <a:prstDash val="solid"/>
          </a:ln>
        </p:spPr>
      </p:sp>
      <p:sp>
        <p:nvSpPr>
          <p:cNvPr id="18" name="Shape 16"/>
          <p:cNvSpPr/>
          <p:nvPr/>
        </p:nvSpPr>
        <p:spPr>
          <a:xfrm>
            <a:off x="812800" y="5448697"/>
            <a:ext cx="10566400" cy="0"/>
          </a:xfrm>
          <a:prstGeom prst="line">
            <a:avLst/>
          </a:prstGeom>
          <a:noFill/>
          <a:ln w="6350">
            <a:solidFill>
              <a:srgbClr val="DCD9D0"/>
            </a:solidFill>
            <a:prstDash val="solid"/>
          </a:ln>
        </p:spPr>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825500" y="3825677"/>
          <a:ext cx="10547350" cy="1620242"/>
        </p:xfrm>
        <a:graphic>
          <a:graphicData uri="http://schemas.openxmlformats.org/drawingml/2006/table">
            <a:tbl>
              <a:tblPr/>
              <a:tblGrid>
                <a:gridCol w="4218940"/>
                <a:gridCol w="2109470"/>
                <a:gridCol w="2109470"/>
                <a:gridCol w="2109470"/>
              </a:tblGrid>
              <a:tr h="324048">
                <a:tc>
                  <a:txBody>
                    <a:bodyPr/>
                    <a:lstStyle/>
                    <a:p>
                      <a:pPr indent="0" marL="0">
                        <a:lnSpc>
                          <a:spcPts val="1349"/>
                        </a:lnSpc>
                        <a:buNone/>
                      </a:pPr>
                      <a:r>
                        <a:rPr lang="en-US" sz="964" b="1" dirty="0">
                          <a:solidFill>
                            <a:srgbClr val="F7F6F2"/>
                          </a:solidFill>
                          <a:latin typeface="IBM Plex Sans" pitchFamily="34" charset="0"/>
                          <a:ea typeface="IBM Plex Sans" pitchFamily="34" charset="-122"/>
                          <a:cs typeface="IBM Plex Sans" pitchFamily="34" charset="-120"/>
                        </a:rPr>
                        <a:t>Element</a:t>
                      </a:r>
                      <a:endParaRPr lang="en-US" sz="964" dirty="0">
                        <a:latin typeface="IBM Plex Sans" charset="0"/>
                        <a:ea typeface="IBM Plex Sans" charset="0"/>
                        <a:cs typeface="IBM Plex Sans" charset="0"/>
                      </a:endParaRPr>
                    </a:p>
                  </a:txBody>
                  <a:tcPr marL="101600" marR="101600" marT="76200" marB="76200" anchor="t">
                    <a:lnL w="12700" cap="flat" cmpd="sng" algn="ctr">
                      <a:solidFill>
                        <a:srgbClr val="CBCBCB"/>
                      </a:solidFill>
                      <a:prstDash val="solid"/>
                      <a:round/>
                      <a:headEnd type="none" w="med" len="med"/>
                      <a:tailEnd type="none" w="med" len="med"/>
                    </a:lnL>
                    <a:lnR w="12700" cap="flat" cmpd="sng" algn="ctr">
                      <a:solidFill>
                        <a:srgbClr val="19253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92537"/>
                      </a:solidFill>
                      <a:prstDash val="solid"/>
                      <a:round/>
                      <a:headEnd type="none" w="med" len="med"/>
                      <a:tailEnd type="none" w="med" len="med"/>
                    </a:lnB>
                    <a:solidFill>
                      <a:srgbClr val="1B2A41"/>
                    </a:solidFill>
                  </a:tcPr>
                </a:tc>
                <a:tc>
                  <a:txBody>
                    <a:bodyPr/>
                    <a:lstStyle/>
                    <a:p>
                      <a:pPr indent="0" marL="0">
                        <a:lnSpc>
                          <a:spcPts val="1349"/>
                        </a:lnSpc>
                        <a:buNone/>
                      </a:pPr>
                      <a:r>
                        <a:rPr lang="en-US" sz="964" b="1" dirty="0">
                          <a:solidFill>
                            <a:srgbClr val="F7F6F2"/>
                          </a:solidFill>
                          <a:latin typeface="IBM Plex Sans" pitchFamily="34" charset="0"/>
                          <a:ea typeface="IBM Plex Sans" pitchFamily="34" charset="-122"/>
                          <a:cs typeface="IBM Plex Sans" pitchFamily="34" charset="-120"/>
                        </a:rPr>
                        <a:t>Approve as written</a:t>
                      </a:r>
                      <a:endParaRPr lang="en-US" sz="964" dirty="0">
                        <a:latin typeface="IBM Plex Sans" charset="0"/>
                        <a:ea typeface="IBM Plex Sans" charset="0"/>
                        <a:cs typeface="IBM Plex Sans" charset="0"/>
                      </a:endParaRPr>
                    </a:p>
                  </a:txBody>
                  <a:tcPr marL="101600" marR="101600" marT="76200" marB="76200" anchor="t">
                    <a:lnL w="12700" cap="flat" cmpd="sng" algn="ctr">
                      <a:solidFill>
                        <a:srgbClr val="192537"/>
                      </a:solidFill>
                      <a:prstDash val="solid"/>
                      <a:round/>
                      <a:headEnd type="none" w="med" len="med"/>
                      <a:tailEnd type="none" w="med" len="med"/>
                    </a:lnL>
                    <a:lnR w="12700" cap="flat" cmpd="sng" algn="ctr">
                      <a:solidFill>
                        <a:srgbClr val="19253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92537"/>
                      </a:solidFill>
                      <a:prstDash val="solid"/>
                      <a:round/>
                      <a:headEnd type="none" w="med" len="med"/>
                      <a:tailEnd type="none" w="med" len="med"/>
                    </a:lnB>
                    <a:solidFill>
                      <a:srgbClr val="1B2A41"/>
                    </a:solidFill>
                  </a:tcPr>
                </a:tc>
                <a:tc>
                  <a:txBody>
                    <a:bodyPr/>
                    <a:lstStyle/>
                    <a:p>
                      <a:pPr indent="0" marL="0">
                        <a:lnSpc>
                          <a:spcPts val="1349"/>
                        </a:lnSpc>
                        <a:buNone/>
                      </a:pPr>
                      <a:r>
                        <a:rPr lang="en-US" sz="964" b="1" dirty="0">
                          <a:solidFill>
                            <a:srgbClr val="F7F6F2"/>
                          </a:solidFill>
                          <a:latin typeface="IBM Plex Sans" pitchFamily="34" charset="0"/>
                          <a:ea typeface="IBM Plex Sans" pitchFamily="34" charset="-122"/>
                          <a:cs typeface="IBM Plex Sans" pitchFamily="34" charset="-120"/>
                        </a:rPr>
                        <a:t>Modify</a:t>
                      </a:r>
                      <a:endParaRPr lang="en-US" sz="964" dirty="0">
                        <a:latin typeface="IBM Plex Sans" charset="0"/>
                        <a:ea typeface="IBM Plex Sans" charset="0"/>
                        <a:cs typeface="IBM Plex Sans" charset="0"/>
                      </a:endParaRPr>
                    </a:p>
                  </a:txBody>
                  <a:tcPr marL="101600" marR="101600" marT="76200" marB="76200" anchor="t">
                    <a:lnL w="12700" cap="flat" cmpd="sng" algn="ctr">
                      <a:solidFill>
                        <a:srgbClr val="192537"/>
                      </a:solidFill>
                      <a:prstDash val="solid"/>
                      <a:round/>
                      <a:headEnd type="none" w="med" len="med"/>
                      <a:tailEnd type="none" w="med" len="med"/>
                    </a:lnL>
                    <a:lnR w="12700" cap="flat" cmpd="sng" algn="ctr">
                      <a:solidFill>
                        <a:srgbClr val="19253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92537"/>
                      </a:solidFill>
                      <a:prstDash val="solid"/>
                      <a:round/>
                      <a:headEnd type="none" w="med" len="med"/>
                      <a:tailEnd type="none" w="med" len="med"/>
                    </a:lnB>
                    <a:solidFill>
                      <a:srgbClr val="1B2A41"/>
                    </a:solidFill>
                  </a:tcPr>
                </a:tc>
                <a:tc>
                  <a:txBody>
                    <a:bodyPr/>
                    <a:lstStyle/>
                    <a:p>
                      <a:pPr indent="0" marL="0">
                        <a:lnSpc>
                          <a:spcPts val="1349"/>
                        </a:lnSpc>
                        <a:buNone/>
                      </a:pPr>
                      <a:r>
                        <a:rPr lang="en-US" sz="964" b="1" dirty="0">
                          <a:solidFill>
                            <a:srgbClr val="F7F6F2"/>
                          </a:solidFill>
                          <a:latin typeface="IBM Plex Sans" pitchFamily="34" charset="0"/>
                          <a:ea typeface="IBM Plex Sans" pitchFamily="34" charset="-122"/>
                          <a:cs typeface="IBM Plex Sans" pitchFamily="34" charset="-120"/>
                        </a:rPr>
                        <a:t>Defer</a:t>
                      </a:r>
                      <a:endParaRPr lang="en-US" sz="964" dirty="0">
                        <a:latin typeface="IBM Plex Sans" charset="0"/>
                        <a:ea typeface="IBM Plex Sans" charset="0"/>
                        <a:cs typeface="IBM Plex Sans" charset="0"/>
                      </a:endParaRPr>
                    </a:p>
                  </a:txBody>
                  <a:tcPr marL="101600" marR="101600" marT="76200" marB="76200" anchor="t">
                    <a:lnL w="12700" cap="flat" cmpd="sng" algn="ctr">
                      <a:solidFill>
                        <a:srgbClr val="192537"/>
                      </a:solidFill>
                      <a:prstDash val="solid"/>
                      <a:round/>
                      <a:headEnd type="none" w="med" len="med"/>
                      <a:tailEnd type="none" w="med" len="med"/>
                    </a:lnL>
                    <a:lnR w="12700" cap="flat" cmpd="sng" algn="ctr">
                      <a:solidFill>
                        <a:srgbClr val="19253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92537"/>
                      </a:solidFill>
                      <a:prstDash val="solid"/>
                      <a:round/>
                      <a:headEnd type="none" w="med" len="med"/>
                      <a:tailEnd type="none" w="med" len="med"/>
                    </a:lnB>
                    <a:solidFill>
                      <a:srgbClr val="1B2A41"/>
                    </a:solidFill>
                  </a:tcPr>
                </a:tc>
              </a:tr>
              <a:tr h="324048">
                <a:tc>
                  <a:txBody>
                    <a:bodyPr/>
                    <a:lstStyle/>
                    <a:p>
                      <a:pPr indent="0" marL="0">
                        <a:lnSpc>
                          <a:spcPts val="1349"/>
                        </a:lnSpc>
                        <a:buNone/>
                      </a:pPr>
                      <a:r>
                        <a:rPr lang="en-US" sz="964" dirty="0">
                          <a:solidFill>
                            <a:srgbClr val="1B2A41"/>
                          </a:solidFill>
                          <a:latin typeface="IBM Plex Sans" pitchFamily="34" charset="0"/>
                          <a:ea typeface="IBM Plex Sans" pitchFamily="34" charset="-122"/>
                          <a:cs typeface="IBM Plex Sans" pitchFamily="34" charset="-120"/>
                        </a:rPr>
                        <a:t>R02 Rate calculator · R04 Flag for review</a:t>
                      </a:r>
                      <a:endParaRPr lang="en-US" sz="964" dirty="0">
                        <a:latin typeface="IBM Plex Sans" charset="0"/>
                        <a:ea typeface="IBM Plex Sans" charset="0"/>
                        <a:cs typeface="IBM Plex Sans" charset="0"/>
                      </a:endParaRPr>
                    </a:p>
                  </a:txBody>
                  <a:tcPr marL="101600" marR="1016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9253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349"/>
                        </a:lnSpc>
                        <a:buNone/>
                      </a:pPr>
                      <a:r>
                        <a:rPr lang="en-US" sz="964" dirty="0">
                          <a:solidFill>
                            <a:srgbClr val="9AA3AF"/>
                          </a:solidFill>
                          <a:latin typeface="IBM Plex Sans" pitchFamily="34" charset="0"/>
                          <a:ea typeface="IBM Plex Sans" pitchFamily="34" charset="-122"/>
                          <a:cs typeface="IBM Plex Sans" pitchFamily="34" charset="-120"/>
                        </a:rPr>
                        <a:t>☐</a:t>
                      </a:r>
                      <a:endParaRPr lang="en-US" sz="964" dirty="0">
                        <a:latin typeface="IBM Plex Sans" charset="0"/>
                        <a:ea typeface="IBM Plex Sans" charset="0"/>
                        <a:cs typeface="IBM Plex Sans" charset="0"/>
                      </a:endParaRPr>
                    </a:p>
                  </a:txBody>
                  <a:tcPr marL="101600" marR="1016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9253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349"/>
                        </a:lnSpc>
                        <a:buNone/>
                      </a:pPr>
                      <a:r>
                        <a:rPr lang="en-US" sz="964" dirty="0">
                          <a:solidFill>
                            <a:srgbClr val="9AA3AF"/>
                          </a:solidFill>
                          <a:latin typeface="IBM Plex Sans" pitchFamily="34" charset="0"/>
                          <a:ea typeface="IBM Plex Sans" pitchFamily="34" charset="-122"/>
                          <a:cs typeface="IBM Plex Sans" pitchFamily="34" charset="-120"/>
                        </a:rPr>
                        <a:t>☐</a:t>
                      </a:r>
                      <a:endParaRPr lang="en-US" sz="964" dirty="0">
                        <a:latin typeface="IBM Plex Sans" charset="0"/>
                        <a:ea typeface="IBM Plex Sans" charset="0"/>
                        <a:cs typeface="IBM Plex Sans" charset="0"/>
                      </a:endParaRPr>
                    </a:p>
                  </a:txBody>
                  <a:tcPr marL="101600" marR="1016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9253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349"/>
                        </a:lnSpc>
                        <a:buNone/>
                      </a:pPr>
                      <a:r>
                        <a:rPr lang="en-US" sz="964" dirty="0">
                          <a:solidFill>
                            <a:srgbClr val="9AA3AF"/>
                          </a:solidFill>
                          <a:latin typeface="IBM Plex Sans" pitchFamily="34" charset="0"/>
                          <a:ea typeface="IBM Plex Sans" pitchFamily="34" charset="-122"/>
                          <a:cs typeface="IBM Plex Sans" pitchFamily="34" charset="-120"/>
                        </a:rPr>
                        <a:t>☐</a:t>
                      </a:r>
                      <a:endParaRPr lang="en-US" sz="964" dirty="0">
                        <a:latin typeface="IBM Plex Sans" charset="0"/>
                        <a:ea typeface="IBM Plex Sans" charset="0"/>
                        <a:cs typeface="IBM Plex Sans" charset="0"/>
                      </a:endParaRPr>
                    </a:p>
                  </a:txBody>
                  <a:tcPr marL="101600" marR="1016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9253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048">
                <a:tc>
                  <a:txBody>
                    <a:bodyPr/>
                    <a:lstStyle/>
                    <a:p>
                      <a:pPr indent="0" marL="0">
                        <a:lnSpc>
                          <a:spcPts val="1349"/>
                        </a:lnSpc>
                        <a:buNone/>
                      </a:pPr>
                      <a:r>
                        <a:rPr lang="en-US" sz="964" dirty="0">
                          <a:solidFill>
                            <a:srgbClr val="1B2A41"/>
                          </a:solidFill>
                          <a:latin typeface="IBM Plex Sans" pitchFamily="34" charset="0"/>
                          <a:ea typeface="IBM Plex Sans" pitchFamily="34" charset="-122"/>
                          <a:cs typeface="IBM Plex Sans" pitchFamily="34" charset="-120"/>
                        </a:rPr>
                        <a:t>R05 Template modifications (incl. task model)</a:t>
                      </a:r>
                      <a:endParaRPr lang="en-US" sz="964" dirty="0">
                        <a:latin typeface="IBM Plex Sans" charset="0"/>
                        <a:ea typeface="IBM Plex Sans" charset="0"/>
                        <a:cs typeface="IBM Plex Sans" charset="0"/>
                      </a:endParaRPr>
                    </a:p>
                  </a:txBody>
                  <a:tcPr marL="101600" marR="101600" marT="76200" marB="76200" anchor="t">
                    <a:lnL w="12700" cap="flat" cmpd="sng" algn="ctr">
                      <a:solidFill>
                        <a:srgbClr val="CBCBCB"/>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349"/>
                        </a:lnSpc>
                        <a:buNone/>
                      </a:pPr>
                      <a:r>
                        <a:rPr lang="en-US" sz="964" dirty="0">
                          <a:solidFill>
                            <a:srgbClr val="9AA3AF"/>
                          </a:solidFill>
                          <a:latin typeface="IBM Plex Sans" pitchFamily="34" charset="0"/>
                          <a:ea typeface="IBM Plex Sans" pitchFamily="34" charset="-122"/>
                          <a:cs typeface="IBM Plex Sans" pitchFamily="34" charset="-120"/>
                        </a:rPr>
                        <a:t>☐</a:t>
                      </a:r>
                      <a:endParaRPr lang="en-US" sz="964" dirty="0">
                        <a:latin typeface="IBM Plex Sans" charset="0"/>
                        <a:ea typeface="IBM Plex Sans" charset="0"/>
                        <a:cs typeface="IBM Plex Sans" charset="0"/>
                      </a:endParaRPr>
                    </a:p>
                  </a:txBody>
                  <a:tcPr marL="101600" marR="101600" marT="76200" marB="7620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349"/>
                        </a:lnSpc>
                        <a:buNone/>
                      </a:pPr>
                      <a:r>
                        <a:rPr lang="en-US" sz="964" dirty="0">
                          <a:solidFill>
                            <a:srgbClr val="9AA3AF"/>
                          </a:solidFill>
                          <a:latin typeface="IBM Plex Sans" pitchFamily="34" charset="0"/>
                          <a:ea typeface="IBM Plex Sans" pitchFamily="34" charset="-122"/>
                          <a:cs typeface="IBM Plex Sans" pitchFamily="34" charset="-120"/>
                        </a:rPr>
                        <a:t>☐</a:t>
                      </a:r>
                      <a:endParaRPr lang="en-US" sz="964" dirty="0">
                        <a:latin typeface="IBM Plex Sans" charset="0"/>
                        <a:ea typeface="IBM Plex Sans" charset="0"/>
                        <a:cs typeface="IBM Plex Sans" charset="0"/>
                      </a:endParaRPr>
                    </a:p>
                  </a:txBody>
                  <a:tcPr marL="101600" marR="101600" marT="76200" marB="7620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349"/>
                        </a:lnSpc>
                        <a:buNone/>
                      </a:pPr>
                      <a:r>
                        <a:rPr lang="en-US" sz="964" dirty="0">
                          <a:solidFill>
                            <a:srgbClr val="9AA3AF"/>
                          </a:solidFill>
                          <a:latin typeface="IBM Plex Sans" pitchFamily="34" charset="0"/>
                          <a:ea typeface="IBM Plex Sans" pitchFamily="34" charset="-122"/>
                          <a:cs typeface="IBM Plex Sans" pitchFamily="34" charset="-120"/>
                        </a:rPr>
                        <a:t>☐</a:t>
                      </a:r>
                      <a:endParaRPr lang="en-US" sz="964" dirty="0">
                        <a:latin typeface="IBM Plex Sans" charset="0"/>
                        <a:ea typeface="IBM Plex Sans" charset="0"/>
                        <a:cs typeface="IBM Plex Sans" charset="0"/>
                      </a:endParaRPr>
                    </a:p>
                  </a:txBody>
                  <a:tcPr marL="101600" marR="101600" marT="76200" marB="7620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r>
              <a:tr h="324048">
                <a:tc>
                  <a:txBody>
                    <a:bodyPr/>
                    <a:lstStyle/>
                    <a:p>
                      <a:pPr indent="0" marL="0">
                        <a:lnSpc>
                          <a:spcPts val="1349"/>
                        </a:lnSpc>
                        <a:buNone/>
                      </a:pPr>
                      <a:r>
                        <a:rPr lang="en-US" sz="964" dirty="0">
                          <a:solidFill>
                            <a:srgbClr val="1B2A41"/>
                          </a:solidFill>
                          <a:latin typeface="IBM Plex Sans" pitchFamily="34" charset="0"/>
                          <a:ea typeface="IBM Plex Sans" pitchFamily="34" charset="-122"/>
                          <a:cs typeface="IBM Plex Sans" pitchFamily="34" charset="-120"/>
                        </a:rPr>
                        <a:t>R08 Error review · R09 Batch add · R10 Seed validation</a:t>
                      </a:r>
                      <a:endParaRPr lang="en-US" sz="964" dirty="0">
                        <a:latin typeface="IBM Plex Sans" charset="0"/>
                        <a:ea typeface="IBM Plex Sans" charset="0"/>
                        <a:cs typeface="IBM Plex Sans" charset="0"/>
                      </a:endParaRPr>
                    </a:p>
                  </a:txBody>
                  <a:tcPr marL="101600" marR="1016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349"/>
                        </a:lnSpc>
                        <a:buNone/>
                      </a:pPr>
                      <a:r>
                        <a:rPr lang="en-US" sz="964" dirty="0">
                          <a:solidFill>
                            <a:srgbClr val="9AA3AF"/>
                          </a:solidFill>
                          <a:latin typeface="IBM Plex Sans" pitchFamily="34" charset="0"/>
                          <a:ea typeface="IBM Plex Sans" pitchFamily="34" charset="-122"/>
                          <a:cs typeface="IBM Plex Sans" pitchFamily="34" charset="-120"/>
                        </a:rPr>
                        <a:t>☐</a:t>
                      </a:r>
                      <a:endParaRPr lang="en-US" sz="964" dirty="0">
                        <a:latin typeface="IBM Plex Sans" charset="0"/>
                        <a:ea typeface="IBM Plex Sans" charset="0"/>
                        <a:cs typeface="IBM Plex Sans" charset="0"/>
                      </a:endParaRPr>
                    </a:p>
                  </a:txBody>
                  <a:tcPr marL="101600" marR="1016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349"/>
                        </a:lnSpc>
                        <a:buNone/>
                      </a:pPr>
                      <a:r>
                        <a:rPr lang="en-US" sz="964" dirty="0">
                          <a:solidFill>
                            <a:srgbClr val="9AA3AF"/>
                          </a:solidFill>
                          <a:latin typeface="IBM Plex Sans" pitchFamily="34" charset="0"/>
                          <a:ea typeface="IBM Plex Sans" pitchFamily="34" charset="-122"/>
                          <a:cs typeface="IBM Plex Sans" pitchFamily="34" charset="-120"/>
                        </a:rPr>
                        <a:t>☐</a:t>
                      </a:r>
                      <a:endParaRPr lang="en-US" sz="964" dirty="0">
                        <a:latin typeface="IBM Plex Sans" charset="0"/>
                        <a:ea typeface="IBM Plex Sans" charset="0"/>
                        <a:cs typeface="IBM Plex Sans" charset="0"/>
                      </a:endParaRPr>
                    </a:p>
                  </a:txBody>
                  <a:tcPr marL="101600" marR="1016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349"/>
                        </a:lnSpc>
                        <a:buNone/>
                      </a:pPr>
                      <a:r>
                        <a:rPr lang="en-US" sz="964" dirty="0">
                          <a:solidFill>
                            <a:srgbClr val="9AA3AF"/>
                          </a:solidFill>
                          <a:latin typeface="IBM Plex Sans" pitchFamily="34" charset="0"/>
                          <a:ea typeface="IBM Plex Sans" pitchFamily="34" charset="-122"/>
                          <a:cs typeface="IBM Plex Sans" pitchFamily="34" charset="-120"/>
                        </a:rPr>
                        <a:t>☐</a:t>
                      </a:r>
                      <a:endParaRPr lang="en-US" sz="964" dirty="0">
                        <a:latin typeface="IBM Plex Sans" charset="0"/>
                        <a:ea typeface="IBM Plex Sans" charset="0"/>
                        <a:cs typeface="IBM Plex Sans" charset="0"/>
                      </a:endParaRPr>
                    </a:p>
                  </a:txBody>
                  <a:tcPr marL="101600" marR="1016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048">
                <a:tc>
                  <a:txBody>
                    <a:bodyPr/>
                    <a:lstStyle/>
                    <a:p>
                      <a:pPr indent="0" marL="0">
                        <a:lnSpc>
                          <a:spcPts val="1349"/>
                        </a:lnSpc>
                        <a:buNone/>
                      </a:pPr>
                      <a:r>
                        <a:rPr lang="en-US" sz="964" dirty="0">
                          <a:solidFill>
                            <a:srgbClr val="1B2A41"/>
                          </a:solidFill>
                          <a:latin typeface="IBM Plex Sans" pitchFamily="34" charset="0"/>
                          <a:ea typeface="IBM Plex Sans" pitchFamily="34" charset="-122"/>
                          <a:cs typeface="IBM Plex Sans" pitchFamily="34" charset="-120"/>
                        </a:rPr>
                        <a:t>R11 SOW support · R02 Rate rules — subject to definition</a:t>
                      </a:r>
                      <a:endParaRPr lang="en-US" sz="964" dirty="0">
                        <a:latin typeface="IBM Plex Sans" charset="0"/>
                        <a:ea typeface="IBM Plex Sans" charset="0"/>
                        <a:cs typeface="IBM Plex Sans" charset="0"/>
                      </a:endParaRPr>
                    </a:p>
                  </a:txBody>
                  <a:tcPr marL="101600" marR="101600" marT="76200" marB="76200" anchor="t">
                    <a:lnL w="12700" cap="flat" cmpd="sng" algn="ctr">
                      <a:solidFill>
                        <a:srgbClr val="CBCBCB"/>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349"/>
                        </a:lnSpc>
                        <a:buNone/>
                      </a:pPr>
                      <a:r>
                        <a:rPr lang="en-US" sz="964" dirty="0">
                          <a:solidFill>
                            <a:srgbClr val="9AA3AF"/>
                          </a:solidFill>
                          <a:latin typeface="IBM Plex Sans" pitchFamily="34" charset="0"/>
                          <a:ea typeface="IBM Plex Sans" pitchFamily="34" charset="-122"/>
                          <a:cs typeface="IBM Plex Sans" pitchFamily="34" charset="-120"/>
                        </a:rPr>
                        <a:t>☐</a:t>
                      </a:r>
                      <a:endParaRPr lang="en-US" sz="964" dirty="0">
                        <a:latin typeface="IBM Plex Sans" charset="0"/>
                        <a:ea typeface="IBM Plex Sans" charset="0"/>
                        <a:cs typeface="IBM Plex Sans" charset="0"/>
                      </a:endParaRPr>
                    </a:p>
                  </a:txBody>
                  <a:tcPr marL="101600" marR="101600" marT="76200" marB="7620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349"/>
                        </a:lnSpc>
                        <a:buNone/>
                      </a:pPr>
                      <a:r>
                        <a:rPr lang="en-US" sz="964" dirty="0">
                          <a:solidFill>
                            <a:srgbClr val="9AA3AF"/>
                          </a:solidFill>
                          <a:latin typeface="IBM Plex Sans" pitchFamily="34" charset="0"/>
                          <a:ea typeface="IBM Plex Sans" pitchFamily="34" charset="-122"/>
                          <a:cs typeface="IBM Plex Sans" pitchFamily="34" charset="-120"/>
                        </a:rPr>
                        <a:t>☐</a:t>
                      </a:r>
                      <a:endParaRPr lang="en-US" sz="964" dirty="0">
                        <a:latin typeface="IBM Plex Sans" charset="0"/>
                        <a:ea typeface="IBM Plex Sans" charset="0"/>
                        <a:cs typeface="IBM Plex Sans" charset="0"/>
                      </a:endParaRPr>
                    </a:p>
                  </a:txBody>
                  <a:tcPr marL="101600" marR="101600" marT="76200" marB="7620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349"/>
                        </a:lnSpc>
                        <a:buNone/>
                      </a:pPr>
                      <a:r>
                        <a:rPr lang="en-US" sz="964" dirty="0">
                          <a:solidFill>
                            <a:srgbClr val="9AA3AF"/>
                          </a:solidFill>
                          <a:latin typeface="IBM Plex Sans" pitchFamily="34" charset="0"/>
                          <a:ea typeface="IBM Plex Sans" pitchFamily="34" charset="-122"/>
                          <a:cs typeface="IBM Plex Sans" pitchFamily="34" charset="-120"/>
                        </a:rPr>
                        <a:t>☐</a:t>
                      </a:r>
                      <a:endParaRPr lang="en-US" sz="964" dirty="0">
                        <a:latin typeface="IBM Plex Sans" charset="0"/>
                        <a:ea typeface="IBM Plex Sans" charset="0"/>
                        <a:cs typeface="IBM Plex Sans" charset="0"/>
                      </a:endParaRPr>
                    </a:p>
                  </a:txBody>
                  <a:tcPr marL="101600" marR="101600" marT="76200" marB="7620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r>
            </a:tbl>
          </a:graphicData>
        </a:graphic>
      </p:graphicFrame>
      <p:sp>
        <p:nvSpPr>
          <p:cNvPr id="20" name="Text 17"/>
          <p:cNvSpPr/>
          <p:nvPr/>
        </p:nvSpPr>
        <p:spPr>
          <a:xfrm>
            <a:off x="812800" y="5655072"/>
            <a:ext cx="10883392" cy="212328"/>
          </a:xfrm>
          <a:prstGeom prst="rect">
            <a:avLst/>
          </a:prstGeom>
          <a:noFill/>
          <a:ln/>
        </p:spPr>
        <p:txBody>
          <a:bodyPr wrap="square" lIns="0" tIns="0" rIns="0" bIns="0" rtlCol="0" anchor="t">
            <a:normAutofit/>
          </a:bodyPr>
          <a:lstStyle/>
          <a:p>
            <a:pPr algn="l" indent="0" marL="0">
              <a:lnSpc>
                <a:spcPts val="1496"/>
              </a:lnSpc>
              <a:buNone/>
            </a:pPr>
            <a:r>
              <a:rPr lang="en-US" sz="1069" dirty="0">
                <a:solidFill>
                  <a:srgbClr val="6A7179"/>
                </a:solidFill>
                <a:latin typeface="IBM Plex Sans" pitchFamily="34" charset="0"/>
                <a:ea typeface="IBM Plex Sans" pitchFamily="34" charset="-122"/>
                <a:cs typeface="IBM Plex Sans" pitchFamily="34" charset="-120"/>
              </a:rPr>
              <a:t>A deferred element is logged in the register’s change log on day one, with a reason, so the change authority starts with a complete queue.</a:t>
            </a:r>
            <a:endParaRPr lang="en-US" sz="1069" dirty="0"/>
          </a:p>
        </p:txBody>
      </p:sp>
      <p:sp>
        <p:nvSpPr>
          <p:cNvPr id="21" name="Text 18"/>
          <p:cNvSpPr/>
          <p:nvPr/>
        </p:nvSpPr>
        <p:spPr>
          <a:xfrm>
            <a:off x="11196241" y="6242050"/>
            <a:ext cx="233759"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2A41"/>
        </a:solidFill>
      </p:bgPr>
    </p:bg>
    <p:spTree>
      <p:nvGrpSpPr>
        <p:cNvPr id="1" name=""/>
        <p:cNvGrpSpPr/>
        <p:nvPr/>
      </p:nvGrpSpPr>
      <p:grpSpPr>
        <a:xfrm>
          <a:off x="0" y="0"/>
          <a:ext cx="0" cy="0"/>
          <a:chOff x="0" y="0"/>
          <a:chExt cx="0" cy="0"/>
        </a:xfrm>
      </p:grpSpPr>
      <p:sp>
        <p:nvSpPr>
          <p:cNvPr id="2" name="Text 0"/>
          <p:cNvSpPr/>
          <p:nvPr/>
        </p:nvSpPr>
        <p:spPr>
          <a:xfrm>
            <a:off x="812800" y="8128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spc="100" kern="0" dirty="0">
                <a:solidFill>
                  <a:srgbClr val="E39A5B"/>
                </a:solidFill>
                <a:latin typeface="IBM Plex Sans" pitchFamily="34" charset="0"/>
                <a:ea typeface="IBM Plex Sans" pitchFamily="34" charset="-122"/>
                <a:cs typeface="IBM Plex Sans" pitchFamily="34" charset="-120"/>
              </a:rPr>
              <a:t>GATE DECISION</a:t>
            </a:r>
            <a:endParaRPr lang="en-US" sz="1500" dirty="0"/>
          </a:p>
        </p:txBody>
      </p:sp>
      <p:sp>
        <p:nvSpPr>
          <p:cNvPr id="3" name="Text 1"/>
          <p:cNvSpPr/>
          <p:nvPr>
            <p:ph type="title"/>
          </p:nvPr>
        </p:nvSpPr>
        <p:spPr>
          <a:xfrm>
            <a:off x="812800" y="1333500"/>
            <a:ext cx="9810750" cy="1066800"/>
          </a:xfrm>
          <a:prstGeom prst="rect">
            <a:avLst/>
          </a:prstGeom>
          <a:noFill/>
          <a:ln/>
        </p:spPr>
        <p:txBody>
          <a:bodyPr wrap="square" lIns="0" tIns="0" rIns="0" bIns="0" rtlCol="0" anchor="t">
            <a:normAutofit/>
          </a:bodyPr>
          <a:lstStyle/>
          <a:p>
            <a:pPr algn="l" indent="0" marL="0">
              <a:lnSpc>
                <a:spcPts val="4140"/>
              </a:lnSpc>
              <a:buNone/>
            </a:pPr>
            <a:r>
              <a:rPr lang="en-US" sz="3600" b="0" i="0" dirty="0">
                <a:solidFill>
                  <a:srgbClr val="F7F6F2"/>
                </a:solidFill>
                <a:latin typeface="Source Serif 4" pitchFamily="18" charset="0"/>
                <a:ea typeface="Source Serif 4" pitchFamily="18" charset="-122"/>
                <a:cs typeface="Source Serif 4" pitchFamily="18" charset="-120"/>
              </a:rPr>
              <a:t>Approve scope baseline v1.0, so definition work starts on [start date].</a:t>
            </a:r>
            <a:endParaRPr lang="en-US" sz="3600" dirty="0"/>
          </a:p>
        </p:txBody>
      </p:sp>
      <p:sp>
        <p:nvSpPr>
          <p:cNvPr id="4" name="Shape 2"/>
          <p:cNvSpPr/>
          <p:nvPr/>
        </p:nvSpPr>
        <p:spPr>
          <a:xfrm>
            <a:off x="815975" y="3495675"/>
            <a:ext cx="2520950" cy="1631950"/>
          </a:xfrm>
          <a:prstGeom prst="roundRect">
            <a:avLst>
              <a:gd name="adj" fmla="val 4475"/>
            </a:avLst>
          </a:prstGeom>
          <a:noFill/>
          <a:ln w="6350">
            <a:solidFill>
              <a:srgbClr val="3E4F6A"/>
            </a:solidFill>
            <a:prstDash val="solid"/>
          </a:ln>
        </p:spPr>
      </p:sp>
      <p:sp>
        <p:nvSpPr>
          <p:cNvPr id="5" name="Text 3"/>
          <p:cNvSpPr/>
          <p:nvPr/>
        </p:nvSpPr>
        <p:spPr>
          <a:xfrm>
            <a:off x="1022350" y="3702050"/>
            <a:ext cx="217144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E39A5B"/>
                </a:solidFill>
                <a:latin typeface="IBM Plex Sans" pitchFamily="34" charset="0"/>
                <a:ea typeface="IBM Plex Sans" pitchFamily="34" charset="-122"/>
                <a:cs typeface="IBM Plex Sans" pitchFamily="34" charset="-120"/>
              </a:rPr>
              <a:t>Go</a:t>
            </a:r>
            <a:endParaRPr lang="en-US" sz="1500" dirty="0"/>
          </a:p>
        </p:txBody>
      </p:sp>
      <p:sp>
        <p:nvSpPr>
          <p:cNvPr id="6" name="Text 4"/>
          <p:cNvSpPr/>
          <p:nvPr/>
        </p:nvSpPr>
        <p:spPr>
          <a:xfrm>
            <a:off x="1022350" y="4006850"/>
            <a:ext cx="2171446" cy="9398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1DC"/>
                </a:solidFill>
                <a:latin typeface="IBM Plex Sans" pitchFamily="34" charset="0"/>
                <a:ea typeface="IBM Plex Sans" pitchFamily="34" charset="-122"/>
                <a:cs typeface="IBM Plex Sans" pitchFamily="34" charset="-120"/>
              </a:rPr>
              <a:t>Baseline v1.0 is frozen today; the register is versioned and the change log opens.</a:t>
            </a:r>
            <a:endParaRPr lang="en-US" sz="1300" dirty="0"/>
          </a:p>
        </p:txBody>
      </p:sp>
      <p:sp>
        <p:nvSpPr>
          <p:cNvPr id="7" name="Shape 5"/>
          <p:cNvSpPr/>
          <p:nvPr/>
        </p:nvSpPr>
        <p:spPr>
          <a:xfrm>
            <a:off x="3495675" y="3495675"/>
            <a:ext cx="2520950" cy="1631950"/>
          </a:xfrm>
          <a:prstGeom prst="roundRect">
            <a:avLst>
              <a:gd name="adj" fmla="val 4475"/>
            </a:avLst>
          </a:prstGeom>
          <a:noFill/>
          <a:ln w="6350">
            <a:solidFill>
              <a:srgbClr val="3E4F6A"/>
            </a:solidFill>
            <a:prstDash val="solid"/>
          </a:ln>
        </p:spPr>
      </p:sp>
      <p:sp>
        <p:nvSpPr>
          <p:cNvPr id="8" name="Text 6"/>
          <p:cNvSpPr/>
          <p:nvPr/>
        </p:nvSpPr>
        <p:spPr>
          <a:xfrm>
            <a:off x="3702050" y="3702050"/>
            <a:ext cx="217144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E39A5B"/>
                </a:solidFill>
                <a:latin typeface="IBM Plex Sans" pitchFamily="34" charset="0"/>
                <a:ea typeface="IBM Plex Sans" pitchFamily="34" charset="-122"/>
                <a:cs typeface="IBM Plex Sans" pitchFamily="34" charset="-120"/>
              </a:rPr>
              <a:t>Go with conditions</a:t>
            </a:r>
            <a:endParaRPr lang="en-US" sz="1500" dirty="0"/>
          </a:p>
        </p:txBody>
      </p:sp>
      <p:sp>
        <p:nvSpPr>
          <p:cNvPr id="9" name="Text 7"/>
          <p:cNvSpPr/>
          <p:nvPr/>
        </p:nvSpPr>
        <p:spPr>
          <a:xfrm>
            <a:off x="3702050" y="4006850"/>
            <a:ext cx="2171446" cy="7112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1DC"/>
                </a:solidFill>
                <a:latin typeface="IBM Plex Sans" pitchFamily="34" charset="0"/>
                <a:ea typeface="IBM Plex Sans" pitchFamily="34" charset="-122"/>
                <a:cs typeface="IBM Plex Sans" pitchFamily="34" charset="-120"/>
              </a:rPr>
              <a:t>Named items get an owner and a date; the baseline freezes when they close.</a:t>
            </a:r>
            <a:endParaRPr lang="en-US" sz="1300" dirty="0"/>
          </a:p>
        </p:txBody>
      </p:sp>
      <p:sp>
        <p:nvSpPr>
          <p:cNvPr id="10" name="Shape 8"/>
          <p:cNvSpPr/>
          <p:nvPr/>
        </p:nvSpPr>
        <p:spPr>
          <a:xfrm>
            <a:off x="6175375" y="3495675"/>
            <a:ext cx="2520950" cy="1631950"/>
          </a:xfrm>
          <a:prstGeom prst="roundRect">
            <a:avLst>
              <a:gd name="adj" fmla="val 4475"/>
            </a:avLst>
          </a:prstGeom>
          <a:noFill/>
          <a:ln w="6350">
            <a:solidFill>
              <a:srgbClr val="3E4F6A"/>
            </a:solidFill>
            <a:prstDash val="solid"/>
          </a:ln>
        </p:spPr>
      </p:sp>
      <p:sp>
        <p:nvSpPr>
          <p:cNvPr id="11" name="Text 9"/>
          <p:cNvSpPr/>
          <p:nvPr/>
        </p:nvSpPr>
        <p:spPr>
          <a:xfrm>
            <a:off x="6381750" y="3702050"/>
            <a:ext cx="217144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E39A5B"/>
                </a:solidFill>
                <a:latin typeface="IBM Plex Sans" pitchFamily="34" charset="0"/>
                <a:ea typeface="IBM Plex Sans" pitchFamily="34" charset="-122"/>
                <a:cs typeface="IBM Plex Sans" pitchFamily="34" charset="-120"/>
              </a:rPr>
              <a:t>Hold</a:t>
            </a:r>
            <a:endParaRPr lang="en-US" sz="1500" dirty="0"/>
          </a:p>
        </p:txBody>
      </p:sp>
      <p:sp>
        <p:nvSpPr>
          <p:cNvPr id="12" name="Text 10"/>
          <p:cNvSpPr/>
          <p:nvPr/>
        </p:nvSpPr>
        <p:spPr>
          <a:xfrm>
            <a:off x="6381750" y="4006850"/>
            <a:ext cx="2171446" cy="9398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1DC"/>
                </a:solidFill>
                <a:latin typeface="IBM Plex Sans" pitchFamily="34" charset="0"/>
                <a:ea typeface="IBM Plex Sans" pitchFamily="34" charset="-122"/>
                <a:cs typeface="IBM Plex Sans" pitchFamily="34" charset="-120"/>
              </a:rPr>
              <a:t>A decision in this room cannot be made today; we return on [date] with the same baseline.</a:t>
            </a:r>
            <a:endParaRPr lang="en-US" sz="1300" dirty="0"/>
          </a:p>
        </p:txBody>
      </p:sp>
      <p:sp>
        <p:nvSpPr>
          <p:cNvPr id="13" name="Shape 11"/>
          <p:cNvSpPr/>
          <p:nvPr/>
        </p:nvSpPr>
        <p:spPr>
          <a:xfrm>
            <a:off x="8855075" y="3495675"/>
            <a:ext cx="2520950" cy="1631950"/>
          </a:xfrm>
          <a:prstGeom prst="roundRect">
            <a:avLst>
              <a:gd name="adj" fmla="val 4475"/>
            </a:avLst>
          </a:prstGeom>
          <a:noFill/>
          <a:ln w="6350">
            <a:solidFill>
              <a:srgbClr val="3E4F6A"/>
            </a:solidFill>
            <a:prstDash val="solid"/>
          </a:ln>
        </p:spPr>
      </p:sp>
      <p:sp>
        <p:nvSpPr>
          <p:cNvPr id="14" name="Text 12"/>
          <p:cNvSpPr/>
          <p:nvPr/>
        </p:nvSpPr>
        <p:spPr>
          <a:xfrm>
            <a:off x="9061450" y="3702050"/>
            <a:ext cx="217144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E39A5B"/>
                </a:solidFill>
                <a:latin typeface="IBM Plex Sans" pitchFamily="34" charset="0"/>
                <a:ea typeface="IBM Plex Sans" pitchFamily="34" charset="-122"/>
                <a:cs typeface="IBM Plex Sans" pitchFamily="34" charset="-120"/>
              </a:rPr>
              <a:t>Recycle</a:t>
            </a:r>
            <a:endParaRPr lang="en-US" sz="1500" dirty="0"/>
          </a:p>
        </p:txBody>
      </p:sp>
      <p:sp>
        <p:nvSpPr>
          <p:cNvPr id="15" name="Text 13"/>
          <p:cNvSpPr/>
          <p:nvPr/>
        </p:nvSpPr>
        <p:spPr>
          <a:xfrm>
            <a:off x="9061450" y="4006850"/>
            <a:ext cx="2171446" cy="7112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1DC"/>
                </a:solidFill>
                <a:latin typeface="IBM Plex Sans" pitchFamily="34" charset="0"/>
                <a:ea typeface="IBM Plex Sans" pitchFamily="34" charset="-122"/>
                <a:cs typeface="IBM Plex Sans" pitchFamily="34" charset="-120"/>
              </a:rPr>
              <a:t>The baseline needs rework; we revise the register and resubmit.</a:t>
            </a:r>
            <a:endParaRPr lang="en-US" sz="1300" dirty="0"/>
          </a:p>
        </p:txBody>
      </p:sp>
      <p:sp>
        <p:nvSpPr>
          <p:cNvPr id="16" name="Text 14"/>
          <p:cNvSpPr/>
          <p:nvPr/>
        </p:nvSpPr>
        <p:spPr>
          <a:xfrm>
            <a:off x="812800" y="5384800"/>
            <a:ext cx="6154304" cy="48260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7F6F2"/>
                </a:solidFill>
                <a:latin typeface="IBM Plex Sans" pitchFamily="34" charset="0"/>
                <a:ea typeface="IBM Plex Sans" pitchFamily="34" charset="-122"/>
                <a:cs typeface="IBM Plex Sans" pitchFamily="34" charset="-120"/>
              </a:rPr>
              <a:t>Next gate · definition:</a:t>
            </a:r>
            <a:r>
              <a:rPr lang="en-US" sz="1300" dirty="0">
                <a:solidFill>
                  <a:srgbClr val="C9D1DC"/>
                </a:solidFill>
                <a:latin typeface="IBM Plex Sans" pitchFamily="34" charset="0"/>
                <a:ea typeface="IBM Plex Sans" pitchFamily="34" charset="-122"/>
                <a:cs typeface="IBM Plex Sans" pitchFamily="34" charset="-120"/>
              </a:rPr>
              <a:t> R11 and R02 rule definitions, detailed design for the task record, refined estimates. Target [date].</a:t>
            </a:r>
            <a:endParaRPr lang="en-US" sz="1300" dirty="0"/>
          </a:p>
        </p:txBody>
      </p:sp>
      <p:sp>
        <p:nvSpPr>
          <p:cNvPr id="17" name="Text 15"/>
          <p:cNvSpPr/>
          <p:nvPr/>
        </p:nvSpPr>
        <p:spPr>
          <a:xfrm>
            <a:off x="7092652" y="5384800"/>
            <a:ext cx="4415144" cy="48260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7F6F2"/>
                </a:solidFill>
                <a:latin typeface="IBM Plex Sans" pitchFamily="34" charset="0"/>
                <a:ea typeface="IBM Plex Sans" pitchFamily="34" charset="-122"/>
                <a:cs typeface="IBM Plex Sans" pitchFamily="34" charset="-120"/>
              </a:rPr>
              <a:t>Change authority of record:</a:t>
            </a:r>
            <a:r>
              <a:rPr lang="en-US" sz="1300" dirty="0">
                <a:solidFill>
                  <a:srgbClr val="C9D1DC"/>
                </a:solidFill>
                <a:latin typeface="IBM Plex Sans" pitchFamily="34" charset="0"/>
                <a:ea typeface="IBM Plex Sans" pitchFamily="34" charset="-122"/>
                <a:cs typeface="IBM Plex Sans" pitchFamily="34" charset="-120"/>
              </a:rPr>
              <a:t> [name, role]. Baseline: requirements register v1.0, [date].</a:t>
            </a:r>
            <a:endParaRPr lang="en-US" sz="1300" dirty="0"/>
          </a:p>
        </p:txBody>
      </p:sp>
      <p:sp>
        <p:nvSpPr>
          <p:cNvPr id="18" name="Text 16"/>
          <p:cNvSpPr/>
          <p:nvPr/>
        </p:nvSpPr>
        <p:spPr>
          <a:xfrm>
            <a:off x="11196241" y="6242050"/>
            <a:ext cx="233759"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3AF"/>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spc="100" kern="0" dirty="0">
                <a:solidFill>
                  <a:srgbClr val="C8702A"/>
                </a:solidFill>
                <a:latin typeface="IBM Plex Sans" pitchFamily="34" charset="0"/>
                <a:ea typeface="IBM Plex Sans" pitchFamily="34" charset="-122"/>
                <a:cs typeface="IBM Plex Sans" pitchFamily="34" charset="-120"/>
              </a:rPr>
              <a:t>APPENDIX A · BASELINE DETAIL</a:t>
            </a:r>
            <a:endParaRPr lang="en-US" sz="1500" dirty="0"/>
          </a:p>
        </p:txBody>
      </p:sp>
      <p:sp>
        <p:nvSpPr>
          <p:cNvPr id="3" name="Text 1"/>
          <p:cNvSpPr/>
          <p:nvPr>
            <p:ph type="title"/>
          </p:nvPr>
        </p:nvSpPr>
        <p:spPr>
          <a:xfrm>
            <a:off x="812800" y="1282700"/>
            <a:ext cx="10883392" cy="431800"/>
          </a:xfrm>
          <a:prstGeom prst="rect">
            <a:avLst/>
          </a:prstGeom>
          <a:noFill/>
          <a:ln/>
        </p:spPr>
        <p:txBody>
          <a:bodyPr wrap="square" lIns="0" tIns="0" rIns="0" bIns="0" rtlCol="0" anchor="t">
            <a:normAutofit/>
          </a:bodyPr>
          <a:lstStyle/>
          <a:p>
            <a:pPr algn="l" indent="0" marL="0">
              <a:lnSpc>
                <a:spcPts val="3220"/>
              </a:lnSpc>
              <a:buNone/>
            </a:pPr>
            <a:r>
              <a:rPr lang="en-US" sz="2800" b="0" i="0" dirty="0">
                <a:solidFill>
                  <a:srgbClr val="1B2A41"/>
                </a:solidFill>
                <a:latin typeface="Source Serif 4" pitchFamily="18" charset="0"/>
                <a:ea typeface="Source Serif 4" pitchFamily="18" charset="-122"/>
                <a:cs typeface="Source Serif 4" pitchFamily="18" charset="-120"/>
              </a:rPr>
              <a:t>Supplier experience and SOW: what is in and what is out</a:t>
            </a:r>
            <a:endParaRPr lang="en-US" sz="2800" dirty="0"/>
          </a:p>
        </p:txBody>
      </p:sp>
      <p:sp>
        <p:nvSpPr>
          <p:cNvPr id="4" name="Shape 2"/>
          <p:cNvSpPr/>
          <p:nvPr/>
        </p:nvSpPr>
        <p:spPr>
          <a:xfrm>
            <a:off x="812800" y="1892300"/>
            <a:ext cx="10566400" cy="3132931"/>
          </a:xfrm>
          <a:prstGeom prst="rect">
            <a:avLst/>
          </a:prstGeom>
          <a:solidFill>
            <a:srgbClr val="FFFFFF"/>
          </a:solidFill>
          <a:ln/>
        </p:spPr>
      </p:sp>
      <p:sp>
        <p:nvSpPr>
          <p:cNvPr id="5" name="Shape 3"/>
          <p:cNvSpPr/>
          <p:nvPr/>
        </p:nvSpPr>
        <p:spPr>
          <a:xfrm>
            <a:off x="11376025" y="1892300"/>
            <a:ext cx="0" cy="3132931"/>
          </a:xfrm>
          <a:prstGeom prst="line">
            <a:avLst/>
          </a:prstGeom>
          <a:noFill/>
          <a:ln w="6350">
            <a:solidFill>
              <a:srgbClr val="DCD9D0"/>
            </a:solidFill>
            <a:prstDash val="solid"/>
          </a:ln>
        </p:spPr>
      </p:sp>
      <p:sp>
        <p:nvSpPr>
          <p:cNvPr id="6" name="Shape 4"/>
          <p:cNvSpPr/>
          <p:nvPr/>
        </p:nvSpPr>
        <p:spPr>
          <a:xfrm>
            <a:off x="812800" y="5022056"/>
            <a:ext cx="10566400" cy="0"/>
          </a:xfrm>
          <a:prstGeom prst="line">
            <a:avLst/>
          </a:prstGeom>
          <a:noFill/>
          <a:ln w="6350">
            <a:solidFill>
              <a:srgbClr val="DCD9D0"/>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1905000"/>
          <a:ext cx="10547350" cy="3113881"/>
        </p:xfrm>
        <a:graphic>
          <a:graphicData uri="http://schemas.openxmlformats.org/drawingml/2006/table">
            <a:tbl>
              <a:tblPr/>
              <a:tblGrid>
                <a:gridCol w="2320417"/>
                <a:gridCol w="4218940"/>
                <a:gridCol w="4007993"/>
              </a:tblGrid>
              <a:tr h="388541">
                <a:tc>
                  <a:txBody>
                    <a:bodyPr/>
                    <a:lstStyle/>
                    <a:p>
                      <a:pPr indent="0" marL="0">
                        <a:lnSpc>
                          <a:spcPts val="1680"/>
                        </a:lnSpc>
                        <a:buNone/>
                      </a:pPr>
                      <a:r>
                        <a:rPr lang="en-US" sz="1200" b="1" dirty="0">
                          <a:solidFill>
                            <a:srgbClr val="F7F6F2"/>
                          </a:solidFill>
                          <a:latin typeface="IBM Plex Sans" pitchFamily="34" charset="0"/>
                          <a:ea typeface="IBM Plex Sans" pitchFamily="34" charset="-122"/>
                          <a:cs typeface="IBM Plex Sans" pitchFamily="34" charset="-120"/>
                        </a:rPr>
                        <a:t>Element</a:t>
                      </a:r>
                      <a:endParaRPr lang="en-US" sz="1200" dirty="0">
                        <a:latin typeface="IBM Plex Sans" charset="0"/>
                        <a:ea typeface="IBM Plex Sans" charset="0"/>
                        <a:cs typeface="IBM Plex Sans" charset="0"/>
                      </a:endParaRPr>
                    </a:p>
                  </a:txBody>
                  <a:tcPr marL="88900" marR="88900" marT="88900" marB="88900" anchor="t">
                    <a:lnL w="12700" cap="flat" cmpd="sng" algn="ctr">
                      <a:solidFill>
                        <a:srgbClr val="CBCBCB"/>
                      </a:solidFill>
                      <a:prstDash val="solid"/>
                      <a:round/>
                      <a:headEnd type="none" w="med" len="med"/>
                      <a:tailEnd type="none" w="med" len="med"/>
                    </a:lnL>
                    <a:lnR w="12700" cap="flat" cmpd="sng" algn="ctr">
                      <a:solidFill>
                        <a:srgbClr val="19253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92537"/>
                      </a:solidFill>
                      <a:prstDash val="solid"/>
                      <a:round/>
                      <a:headEnd type="none" w="med" len="med"/>
                      <a:tailEnd type="none" w="med" len="med"/>
                    </a:lnB>
                    <a:solidFill>
                      <a:srgbClr val="1B2A41"/>
                    </a:solidFill>
                  </a:tcPr>
                </a:tc>
                <a:tc>
                  <a:txBody>
                    <a:bodyPr/>
                    <a:lstStyle/>
                    <a:p>
                      <a:pPr indent="0" marL="0">
                        <a:lnSpc>
                          <a:spcPts val="1680"/>
                        </a:lnSpc>
                        <a:buNone/>
                      </a:pPr>
                      <a:r>
                        <a:rPr lang="en-US" sz="1200" b="1" dirty="0">
                          <a:solidFill>
                            <a:srgbClr val="F7F6F2"/>
                          </a:solidFill>
                          <a:latin typeface="IBM Plex Sans" pitchFamily="34" charset="0"/>
                          <a:ea typeface="IBM Plex Sans" pitchFamily="34" charset="-122"/>
                          <a:cs typeface="IBM Plex Sans" pitchFamily="34" charset="-120"/>
                        </a:rPr>
                        <a:t>In scope</a:t>
                      </a:r>
                      <a:endParaRPr lang="en-US" sz="1200" dirty="0">
                        <a:latin typeface="IBM Plex Sans" charset="0"/>
                        <a:ea typeface="IBM Plex Sans" charset="0"/>
                        <a:cs typeface="IBM Plex Sans" charset="0"/>
                      </a:endParaRPr>
                    </a:p>
                  </a:txBody>
                  <a:tcPr marL="88900" marR="88900" marT="88900" marB="88900" anchor="t">
                    <a:lnL w="12700" cap="flat" cmpd="sng" algn="ctr">
                      <a:solidFill>
                        <a:srgbClr val="192537"/>
                      </a:solidFill>
                      <a:prstDash val="solid"/>
                      <a:round/>
                      <a:headEnd type="none" w="med" len="med"/>
                      <a:tailEnd type="none" w="med" len="med"/>
                    </a:lnL>
                    <a:lnR w="12700" cap="flat" cmpd="sng" algn="ctr">
                      <a:solidFill>
                        <a:srgbClr val="19253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92537"/>
                      </a:solidFill>
                      <a:prstDash val="solid"/>
                      <a:round/>
                      <a:headEnd type="none" w="med" len="med"/>
                      <a:tailEnd type="none" w="med" len="med"/>
                    </a:lnB>
                    <a:solidFill>
                      <a:srgbClr val="1B2A41"/>
                    </a:solidFill>
                  </a:tcPr>
                </a:tc>
                <a:tc>
                  <a:txBody>
                    <a:bodyPr/>
                    <a:lstStyle/>
                    <a:p>
                      <a:pPr indent="0" marL="0">
                        <a:lnSpc>
                          <a:spcPts val="1680"/>
                        </a:lnSpc>
                        <a:buNone/>
                      </a:pPr>
                      <a:r>
                        <a:rPr lang="en-US" sz="1200" b="1" dirty="0">
                          <a:solidFill>
                            <a:srgbClr val="F7F6F2"/>
                          </a:solidFill>
                          <a:latin typeface="IBM Plex Sans" pitchFamily="34" charset="0"/>
                          <a:ea typeface="IBM Plex Sans" pitchFamily="34" charset="-122"/>
                          <a:cs typeface="IBM Plex Sans" pitchFamily="34" charset="-120"/>
                        </a:rPr>
                        <a:t>Out of scope</a:t>
                      </a:r>
                      <a:endParaRPr lang="en-US" sz="1200" dirty="0">
                        <a:latin typeface="IBM Plex Sans" charset="0"/>
                        <a:ea typeface="IBM Plex Sans" charset="0"/>
                        <a:cs typeface="IBM Plex Sans" charset="0"/>
                      </a:endParaRPr>
                    </a:p>
                  </a:txBody>
                  <a:tcPr marL="88900" marR="88900" marT="88900" marB="88900" anchor="t">
                    <a:lnL w="12700" cap="flat" cmpd="sng" algn="ctr">
                      <a:solidFill>
                        <a:srgbClr val="192537"/>
                      </a:solidFill>
                      <a:prstDash val="solid"/>
                      <a:round/>
                      <a:headEnd type="none" w="med" len="med"/>
                      <a:tailEnd type="none" w="med" len="med"/>
                    </a:lnL>
                    <a:lnR w="12700" cap="flat" cmpd="sng" algn="ctr">
                      <a:solidFill>
                        <a:srgbClr val="19253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92537"/>
                      </a:solidFill>
                      <a:prstDash val="solid"/>
                      <a:round/>
                      <a:headEnd type="none" w="med" len="med"/>
                      <a:tailEnd type="none" w="med" len="med"/>
                    </a:lnB>
                    <a:solidFill>
                      <a:srgbClr val="1B2A41"/>
                    </a:solidFill>
                  </a:tcPr>
                </a:tc>
              </a:tr>
              <a:tr h="388541">
                <a:tc>
                  <a:txBody>
                    <a:bodyPr/>
                    <a:lstStyle/>
                    <a:p>
                      <a:pPr indent="0" marL="0">
                        <a:lnSpc>
                          <a:spcPts val="1680"/>
                        </a:lnSpc>
                        <a:buNone/>
                      </a:pPr>
                      <a:r>
                        <a:rPr lang="en-US" sz="1200" dirty="0">
                          <a:solidFill>
                            <a:srgbClr val="1B2A41"/>
                          </a:solidFill>
                          <a:latin typeface="IBM Plex Sans" pitchFamily="34" charset="0"/>
                          <a:ea typeface="IBM Plex Sans" pitchFamily="34" charset="-122"/>
                          <a:cs typeface="IBM Plex Sans" pitchFamily="34" charset="-120"/>
                        </a:rPr>
                        <a:t>R01 Master data upload</a:t>
                      </a:r>
                      <a:endParaRPr lang="en-US" sz="1200" dirty="0">
                        <a:latin typeface="IBM Plex Sans" charset="0"/>
                        <a:ea typeface="IBM Plex Sans" charset="0"/>
                        <a:cs typeface="IBM Plex Sans" charset="0"/>
                      </a:endParaRPr>
                    </a:p>
                  </a:txBody>
                  <a:tcPr marL="88900" marR="889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9253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Secure upload via the portal; storage; analyst access</a:t>
                      </a:r>
                      <a:endParaRPr lang="en-US" sz="1200" dirty="0">
                        <a:latin typeface="IBM Plex Sans" charset="0"/>
                        <a:ea typeface="IBM Plex Sans" charset="0"/>
                        <a:cs typeface="IBM Plex Sans" charset="0"/>
                      </a:endParaRPr>
                    </a:p>
                  </a:txBody>
                  <a:tcPr marL="88900" marR="889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9253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Validating the file; downstream use (pending D1)</a:t>
                      </a:r>
                      <a:endParaRPr lang="en-US" sz="1200" dirty="0">
                        <a:latin typeface="IBM Plex Sans" charset="0"/>
                        <a:ea typeface="IBM Plex Sans" charset="0"/>
                        <a:cs typeface="IBM Plex Sans" charset="0"/>
                      </a:endParaRPr>
                    </a:p>
                  </a:txBody>
                  <a:tcPr marL="88900" marR="889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9253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84200">
                <a:tc>
                  <a:txBody>
                    <a:bodyPr/>
                    <a:lstStyle/>
                    <a:p>
                      <a:pPr indent="0" marL="0">
                        <a:lnSpc>
                          <a:spcPts val="1680"/>
                        </a:lnSpc>
                        <a:buNone/>
                      </a:pPr>
                      <a:r>
                        <a:rPr lang="en-US" sz="1200" dirty="0">
                          <a:solidFill>
                            <a:srgbClr val="1B2A41"/>
                          </a:solidFill>
                          <a:latin typeface="IBM Plex Sans" pitchFamily="34" charset="0"/>
                          <a:ea typeface="IBM Plex Sans" pitchFamily="34" charset="-122"/>
                          <a:cs typeface="IBM Plex Sans" pitchFamily="34" charset="-120"/>
                        </a:rPr>
                        <a:t>R02 Rate calculator</a:t>
                      </a:r>
                      <a:endParaRPr lang="en-US" sz="1200" dirty="0">
                        <a:latin typeface="IBM Plex Sans" charset="0"/>
                        <a:ea typeface="IBM Plex Sans" charset="0"/>
                        <a:cs typeface="IBM Plex Sans" charset="0"/>
                      </a:endParaRPr>
                    </a:p>
                  </a:txBody>
                  <a:tcPr marL="88900" marR="88900" marT="88900" marB="88900" anchor="t">
                    <a:lnL w="12700" cap="flat" cmpd="sng" algn="ctr">
                      <a:solidFill>
                        <a:srgbClr val="CBCBCB"/>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Calculator in the supplier form; supplier‑facing messages; override handling; rules captured as configuration</a:t>
                      </a:r>
                      <a:endParaRPr lang="en-US" sz="1200" dirty="0">
                        <a:latin typeface="IBM Plex Sans" charset="0"/>
                        <a:ea typeface="IBM Plex Sans" charset="0"/>
                        <a:cs typeface="IBM Plex Sans" charset="0"/>
                      </a:endParaRPr>
                    </a:p>
                  </a:txBody>
                  <a:tcPr marL="88900" marR="88900" marT="88900" marB="8890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Analyst review of calculated rates; validation of submitted rates; changing the rules</a:t>
                      </a:r>
                      <a:endParaRPr lang="en-US" sz="1200" dirty="0">
                        <a:latin typeface="IBM Plex Sans" charset="0"/>
                        <a:ea typeface="IBM Plex Sans" charset="0"/>
                        <a:cs typeface="IBM Plex Sans" charset="0"/>
                      </a:endParaRPr>
                    </a:p>
                  </a:txBody>
                  <a:tcPr marL="88900" marR="88900" marT="88900" marB="8890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r>
              <a:tr h="584200">
                <a:tc>
                  <a:txBody>
                    <a:bodyPr/>
                    <a:lstStyle/>
                    <a:p>
                      <a:pPr indent="0" marL="0">
                        <a:lnSpc>
                          <a:spcPts val="1680"/>
                        </a:lnSpc>
                        <a:buNone/>
                      </a:pPr>
                      <a:r>
                        <a:rPr lang="en-US" sz="1200" dirty="0">
                          <a:solidFill>
                            <a:srgbClr val="1B2A41"/>
                          </a:solidFill>
                          <a:latin typeface="IBM Plex Sans" pitchFamily="34" charset="0"/>
                          <a:ea typeface="IBM Plex Sans" pitchFamily="34" charset="-122"/>
                          <a:cs typeface="IBM Plex Sans" pitchFamily="34" charset="-120"/>
                        </a:rPr>
                        <a:t>R03 In‑flight changes</a:t>
                      </a:r>
                      <a:endParaRPr lang="en-US" sz="1200" dirty="0">
                        <a:latin typeface="IBM Plex Sans" charset="0"/>
                        <a:ea typeface="IBM Plex Sans" charset="0"/>
                        <a:cs typeface="IBM Plex Sans" charset="0"/>
                      </a:endParaRPr>
                    </a:p>
                  </a:txBody>
                  <a:tcPr marL="88900" marR="889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Supplier edit request; edit history with attribution; analyst notification</a:t>
                      </a:r>
                      <a:endParaRPr lang="en-US" sz="1200" dirty="0">
                        <a:latin typeface="IBM Plex Sans" charset="0"/>
                        <a:ea typeface="IBM Plex Sans" charset="0"/>
                        <a:cs typeface="IBM Plex Sans" charset="0"/>
                      </a:endParaRPr>
                    </a:p>
                  </a:txBody>
                  <a:tcPr marL="88900" marR="889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Analyst edits on a supplier’s behalf; edits after close</a:t>
                      </a:r>
                      <a:endParaRPr lang="en-US" sz="1200" dirty="0">
                        <a:latin typeface="IBM Plex Sans" charset="0"/>
                        <a:ea typeface="IBM Plex Sans" charset="0"/>
                        <a:cs typeface="IBM Plex Sans" charset="0"/>
                      </a:endParaRPr>
                    </a:p>
                  </a:txBody>
                  <a:tcPr marL="88900" marR="889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84200">
                <a:tc>
                  <a:txBody>
                    <a:bodyPr/>
                    <a:lstStyle/>
                    <a:p>
                      <a:pPr indent="0" marL="0">
                        <a:lnSpc>
                          <a:spcPts val="1680"/>
                        </a:lnSpc>
                        <a:buNone/>
                      </a:pPr>
                      <a:r>
                        <a:rPr lang="en-US" sz="1200" dirty="0">
                          <a:solidFill>
                            <a:srgbClr val="1B2A41"/>
                          </a:solidFill>
                          <a:latin typeface="IBM Plex Sans" pitchFamily="34" charset="0"/>
                          <a:ea typeface="IBM Plex Sans" pitchFamily="34" charset="-122"/>
                          <a:cs typeface="IBM Plex Sans" pitchFamily="34" charset="-120"/>
                        </a:rPr>
                        <a:t>R04 Flag for review</a:t>
                      </a:r>
                      <a:endParaRPr lang="en-US" sz="1200" dirty="0">
                        <a:latin typeface="IBM Plex Sans" charset="0"/>
                        <a:ea typeface="IBM Plex Sans" charset="0"/>
                        <a:cs typeface="IBM Plex Sans" charset="0"/>
                      </a:endParaRPr>
                    </a:p>
                  </a:txBody>
                  <a:tcPr marL="88900" marR="88900" marT="88900" marB="88900" anchor="t">
                    <a:lnL w="12700" cap="flat" cmpd="sng" algn="ctr">
                      <a:solidFill>
                        <a:srgbClr val="CBCBCB"/>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Submission‑level flag; immediate analyst task; bypass of rework loop</a:t>
                      </a:r>
                      <a:endParaRPr lang="en-US" sz="1200" dirty="0">
                        <a:latin typeface="IBM Plex Sans" charset="0"/>
                        <a:ea typeface="IBM Plex Sans" charset="0"/>
                        <a:cs typeface="IBM Plex Sans" charset="0"/>
                      </a:endParaRPr>
                    </a:p>
                  </a:txBody>
                  <a:tcPr marL="88900" marR="88900" marT="88900" marB="8890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Field‑level flags; partial validation</a:t>
                      </a:r>
                      <a:endParaRPr lang="en-US" sz="1200" dirty="0">
                        <a:latin typeface="IBM Plex Sans" charset="0"/>
                        <a:ea typeface="IBM Plex Sans" charset="0"/>
                        <a:cs typeface="IBM Plex Sans" charset="0"/>
                      </a:endParaRPr>
                    </a:p>
                  </a:txBody>
                  <a:tcPr marL="88900" marR="88900" marT="88900" marB="8890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r>
              <a:tr h="584200">
                <a:tc>
                  <a:txBody>
                    <a:bodyPr/>
                    <a:lstStyle/>
                    <a:p>
                      <a:pPr indent="0" marL="0">
                        <a:lnSpc>
                          <a:spcPts val="1680"/>
                        </a:lnSpc>
                        <a:buNone/>
                      </a:pPr>
                      <a:r>
                        <a:rPr lang="en-US" sz="1200" dirty="0">
                          <a:solidFill>
                            <a:srgbClr val="1B2A41"/>
                          </a:solidFill>
                          <a:latin typeface="IBM Plex Sans" pitchFamily="34" charset="0"/>
                          <a:ea typeface="IBM Plex Sans" pitchFamily="34" charset="-122"/>
                          <a:cs typeface="IBM Plex Sans" pitchFamily="34" charset="-120"/>
                        </a:rPr>
                        <a:t>R11 SOW support</a:t>
                      </a:r>
                      <a:endParaRPr lang="en-US" sz="1200" dirty="0">
                        <a:latin typeface="IBM Plex Sans" charset="0"/>
                        <a:ea typeface="IBM Plex Sans" charset="0"/>
                        <a:cs typeface="IBM Plex Sans" charset="0"/>
                      </a:endParaRPr>
                    </a:p>
                  </a:txBody>
                  <a:tcPr marL="88900" marR="889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Subject to definition; one SOW implementation end to end is the success test</a:t>
                      </a:r>
                      <a:endParaRPr lang="en-US" sz="1200" dirty="0">
                        <a:latin typeface="IBM Plex Sans" charset="0"/>
                        <a:ea typeface="IBM Plex Sans" charset="0"/>
                        <a:cs typeface="IBM Plex Sans" charset="0"/>
                      </a:endParaRPr>
                    </a:p>
                  </a:txBody>
                  <a:tcPr marL="88900" marR="889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Subject to definition</a:t>
                      </a:r>
                      <a:endParaRPr lang="en-US" sz="1200" dirty="0">
                        <a:latin typeface="IBM Plex Sans" charset="0"/>
                        <a:ea typeface="IBM Plex Sans" charset="0"/>
                        <a:cs typeface="IBM Plex Sans" charset="0"/>
                      </a:endParaRPr>
                    </a:p>
                  </a:txBody>
                  <a:tcPr marL="88900" marR="889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8" name="Text 5"/>
          <p:cNvSpPr/>
          <p:nvPr/>
        </p:nvSpPr>
        <p:spPr>
          <a:xfrm>
            <a:off x="812800" y="5228431"/>
            <a:ext cx="113792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Full definitions, dependencies, and open questions are in the requirements register, baseline v1.0. Changes after approval are recorded in its change log.</a:t>
            </a:r>
            <a:endParaRPr lang="en-US" sz="1200" dirty="0"/>
          </a:p>
        </p:txBody>
      </p:sp>
      <p:sp>
        <p:nvSpPr>
          <p:cNvPr id="9" name="Text 6"/>
          <p:cNvSpPr/>
          <p:nvPr/>
        </p:nvSpPr>
        <p:spPr>
          <a:xfrm>
            <a:off x="11189990" y="6242050"/>
            <a:ext cx="24001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A1</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spc="100" kern="0" dirty="0">
                <a:solidFill>
                  <a:srgbClr val="C8702A"/>
                </a:solidFill>
                <a:latin typeface="IBM Plex Sans" pitchFamily="34" charset="0"/>
                <a:ea typeface="IBM Plex Sans" pitchFamily="34" charset="-122"/>
                <a:cs typeface="IBM Plex Sans" pitchFamily="34" charset="-120"/>
              </a:rPr>
              <a:t>APPENDIX B · BASELINE DETAIL</a:t>
            </a:r>
            <a:endParaRPr lang="en-US" sz="1500" dirty="0"/>
          </a:p>
        </p:txBody>
      </p:sp>
      <p:sp>
        <p:nvSpPr>
          <p:cNvPr id="3" name="Text 1"/>
          <p:cNvSpPr/>
          <p:nvPr>
            <p:ph type="title"/>
          </p:nvPr>
        </p:nvSpPr>
        <p:spPr>
          <a:xfrm>
            <a:off x="812800" y="1282700"/>
            <a:ext cx="10883392" cy="431800"/>
          </a:xfrm>
          <a:prstGeom prst="rect">
            <a:avLst/>
          </a:prstGeom>
          <a:noFill/>
          <a:ln/>
        </p:spPr>
        <p:txBody>
          <a:bodyPr wrap="square" lIns="0" tIns="0" rIns="0" bIns="0" rtlCol="0" anchor="t">
            <a:normAutofit/>
          </a:bodyPr>
          <a:lstStyle/>
          <a:p>
            <a:pPr algn="l" indent="0" marL="0">
              <a:lnSpc>
                <a:spcPts val="3220"/>
              </a:lnSpc>
              <a:buNone/>
            </a:pPr>
            <a:r>
              <a:rPr lang="en-US" sz="2800" b="0" i="0" dirty="0">
                <a:solidFill>
                  <a:srgbClr val="1B2A41"/>
                </a:solidFill>
                <a:latin typeface="Source Serif 4" pitchFamily="18" charset="0"/>
                <a:ea typeface="Source Serif 4" pitchFamily="18" charset="-122"/>
                <a:cs typeface="Source Serif 4" pitchFamily="18" charset="-120"/>
              </a:rPr>
              <a:t>Analyst experience and platform: what is in and what is out</a:t>
            </a:r>
            <a:endParaRPr lang="en-US" sz="2800" dirty="0"/>
          </a:p>
        </p:txBody>
      </p:sp>
      <p:sp>
        <p:nvSpPr>
          <p:cNvPr id="4" name="Shape 2"/>
          <p:cNvSpPr/>
          <p:nvPr/>
        </p:nvSpPr>
        <p:spPr>
          <a:xfrm>
            <a:off x="812800" y="1892300"/>
            <a:ext cx="10566400" cy="3718322"/>
          </a:xfrm>
          <a:prstGeom prst="rect">
            <a:avLst/>
          </a:prstGeom>
          <a:solidFill>
            <a:srgbClr val="FFFFFF"/>
          </a:solidFill>
          <a:ln/>
        </p:spPr>
      </p:sp>
      <p:sp>
        <p:nvSpPr>
          <p:cNvPr id="5" name="Shape 3"/>
          <p:cNvSpPr/>
          <p:nvPr/>
        </p:nvSpPr>
        <p:spPr>
          <a:xfrm>
            <a:off x="11376025" y="1892300"/>
            <a:ext cx="0" cy="3718322"/>
          </a:xfrm>
          <a:prstGeom prst="line">
            <a:avLst/>
          </a:prstGeom>
          <a:noFill/>
          <a:ln w="6350">
            <a:solidFill>
              <a:srgbClr val="DCD9D0"/>
            </a:solidFill>
            <a:prstDash val="solid"/>
          </a:ln>
        </p:spPr>
      </p:sp>
      <p:sp>
        <p:nvSpPr>
          <p:cNvPr id="6" name="Shape 4"/>
          <p:cNvSpPr/>
          <p:nvPr/>
        </p:nvSpPr>
        <p:spPr>
          <a:xfrm>
            <a:off x="812800" y="5607447"/>
            <a:ext cx="10566400" cy="0"/>
          </a:xfrm>
          <a:prstGeom prst="line">
            <a:avLst/>
          </a:prstGeom>
          <a:noFill/>
          <a:ln w="6350">
            <a:solidFill>
              <a:srgbClr val="DCD9D0"/>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1905000"/>
          <a:ext cx="10547350" cy="3699272"/>
        </p:xfrm>
        <a:graphic>
          <a:graphicData uri="http://schemas.openxmlformats.org/drawingml/2006/table">
            <a:tbl>
              <a:tblPr/>
              <a:tblGrid>
                <a:gridCol w="2320417"/>
                <a:gridCol w="4218940"/>
                <a:gridCol w="4007993"/>
              </a:tblGrid>
              <a:tr h="388541">
                <a:tc>
                  <a:txBody>
                    <a:bodyPr/>
                    <a:lstStyle/>
                    <a:p>
                      <a:pPr indent="0" marL="0">
                        <a:lnSpc>
                          <a:spcPts val="1680"/>
                        </a:lnSpc>
                        <a:buNone/>
                      </a:pPr>
                      <a:r>
                        <a:rPr lang="en-US" sz="1200" b="1" dirty="0">
                          <a:solidFill>
                            <a:srgbClr val="F7F6F2"/>
                          </a:solidFill>
                          <a:latin typeface="IBM Plex Sans" pitchFamily="34" charset="0"/>
                          <a:ea typeface="IBM Plex Sans" pitchFamily="34" charset="-122"/>
                          <a:cs typeface="IBM Plex Sans" pitchFamily="34" charset="-120"/>
                        </a:rPr>
                        <a:t>Element</a:t>
                      </a:r>
                      <a:endParaRPr lang="en-US" sz="1200" dirty="0">
                        <a:latin typeface="IBM Plex Sans" charset="0"/>
                        <a:ea typeface="IBM Plex Sans" charset="0"/>
                        <a:cs typeface="IBM Plex Sans" charset="0"/>
                      </a:endParaRPr>
                    </a:p>
                  </a:txBody>
                  <a:tcPr marL="88900" marR="88900" marT="88900" marB="88900" anchor="t">
                    <a:lnL w="12700" cap="flat" cmpd="sng" algn="ctr">
                      <a:solidFill>
                        <a:srgbClr val="CBCBCB"/>
                      </a:solidFill>
                      <a:prstDash val="solid"/>
                      <a:round/>
                      <a:headEnd type="none" w="med" len="med"/>
                      <a:tailEnd type="none" w="med" len="med"/>
                    </a:lnL>
                    <a:lnR w="12700" cap="flat" cmpd="sng" algn="ctr">
                      <a:solidFill>
                        <a:srgbClr val="19253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92537"/>
                      </a:solidFill>
                      <a:prstDash val="solid"/>
                      <a:round/>
                      <a:headEnd type="none" w="med" len="med"/>
                      <a:tailEnd type="none" w="med" len="med"/>
                    </a:lnB>
                    <a:solidFill>
                      <a:srgbClr val="1B2A41"/>
                    </a:solidFill>
                  </a:tcPr>
                </a:tc>
                <a:tc>
                  <a:txBody>
                    <a:bodyPr/>
                    <a:lstStyle/>
                    <a:p>
                      <a:pPr indent="0" marL="0">
                        <a:lnSpc>
                          <a:spcPts val="1680"/>
                        </a:lnSpc>
                        <a:buNone/>
                      </a:pPr>
                      <a:r>
                        <a:rPr lang="en-US" sz="1200" b="1" dirty="0">
                          <a:solidFill>
                            <a:srgbClr val="F7F6F2"/>
                          </a:solidFill>
                          <a:latin typeface="IBM Plex Sans" pitchFamily="34" charset="0"/>
                          <a:ea typeface="IBM Plex Sans" pitchFamily="34" charset="-122"/>
                          <a:cs typeface="IBM Plex Sans" pitchFamily="34" charset="-120"/>
                        </a:rPr>
                        <a:t>In scope</a:t>
                      </a:r>
                      <a:endParaRPr lang="en-US" sz="1200" dirty="0">
                        <a:latin typeface="IBM Plex Sans" charset="0"/>
                        <a:ea typeface="IBM Plex Sans" charset="0"/>
                        <a:cs typeface="IBM Plex Sans" charset="0"/>
                      </a:endParaRPr>
                    </a:p>
                  </a:txBody>
                  <a:tcPr marL="88900" marR="88900" marT="88900" marB="88900" anchor="t">
                    <a:lnL w="12700" cap="flat" cmpd="sng" algn="ctr">
                      <a:solidFill>
                        <a:srgbClr val="192537"/>
                      </a:solidFill>
                      <a:prstDash val="solid"/>
                      <a:round/>
                      <a:headEnd type="none" w="med" len="med"/>
                      <a:tailEnd type="none" w="med" len="med"/>
                    </a:lnL>
                    <a:lnR w="12700" cap="flat" cmpd="sng" algn="ctr">
                      <a:solidFill>
                        <a:srgbClr val="19253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92537"/>
                      </a:solidFill>
                      <a:prstDash val="solid"/>
                      <a:round/>
                      <a:headEnd type="none" w="med" len="med"/>
                      <a:tailEnd type="none" w="med" len="med"/>
                    </a:lnB>
                    <a:solidFill>
                      <a:srgbClr val="1B2A41"/>
                    </a:solidFill>
                  </a:tcPr>
                </a:tc>
                <a:tc>
                  <a:txBody>
                    <a:bodyPr/>
                    <a:lstStyle/>
                    <a:p>
                      <a:pPr indent="0" marL="0">
                        <a:lnSpc>
                          <a:spcPts val="1680"/>
                        </a:lnSpc>
                        <a:buNone/>
                      </a:pPr>
                      <a:r>
                        <a:rPr lang="en-US" sz="1200" b="1" dirty="0">
                          <a:solidFill>
                            <a:srgbClr val="F7F6F2"/>
                          </a:solidFill>
                          <a:latin typeface="IBM Plex Sans" pitchFamily="34" charset="0"/>
                          <a:ea typeface="IBM Plex Sans" pitchFamily="34" charset="-122"/>
                          <a:cs typeface="IBM Plex Sans" pitchFamily="34" charset="-120"/>
                        </a:rPr>
                        <a:t>Out of scope</a:t>
                      </a:r>
                      <a:endParaRPr lang="en-US" sz="1200" dirty="0">
                        <a:latin typeface="IBM Plex Sans" charset="0"/>
                        <a:ea typeface="IBM Plex Sans" charset="0"/>
                        <a:cs typeface="IBM Plex Sans" charset="0"/>
                      </a:endParaRPr>
                    </a:p>
                  </a:txBody>
                  <a:tcPr marL="88900" marR="88900" marT="88900" marB="88900" anchor="t">
                    <a:lnL w="12700" cap="flat" cmpd="sng" algn="ctr">
                      <a:solidFill>
                        <a:srgbClr val="192537"/>
                      </a:solidFill>
                      <a:prstDash val="solid"/>
                      <a:round/>
                      <a:headEnd type="none" w="med" len="med"/>
                      <a:tailEnd type="none" w="med" len="med"/>
                    </a:lnL>
                    <a:lnR w="12700" cap="flat" cmpd="sng" algn="ctr">
                      <a:solidFill>
                        <a:srgbClr val="19253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92537"/>
                      </a:solidFill>
                      <a:prstDash val="solid"/>
                      <a:round/>
                      <a:headEnd type="none" w="med" len="med"/>
                      <a:tailEnd type="none" w="med" len="med"/>
                    </a:lnB>
                    <a:solidFill>
                      <a:srgbClr val="1B2A41"/>
                    </a:solidFill>
                  </a:tcPr>
                </a:tc>
              </a:tr>
              <a:tr h="781050">
                <a:tc>
                  <a:txBody>
                    <a:bodyPr/>
                    <a:lstStyle/>
                    <a:p>
                      <a:pPr indent="0" marL="0">
                        <a:lnSpc>
                          <a:spcPts val="1680"/>
                        </a:lnSpc>
                        <a:buNone/>
                      </a:pPr>
                      <a:r>
                        <a:rPr lang="en-US" sz="1200" dirty="0">
                          <a:solidFill>
                            <a:srgbClr val="1B2A41"/>
                          </a:solidFill>
                          <a:latin typeface="IBM Plex Sans" pitchFamily="34" charset="0"/>
                          <a:ea typeface="IBM Plex Sans" pitchFamily="34" charset="-122"/>
                          <a:cs typeface="IBM Plex Sans" pitchFamily="34" charset="-120"/>
                        </a:rPr>
                        <a:t>R05 Template modifications</a:t>
                      </a:r>
                      <a:endParaRPr lang="en-US" sz="1200" dirty="0">
                        <a:latin typeface="IBM Plex Sans" charset="0"/>
                        <a:ea typeface="IBM Plex Sans" charset="0"/>
                        <a:cs typeface="IBM Plex Sans" charset="0"/>
                      </a:endParaRPr>
                    </a:p>
                  </a:txBody>
                  <a:tcPr marL="88900" marR="889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9253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Task record with versions, ownership and history (reused by R03, R11); push a new version; unsubmitted suppliers see it; submitted suppliers reassigned with deltas</a:t>
                      </a:r>
                      <a:endParaRPr lang="en-US" sz="1200" dirty="0">
                        <a:latin typeface="IBM Plex Sans" charset="0"/>
                        <a:ea typeface="IBM Plex Sans" charset="0"/>
                        <a:cs typeface="IBM Plex Sans" charset="0"/>
                      </a:endParaRPr>
                    </a:p>
                  </a:txBody>
                  <a:tcPr marL="88900" marR="889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9253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Automatic migration of submitted data without supplier review</a:t>
                      </a:r>
                      <a:endParaRPr lang="en-US" sz="1200" dirty="0">
                        <a:latin typeface="IBM Plex Sans" charset="0"/>
                        <a:ea typeface="IBM Plex Sans" charset="0"/>
                        <a:cs typeface="IBM Plex Sans" charset="0"/>
                      </a:endParaRPr>
                    </a:p>
                  </a:txBody>
                  <a:tcPr marL="88900" marR="889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9253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84200">
                <a:tc>
                  <a:txBody>
                    <a:bodyPr/>
                    <a:lstStyle/>
                    <a:p>
                      <a:pPr indent="0" marL="0">
                        <a:lnSpc>
                          <a:spcPts val="1680"/>
                        </a:lnSpc>
                        <a:buNone/>
                      </a:pPr>
                      <a:r>
                        <a:rPr lang="en-US" sz="1200" dirty="0">
                          <a:solidFill>
                            <a:srgbClr val="1B2A41"/>
                          </a:solidFill>
                          <a:latin typeface="IBM Plex Sans" pitchFamily="34" charset="0"/>
                          <a:ea typeface="IBM Plex Sans" pitchFamily="34" charset="-122"/>
                          <a:cs typeface="IBM Plex Sans" pitchFamily="34" charset="-120"/>
                        </a:rPr>
                        <a:t>R06 Configuration web app</a:t>
                      </a:r>
                      <a:endParaRPr lang="en-US" sz="1200" dirty="0">
                        <a:latin typeface="IBM Plex Sans" charset="0"/>
                        <a:ea typeface="IBM Plex Sans" charset="0"/>
                        <a:cs typeface="IBM Plex Sans" charset="0"/>
                      </a:endParaRPr>
                    </a:p>
                  </a:txBody>
                  <a:tcPr marL="88900" marR="88900" marT="88900" marB="88900" anchor="t">
                    <a:lnL w="12700" cap="flat" cmpd="sng" algn="ctr">
                      <a:solidFill>
                        <a:srgbClr val="CBCBCB"/>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Web pages for the configuration steps chosen under D3, at parity with the workbook</a:t>
                      </a:r>
                      <a:endParaRPr lang="en-US" sz="1200" dirty="0">
                        <a:latin typeface="IBM Plex Sans" charset="0"/>
                        <a:ea typeface="IBM Plex Sans" charset="0"/>
                        <a:cs typeface="IBM Plex Sans" charset="0"/>
                      </a:endParaRPr>
                    </a:p>
                  </a:txBody>
                  <a:tcPr marL="88900" marR="88900" marT="88900" marB="8890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Supplier form changes; steps not chosen for this phase</a:t>
                      </a:r>
                      <a:endParaRPr lang="en-US" sz="1200" dirty="0">
                        <a:latin typeface="IBM Plex Sans" charset="0"/>
                        <a:ea typeface="IBM Plex Sans" charset="0"/>
                        <a:cs typeface="IBM Plex Sans" charset="0"/>
                      </a:endParaRPr>
                    </a:p>
                  </a:txBody>
                  <a:tcPr marL="88900" marR="88900" marT="88900" marB="8890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r>
              <a:tr h="388541">
                <a:tc>
                  <a:txBody>
                    <a:bodyPr/>
                    <a:lstStyle/>
                    <a:p>
                      <a:pPr indent="0" marL="0">
                        <a:lnSpc>
                          <a:spcPts val="1680"/>
                        </a:lnSpc>
                        <a:buNone/>
                      </a:pPr>
                      <a:r>
                        <a:rPr lang="en-US" sz="1200" dirty="0">
                          <a:solidFill>
                            <a:srgbClr val="1B2A41"/>
                          </a:solidFill>
                          <a:latin typeface="IBM Plex Sans" pitchFamily="34" charset="0"/>
                          <a:ea typeface="IBM Plex Sans" pitchFamily="34" charset="-122"/>
                          <a:cs typeface="IBM Plex Sans" pitchFamily="34" charset="-120"/>
                        </a:rPr>
                        <a:t>R07 Analyst training</a:t>
                      </a:r>
                      <a:endParaRPr lang="en-US" sz="1200" dirty="0">
                        <a:latin typeface="IBM Plex Sans" charset="0"/>
                        <a:ea typeface="IBM Plex Sans" charset="0"/>
                        <a:cs typeface="IBM Plex Sans" charset="0"/>
                      </a:endParaRPr>
                    </a:p>
                  </a:txBody>
                  <a:tcPr marL="88900" marR="889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Training before go‑live of each analyst‑facing element</a:t>
                      </a:r>
                      <a:endParaRPr lang="en-US" sz="1200" dirty="0">
                        <a:latin typeface="IBM Plex Sans" charset="0"/>
                        <a:ea typeface="IBM Plex Sans" charset="0"/>
                        <a:cs typeface="IBM Plex Sans" charset="0"/>
                      </a:endParaRPr>
                    </a:p>
                  </a:txBody>
                  <a:tcPr marL="88900" marR="889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Supplier training (covered by in‑portal messages)</a:t>
                      </a:r>
                      <a:endParaRPr lang="en-US" sz="1200" dirty="0">
                        <a:latin typeface="IBM Plex Sans" charset="0"/>
                        <a:ea typeface="IBM Plex Sans" charset="0"/>
                        <a:cs typeface="IBM Plex Sans" charset="0"/>
                      </a:endParaRPr>
                    </a:p>
                  </a:txBody>
                  <a:tcPr marL="88900" marR="889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8541">
                <a:tc>
                  <a:txBody>
                    <a:bodyPr/>
                    <a:lstStyle/>
                    <a:p>
                      <a:pPr indent="0" marL="0">
                        <a:lnSpc>
                          <a:spcPts val="1680"/>
                        </a:lnSpc>
                        <a:buNone/>
                      </a:pPr>
                      <a:r>
                        <a:rPr lang="en-US" sz="1200" dirty="0">
                          <a:solidFill>
                            <a:srgbClr val="1B2A41"/>
                          </a:solidFill>
                          <a:latin typeface="IBM Plex Sans" pitchFamily="34" charset="0"/>
                          <a:ea typeface="IBM Plex Sans" pitchFamily="34" charset="-122"/>
                          <a:cs typeface="IBM Plex Sans" pitchFamily="34" charset="-120"/>
                        </a:rPr>
                        <a:t>R08 Error review in context</a:t>
                      </a:r>
                      <a:endParaRPr lang="en-US" sz="1200" dirty="0">
                        <a:latin typeface="IBM Plex Sans" charset="0"/>
                        <a:ea typeface="IBM Plex Sans" charset="0"/>
                        <a:cs typeface="IBM Plex Sans" charset="0"/>
                      </a:endParaRPr>
                    </a:p>
                  </a:txBody>
                  <a:tcPr marL="88900" marR="88900" marT="88900" marB="88900" anchor="t">
                    <a:lnL w="12700" cap="flat" cmpd="sng" algn="ctr">
                      <a:solidFill>
                        <a:srgbClr val="CBCBCB"/>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Failures shown in the submitted‑data shape</a:t>
                      </a:r>
                      <a:endParaRPr lang="en-US" sz="1200" dirty="0">
                        <a:latin typeface="IBM Plex Sans" charset="0"/>
                        <a:ea typeface="IBM Plex Sans" charset="0"/>
                        <a:cs typeface="IBM Plex Sans" charset="0"/>
                      </a:endParaRPr>
                    </a:p>
                  </a:txBody>
                  <a:tcPr marL="88900" marR="88900" marT="88900" marB="8890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Changes to validation rules</a:t>
                      </a:r>
                      <a:endParaRPr lang="en-US" sz="1200" dirty="0">
                        <a:latin typeface="IBM Plex Sans" charset="0"/>
                        <a:ea typeface="IBM Plex Sans" charset="0"/>
                        <a:cs typeface="IBM Plex Sans" charset="0"/>
                      </a:endParaRPr>
                    </a:p>
                  </a:txBody>
                  <a:tcPr marL="88900" marR="88900" marT="88900" marB="8890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r>
              <a:tr h="584200">
                <a:tc>
                  <a:txBody>
                    <a:bodyPr/>
                    <a:lstStyle/>
                    <a:p>
                      <a:pPr indent="0" marL="0">
                        <a:lnSpc>
                          <a:spcPts val="1680"/>
                        </a:lnSpc>
                        <a:buNone/>
                      </a:pPr>
                      <a:r>
                        <a:rPr lang="en-US" sz="1200" dirty="0">
                          <a:solidFill>
                            <a:srgbClr val="1B2A41"/>
                          </a:solidFill>
                          <a:latin typeface="IBM Plex Sans" pitchFamily="34" charset="0"/>
                          <a:ea typeface="IBM Plex Sans" pitchFamily="34" charset="-122"/>
                          <a:cs typeface="IBM Plex Sans" pitchFamily="34" charset="-120"/>
                        </a:rPr>
                        <a:t>R09 Batch add suppliers</a:t>
                      </a:r>
                      <a:endParaRPr lang="en-US" sz="1200" dirty="0">
                        <a:latin typeface="IBM Plex Sans" charset="0"/>
                        <a:ea typeface="IBM Plex Sans" charset="0"/>
                        <a:cs typeface="IBM Plex Sans" charset="0"/>
                      </a:endParaRPr>
                    </a:p>
                  </a:txBody>
                  <a:tcPr marL="88900" marR="889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Add several suppliers to a started implementation via the portal</a:t>
                      </a:r>
                      <a:endParaRPr lang="en-US" sz="1200" dirty="0">
                        <a:latin typeface="IBM Plex Sans" charset="0"/>
                        <a:ea typeface="IBM Plex Sans" charset="0"/>
                        <a:cs typeface="IBM Plex Sans" charset="0"/>
                      </a:endParaRPr>
                    </a:p>
                  </a:txBody>
                  <a:tcPr marL="88900" marR="889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Removing suppliers; reassigning suppliers</a:t>
                      </a:r>
                      <a:endParaRPr lang="en-US" sz="1200" dirty="0">
                        <a:latin typeface="IBM Plex Sans" charset="0"/>
                        <a:ea typeface="IBM Plex Sans" charset="0"/>
                        <a:cs typeface="IBM Plex Sans" charset="0"/>
                      </a:endParaRPr>
                    </a:p>
                  </a:txBody>
                  <a:tcPr marL="88900" marR="889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84200">
                <a:tc>
                  <a:txBody>
                    <a:bodyPr/>
                    <a:lstStyle/>
                    <a:p>
                      <a:pPr indent="0" marL="0">
                        <a:lnSpc>
                          <a:spcPts val="1680"/>
                        </a:lnSpc>
                        <a:buNone/>
                      </a:pPr>
                      <a:r>
                        <a:rPr lang="en-US" sz="1200" dirty="0">
                          <a:solidFill>
                            <a:srgbClr val="1B2A41"/>
                          </a:solidFill>
                          <a:latin typeface="IBM Plex Sans" pitchFamily="34" charset="0"/>
                          <a:ea typeface="IBM Plex Sans" pitchFamily="34" charset="-122"/>
                          <a:cs typeface="IBM Plex Sans" pitchFamily="34" charset="-120"/>
                        </a:rPr>
                        <a:t>R10 Seed‑data validation</a:t>
                      </a:r>
                      <a:endParaRPr lang="en-US" sz="1200" dirty="0">
                        <a:latin typeface="IBM Plex Sans" charset="0"/>
                        <a:ea typeface="IBM Plex Sans" charset="0"/>
                        <a:cs typeface="IBM Plex Sans" charset="0"/>
                      </a:endParaRPr>
                    </a:p>
                  </a:txBody>
                  <a:tcPr marL="88900" marR="88900" marT="88900" marB="88900" anchor="t">
                    <a:lnL w="12700" cap="flat" cmpd="sng" algn="ctr">
                      <a:solidFill>
                        <a:srgbClr val="CBCBCB"/>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Validate seed data against configuration on load; report to the analyst</a:t>
                      </a:r>
                      <a:endParaRPr lang="en-US" sz="1200" dirty="0">
                        <a:latin typeface="IBM Plex Sans" charset="0"/>
                        <a:ea typeface="IBM Plex Sans" charset="0"/>
                        <a:cs typeface="IBM Plex Sans" charset="0"/>
                      </a:endParaRPr>
                    </a:p>
                  </a:txBody>
                  <a:tcPr marL="88900" marR="88900" marT="88900" marB="8890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Automatic correction</a:t>
                      </a:r>
                      <a:endParaRPr lang="en-US" sz="1200" dirty="0">
                        <a:latin typeface="IBM Plex Sans" charset="0"/>
                        <a:ea typeface="IBM Plex Sans" charset="0"/>
                        <a:cs typeface="IBM Plex Sans" charset="0"/>
                      </a:endParaRPr>
                    </a:p>
                  </a:txBody>
                  <a:tcPr marL="88900" marR="88900" marT="88900" marB="8890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r>
            </a:tbl>
          </a:graphicData>
        </a:graphic>
      </p:graphicFrame>
      <p:sp>
        <p:nvSpPr>
          <p:cNvPr id="8" name="Text 5"/>
          <p:cNvSpPr/>
          <p:nvPr/>
        </p:nvSpPr>
        <p:spPr>
          <a:xfrm>
            <a:off x="11189990" y="6242050"/>
            <a:ext cx="24001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A2</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79598"/>
          </a:xfrm>
          <a:prstGeom prst="rect">
            <a:avLst/>
          </a:prstGeom>
          <a:noFill/>
          <a:ln/>
        </p:spPr>
        <p:txBody>
          <a:bodyPr wrap="square" lIns="0" tIns="0" rIns="0" bIns="0" rtlCol="0" anchor="t">
            <a:normAutofit/>
          </a:bodyPr>
          <a:lstStyle/>
          <a:p>
            <a:pPr algn="l" indent="0" marL="0">
              <a:lnSpc>
                <a:spcPts val="2047"/>
              </a:lnSpc>
              <a:buNone/>
            </a:pPr>
            <a:r>
              <a:rPr lang="en-US" sz="1463" spc="100" kern="0" dirty="0">
                <a:solidFill>
                  <a:srgbClr val="C8702A"/>
                </a:solidFill>
                <a:latin typeface="IBM Plex Sans" pitchFamily="34" charset="0"/>
                <a:ea typeface="IBM Plex Sans" pitchFamily="34" charset="-122"/>
                <a:cs typeface="IBM Plex Sans" pitchFamily="34" charset="-120"/>
              </a:rPr>
              <a:t>APPENDIX C · STAGE PLAN</a:t>
            </a:r>
            <a:endParaRPr lang="en-US" sz="1463" dirty="0"/>
          </a:p>
        </p:txBody>
      </p:sp>
      <p:sp>
        <p:nvSpPr>
          <p:cNvPr id="3" name="Text 1"/>
          <p:cNvSpPr/>
          <p:nvPr>
            <p:ph type="title"/>
          </p:nvPr>
        </p:nvSpPr>
        <p:spPr>
          <a:xfrm>
            <a:off x="812800" y="1270198"/>
            <a:ext cx="10883392" cy="800001"/>
          </a:xfrm>
          <a:prstGeom prst="rect">
            <a:avLst/>
          </a:prstGeom>
          <a:noFill/>
          <a:ln/>
        </p:spPr>
        <p:txBody>
          <a:bodyPr wrap="square" lIns="0" tIns="0" rIns="0" bIns="0" rtlCol="0" anchor="t">
            <a:normAutofit/>
          </a:bodyPr>
          <a:lstStyle/>
          <a:p>
            <a:pPr algn="l" indent="0" marL="0">
              <a:lnSpc>
                <a:spcPts val="3099"/>
              </a:lnSpc>
              <a:buNone/>
            </a:pPr>
            <a:r>
              <a:rPr lang="en-US" sz="2695" b="0" i="0" dirty="0">
                <a:solidFill>
                  <a:srgbClr val="1B2A41"/>
                </a:solidFill>
                <a:latin typeface="Source Serif 4" pitchFamily="18" charset="0"/>
                <a:ea typeface="Source Serif 4" pitchFamily="18" charset="-122"/>
                <a:cs typeface="Source Serif 4" pitchFamily="18" charset="-120"/>
              </a:rPr>
              <a:t>Four stages, each closed by a gate with written exit criteria; status is reported monthly between gates.</a:t>
            </a:r>
            <a:endParaRPr lang="en-US" sz="2695" dirty="0"/>
          </a:p>
        </p:txBody>
      </p:sp>
      <p:sp>
        <p:nvSpPr>
          <p:cNvPr id="4" name="Shape 2"/>
          <p:cNvSpPr/>
          <p:nvPr/>
        </p:nvSpPr>
        <p:spPr>
          <a:xfrm>
            <a:off x="812800" y="2247999"/>
            <a:ext cx="10566400" cy="2991445"/>
          </a:xfrm>
          <a:prstGeom prst="rect">
            <a:avLst/>
          </a:prstGeom>
          <a:solidFill>
            <a:srgbClr val="FFFFFF"/>
          </a:solidFill>
          <a:ln/>
        </p:spPr>
      </p:sp>
      <p:sp>
        <p:nvSpPr>
          <p:cNvPr id="5" name="Shape 3"/>
          <p:cNvSpPr/>
          <p:nvPr/>
        </p:nvSpPr>
        <p:spPr>
          <a:xfrm>
            <a:off x="11376025" y="2247999"/>
            <a:ext cx="0" cy="2991445"/>
          </a:xfrm>
          <a:prstGeom prst="line">
            <a:avLst/>
          </a:prstGeom>
          <a:noFill/>
          <a:ln w="6350">
            <a:solidFill>
              <a:srgbClr val="DCD9D0"/>
            </a:solidFill>
            <a:prstDash val="solid"/>
          </a:ln>
        </p:spPr>
      </p:sp>
      <p:sp>
        <p:nvSpPr>
          <p:cNvPr id="6" name="Shape 4"/>
          <p:cNvSpPr/>
          <p:nvPr/>
        </p:nvSpPr>
        <p:spPr>
          <a:xfrm>
            <a:off x="812800" y="5236270"/>
            <a:ext cx="10566400" cy="0"/>
          </a:xfrm>
          <a:prstGeom prst="line">
            <a:avLst/>
          </a:prstGeom>
          <a:noFill/>
          <a:ln w="6350">
            <a:solidFill>
              <a:srgbClr val="DCD9D0"/>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2260699"/>
          <a:ext cx="10547350" cy="2971998"/>
        </p:xfrm>
        <a:graphic>
          <a:graphicData uri="http://schemas.openxmlformats.org/drawingml/2006/table">
            <a:tbl>
              <a:tblPr/>
              <a:tblGrid>
                <a:gridCol w="1687576"/>
                <a:gridCol w="3164205"/>
                <a:gridCol w="1898523"/>
                <a:gridCol w="3797046"/>
              </a:tblGrid>
              <a:tr h="405408">
                <a:tc>
                  <a:txBody>
                    <a:bodyPr/>
                    <a:lstStyle/>
                    <a:p>
                      <a:pPr indent="0" marL="0">
                        <a:lnSpc>
                          <a:spcPts val="1633"/>
                        </a:lnSpc>
                        <a:buNone/>
                      </a:pPr>
                      <a:r>
                        <a:rPr lang="en-US" sz="1166" b="1" dirty="0">
                          <a:solidFill>
                            <a:srgbClr val="F7F6F2"/>
                          </a:solidFill>
                          <a:latin typeface="IBM Plex Sans" pitchFamily="34" charset="0"/>
                          <a:ea typeface="IBM Plex Sans" pitchFamily="34" charset="-122"/>
                          <a:cs typeface="IBM Plex Sans" pitchFamily="34" charset="-120"/>
                        </a:rPr>
                        <a:t>Stage</a:t>
                      </a:r>
                      <a:endParaRPr lang="en-US" sz="1166" dirty="0">
                        <a:latin typeface="IBM Plex Sans" charset="0"/>
                        <a:ea typeface="IBM Plex Sans" charset="0"/>
                        <a:cs typeface="IBM Plex Sans" charset="0"/>
                      </a:endParaRPr>
                    </a:p>
                  </a:txBody>
                  <a:tcPr marL="88900" marR="88900" marT="88900" marB="88900" anchor="t">
                    <a:lnL w="12700" cap="flat" cmpd="sng" algn="ctr">
                      <a:solidFill>
                        <a:srgbClr val="CBCBCB"/>
                      </a:solidFill>
                      <a:prstDash val="solid"/>
                      <a:round/>
                      <a:headEnd type="none" w="med" len="med"/>
                      <a:tailEnd type="none" w="med" len="med"/>
                    </a:lnL>
                    <a:lnR w="12700" cap="flat" cmpd="sng" algn="ctr">
                      <a:solidFill>
                        <a:srgbClr val="19253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92537"/>
                      </a:solidFill>
                      <a:prstDash val="solid"/>
                      <a:round/>
                      <a:headEnd type="none" w="med" len="med"/>
                      <a:tailEnd type="none" w="med" len="med"/>
                    </a:lnB>
                    <a:solidFill>
                      <a:srgbClr val="1B2A41"/>
                    </a:solidFill>
                  </a:tcPr>
                </a:tc>
                <a:tc>
                  <a:txBody>
                    <a:bodyPr/>
                    <a:lstStyle/>
                    <a:p>
                      <a:pPr indent="0" marL="0">
                        <a:lnSpc>
                          <a:spcPts val="1633"/>
                        </a:lnSpc>
                        <a:buNone/>
                      </a:pPr>
                      <a:r>
                        <a:rPr lang="en-US" sz="1166" b="1" dirty="0">
                          <a:solidFill>
                            <a:srgbClr val="F7F6F2"/>
                          </a:solidFill>
                          <a:latin typeface="IBM Plex Sans" pitchFamily="34" charset="0"/>
                          <a:ea typeface="IBM Plex Sans" pitchFamily="34" charset="-122"/>
                          <a:cs typeface="IBM Plex Sans" pitchFamily="34" charset="-120"/>
                        </a:rPr>
                        <a:t>Work</a:t>
                      </a:r>
                      <a:endParaRPr lang="en-US" sz="1166" dirty="0">
                        <a:latin typeface="IBM Plex Sans" charset="0"/>
                        <a:ea typeface="IBM Plex Sans" charset="0"/>
                        <a:cs typeface="IBM Plex Sans" charset="0"/>
                      </a:endParaRPr>
                    </a:p>
                  </a:txBody>
                  <a:tcPr marL="88900" marR="88900" marT="88900" marB="88900" anchor="t">
                    <a:lnL w="12700" cap="flat" cmpd="sng" algn="ctr">
                      <a:solidFill>
                        <a:srgbClr val="192537"/>
                      </a:solidFill>
                      <a:prstDash val="solid"/>
                      <a:round/>
                      <a:headEnd type="none" w="med" len="med"/>
                      <a:tailEnd type="none" w="med" len="med"/>
                    </a:lnL>
                    <a:lnR w="12700" cap="flat" cmpd="sng" algn="ctr">
                      <a:solidFill>
                        <a:srgbClr val="19253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92537"/>
                      </a:solidFill>
                      <a:prstDash val="solid"/>
                      <a:round/>
                      <a:headEnd type="none" w="med" len="med"/>
                      <a:tailEnd type="none" w="med" len="med"/>
                    </a:lnB>
                    <a:solidFill>
                      <a:srgbClr val="1B2A41"/>
                    </a:solidFill>
                  </a:tcPr>
                </a:tc>
                <a:tc>
                  <a:txBody>
                    <a:bodyPr/>
                    <a:lstStyle/>
                    <a:p>
                      <a:pPr indent="0" marL="0">
                        <a:lnSpc>
                          <a:spcPts val="1633"/>
                        </a:lnSpc>
                        <a:buNone/>
                      </a:pPr>
                      <a:r>
                        <a:rPr lang="en-US" sz="1166" b="1" dirty="0">
                          <a:solidFill>
                            <a:srgbClr val="F7F6F2"/>
                          </a:solidFill>
                          <a:latin typeface="IBM Plex Sans" pitchFamily="34" charset="0"/>
                          <a:ea typeface="IBM Plex Sans" pitchFamily="34" charset="-122"/>
                          <a:cs typeface="IBM Plex Sans" pitchFamily="34" charset="-120"/>
                        </a:rPr>
                        <a:t>Closed by</a:t>
                      </a:r>
                      <a:endParaRPr lang="en-US" sz="1166" dirty="0">
                        <a:latin typeface="IBM Plex Sans" charset="0"/>
                        <a:ea typeface="IBM Plex Sans" charset="0"/>
                        <a:cs typeface="IBM Plex Sans" charset="0"/>
                      </a:endParaRPr>
                    </a:p>
                  </a:txBody>
                  <a:tcPr marL="88900" marR="88900" marT="88900" marB="88900" anchor="t">
                    <a:lnL w="12700" cap="flat" cmpd="sng" algn="ctr">
                      <a:solidFill>
                        <a:srgbClr val="192537"/>
                      </a:solidFill>
                      <a:prstDash val="solid"/>
                      <a:round/>
                      <a:headEnd type="none" w="med" len="med"/>
                      <a:tailEnd type="none" w="med" len="med"/>
                    </a:lnL>
                    <a:lnR w="12700" cap="flat" cmpd="sng" algn="ctr">
                      <a:solidFill>
                        <a:srgbClr val="19253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92537"/>
                      </a:solidFill>
                      <a:prstDash val="solid"/>
                      <a:round/>
                      <a:headEnd type="none" w="med" len="med"/>
                      <a:tailEnd type="none" w="med" len="med"/>
                    </a:lnB>
                    <a:solidFill>
                      <a:srgbClr val="1B2A41"/>
                    </a:solidFill>
                  </a:tcPr>
                </a:tc>
                <a:tc>
                  <a:txBody>
                    <a:bodyPr/>
                    <a:lstStyle/>
                    <a:p>
                      <a:pPr indent="0" marL="0">
                        <a:lnSpc>
                          <a:spcPts val="1633"/>
                        </a:lnSpc>
                        <a:buNone/>
                      </a:pPr>
                      <a:r>
                        <a:rPr lang="en-US" sz="1166" b="1" dirty="0">
                          <a:solidFill>
                            <a:srgbClr val="F7F6F2"/>
                          </a:solidFill>
                          <a:latin typeface="IBM Plex Sans" pitchFamily="34" charset="0"/>
                          <a:ea typeface="IBM Plex Sans" pitchFamily="34" charset="-122"/>
                          <a:cs typeface="IBM Plex Sans" pitchFamily="34" charset="-120"/>
                        </a:rPr>
                        <a:t>Exit criteria</a:t>
                      </a:r>
                      <a:endParaRPr lang="en-US" sz="1166" dirty="0">
                        <a:latin typeface="IBM Plex Sans" charset="0"/>
                        <a:ea typeface="IBM Plex Sans" charset="0"/>
                        <a:cs typeface="IBM Plex Sans" charset="0"/>
                      </a:endParaRPr>
                    </a:p>
                  </a:txBody>
                  <a:tcPr marL="88900" marR="88900" marT="88900" marB="88900" anchor="t">
                    <a:lnL w="12700" cap="flat" cmpd="sng" algn="ctr">
                      <a:solidFill>
                        <a:srgbClr val="192537"/>
                      </a:solidFill>
                      <a:prstDash val="solid"/>
                      <a:round/>
                      <a:headEnd type="none" w="med" len="med"/>
                      <a:tailEnd type="none" w="med" len="med"/>
                    </a:lnL>
                    <a:lnR w="12700" cap="flat" cmpd="sng" algn="ctr">
                      <a:solidFill>
                        <a:srgbClr val="19253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92537"/>
                      </a:solidFill>
                      <a:prstDash val="solid"/>
                      <a:round/>
                      <a:headEnd type="none" w="med" len="med"/>
                      <a:tailEnd type="none" w="med" len="med"/>
                    </a:lnB>
                    <a:solidFill>
                      <a:srgbClr val="1B2A41"/>
                    </a:solidFill>
                  </a:tcPr>
                </a:tc>
              </a:tr>
              <a:tr h="594023">
                <a:tc>
                  <a:txBody>
                    <a:bodyPr/>
                    <a:lstStyle/>
                    <a:p>
                      <a:pPr indent="0" marL="0">
                        <a:lnSpc>
                          <a:spcPts val="1633"/>
                        </a:lnSpc>
                        <a:buNone/>
                      </a:pPr>
                      <a:r>
                        <a:rPr lang="en-US" sz="1166" dirty="0">
                          <a:solidFill>
                            <a:srgbClr val="1B2A41"/>
                          </a:solidFill>
                          <a:latin typeface="IBM Plex Sans" pitchFamily="34" charset="0"/>
                          <a:ea typeface="IBM Plex Sans" pitchFamily="34" charset="-122"/>
                          <a:cs typeface="IBM Plex Sans" pitchFamily="34" charset="-120"/>
                        </a:rPr>
                        <a:t>Scope · today</a:t>
                      </a:r>
                      <a:endParaRPr lang="en-US" sz="1166" dirty="0">
                        <a:latin typeface="IBM Plex Sans" charset="0"/>
                        <a:ea typeface="IBM Plex Sans" charset="0"/>
                        <a:cs typeface="IBM Plex Sans" charset="0"/>
                      </a:endParaRPr>
                    </a:p>
                  </a:txBody>
                  <a:tcPr marL="88900" marR="889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9253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3"/>
                        </a:lnSpc>
                        <a:buNone/>
                      </a:pPr>
                      <a:r>
                        <a:rPr lang="en-US" sz="1166" dirty="0">
                          <a:solidFill>
                            <a:srgbClr val="4A5568"/>
                          </a:solidFill>
                          <a:latin typeface="IBM Plex Sans" pitchFamily="34" charset="0"/>
                          <a:ea typeface="IBM Plex Sans" pitchFamily="34" charset="-122"/>
                          <a:cs typeface="IBM Plex Sans" pitchFamily="34" charset="-120"/>
                        </a:rPr>
                        <a:t>Requirements register, done‑when tests, functionality changes, system‑change map</a:t>
                      </a:r>
                      <a:endParaRPr lang="en-US" sz="1166" dirty="0">
                        <a:latin typeface="IBM Plex Sans" charset="0"/>
                        <a:ea typeface="IBM Plex Sans" charset="0"/>
                        <a:cs typeface="IBM Plex Sans" charset="0"/>
                      </a:endParaRPr>
                    </a:p>
                  </a:txBody>
                  <a:tcPr marL="88900" marR="889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9253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3"/>
                        </a:lnSpc>
                        <a:buNone/>
                      </a:pPr>
                      <a:r>
                        <a:rPr lang="en-US" sz="1166" dirty="0">
                          <a:solidFill>
                            <a:srgbClr val="4A5568"/>
                          </a:solidFill>
                          <a:latin typeface="IBM Plex Sans" pitchFamily="34" charset="0"/>
                          <a:ea typeface="IBM Plex Sans" pitchFamily="34" charset="-122"/>
                          <a:cs typeface="IBM Plex Sans" pitchFamily="34" charset="-120"/>
                        </a:rPr>
                        <a:t>Scope gate</a:t>
                      </a:r>
                      <a:endParaRPr lang="en-US" sz="1166" dirty="0">
                        <a:latin typeface="IBM Plex Sans" charset="0"/>
                        <a:ea typeface="IBM Plex Sans" charset="0"/>
                        <a:cs typeface="IBM Plex Sans" charset="0"/>
                      </a:endParaRPr>
                    </a:p>
                  </a:txBody>
                  <a:tcPr marL="88900" marR="889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9253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3"/>
                        </a:lnSpc>
                        <a:buNone/>
                      </a:pPr>
                      <a:r>
                        <a:rPr lang="en-US" sz="1166" dirty="0">
                          <a:solidFill>
                            <a:srgbClr val="4A5568"/>
                          </a:solidFill>
                          <a:latin typeface="IBM Plex Sans" pitchFamily="34" charset="0"/>
                          <a:ea typeface="IBM Plex Sans" pitchFamily="34" charset="-122"/>
                          <a:cs typeface="IBM Plex Sans" pitchFamily="34" charset="-120"/>
                        </a:rPr>
                        <a:t>Baseline v1.0 approved; D1–D3 answered; change authority named</a:t>
                      </a:r>
                      <a:endParaRPr lang="en-US" sz="1166" dirty="0">
                        <a:latin typeface="IBM Plex Sans" charset="0"/>
                        <a:ea typeface="IBM Plex Sans" charset="0"/>
                        <a:cs typeface="IBM Plex Sans" charset="0"/>
                      </a:endParaRPr>
                    </a:p>
                  </a:txBody>
                  <a:tcPr marL="88900" marR="889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9253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784523">
                <a:tc>
                  <a:txBody>
                    <a:bodyPr/>
                    <a:lstStyle/>
                    <a:p>
                      <a:pPr indent="0" marL="0">
                        <a:lnSpc>
                          <a:spcPts val="1633"/>
                        </a:lnSpc>
                        <a:buNone/>
                      </a:pPr>
                      <a:r>
                        <a:rPr lang="en-US" sz="1166" dirty="0">
                          <a:solidFill>
                            <a:srgbClr val="1B2A41"/>
                          </a:solidFill>
                          <a:latin typeface="IBM Plex Sans" pitchFamily="34" charset="0"/>
                          <a:ea typeface="IBM Plex Sans" pitchFamily="34" charset="-122"/>
                          <a:cs typeface="IBM Plex Sans" pitchFamily="34" charset="-120"/>
                        </a:rPr>
                        <a:t>Definition · month 1</a:t>
                      </a:r>
                      <a:endParaRPr lang="en-US" sz="1166" dirty="0">
                        <a:latin typeface="IBM Plex Sans" charset="0"/>
                        <a:ea typeface="IBM Plex Sans" charset="0"/>
                        <a:cs typeface="IBM Plex Sans" charset="0"/>
                      </a:endParaRPr>
                    </a:p>
                  </a:txBody>
                  <a:tcPr marL="88900" marR="88900" marT="88900" marB="88900" anchor="t">
                    <a:lnL w="12700" cap="flat" cmpd="sng" algn="ctr">
                      <a:solidFill>
                        <a:srgbClr val="CBCBCB"/>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633"/>
                        </a:lnSpc>
                        <a:buNone/>
                      </a:pPr>
                      <a:r>
                        <a:rPr lang="en-US" sz="1166" dirty="0">
                          <a:solidFill>
                            <a:srgbClr val="4A5568"/>
                          </a:solidFill>
                          <a:latin typeface="IBM Plex Sans" pitchFamily="34" charset="0"/>
                          <a:ea typeface="IBM Plex Sans" pitchFamily="34" charset="-122"/>
                          <a:cs typeface="IBM Plex Sans" pitchFamily="34" charset="-120"/>
                        </a:rPr>
                        <a:t>R11 and R02 rule definitions with SMEs; detailed design of the task record; quick wins R08–R10 built in parallel</a:t>
                      </a:r>
                      <a:endParaRPr lang="en-US" sz="1166" dirty="0">
                        <a:latin typeface="IBM Plex Sans" charset="0"/>
                        <a:ea typeface="IBM Plex Sans" charset="0"/>
                        <a:cs typeface="IBM Plex Sans" charset="0"/>
                      </a:endParaRPr>
                    </a:p>
                  </a:txBody>
                  <a:tcPr marL="88900" marR="88900" marT="88900" marB="8890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633"/>
                        </a:lnSpc>
                        <a:buNone/>
                      </a:pPr>
                      <a:r>
                        <a:rPr lang="en-US" sz="1166" dirty="0">
                          <a:solidFill>
                            <a:srgbClr val="4A5568"/>
                          </a:solidFill>
                          <a:latin typeface="IBM Plex Sans" pitchFamily="34" charset="0"/>
                          <a:ea typeface="IBM Plex Sans" pitchFamily="34" charset="-122"/>
                          <a:cs typeface="IBM Plex Sans" pitchFamily="34" charset="-120"/>
                        </a:rPr>
                        <a:t>Definition gate · [date]</a:t>
                      </a:r>
                      <a:endParaRPr lang="en-US" sz="1166" dirty="0">
                        <a:latin typeface="IBM Plex Sans" charset="0"/>
                        <a:ea typeface="IBM Plex Sans" charset="0"/>
                        <a:cs typeface="IBM Plex Sans" charset="0"/>
                      </a:endParaRPr>
                    </a:p>
                  </a:txBody>
                  <a:tcPr marL="88900" marR="88900" marT="88900" marB="8890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633"/>
                        </a:lnSpc>
                        <a:buNone/>
                      </a:pPr>
                      <a:r>
                        <a:rPr lang="en-US" sz="1166" dirty="0">
                          <a:solidFill>
                            <a:srgbClr val="4A5568"/>
                          </a:solidFill>
                          <a:latin typeface="IBM Plex Sans" pitchFamily="34" charset="0"/>
                          <a:ea typeface="IBM Plex Sans" pitchFamily="34" charset="-122"/>
                          <a:cs typeface="IBM Plex Sans" pitchFamily="34" charset="-120"/>
                        </a:rPr>
                        <a:t>R11 and R02 definitions approved into the baseline; task‑record design signed off; refined estimates</a:t>
                      </a:r>
                      <a:endParaRPr lang="en-US" sz="1166" dirty="0">
                        <a:latin typeface="IBM Plex Sans" charset="0"/>
                        <a:ea typeface="IBM Plex Sans" charset="0"/>
                        <a:cs typeface="IBM Plex Sans" charset="0"/>
                      </a:endParaRPr>
                    </a:p>
                  </a:txBody>
                  <a:tcPr marL="88900" marR="88900" marT="88900" marB="8890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r>
              <a:tr h="594023">
                <a:tc>
                  <a:txBody>
                    <a:bodyPr/>
                    <a:lstStyle/>
                    <a:p>
                      <a:pPr indent="0" marL="0">
                        <a:lnSpc>
                          <a:spcPts val="1633"/>
                        </a:lnSpc>
                        <a:buNone/>
                      </a:pPr>
                      <a:r>
                        <a:rPr lang="en-US" sz="1166" dirty="0">
                          <a:solidFill>
                            <a:srgbClr val="1B2A41"/>
                          </a:solidFill>
                          <a:latin typeface="IBM Plex Sans" pitchFamily="34" charset="0"/>
                          <a:ea typeface="IBM Plex Sans" pitchFamily="34" charset="-122"/>
                          <a:cs typeface="IBM Plex Sans" pitchFamily="34" charset="-120"/>
                        </a:rPr>
                        <a:t>Build · months 2–3</a:t>
                      </a:r>
                      <a:endParaRPr lang="en-US" sz="1166" dirty="0">
                        <a:latin typeface="IBM Plex Sans" charset="0"/>
                        <a:ea typeface="IBM Plex Sans" charset="0"/>
                        <a:cs typeface="IBM Plex Sans" charset="0"/>
                      </a:endParaRPr>
                    </a:p>
                  </a:txBody>
                  <a:tcPr marL="88900" marR="889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3"/>
                        </a:lnSpc>
                        <a:buNone/>
                      </a:pPr>
                      <a:r>
                        <a:rPr lang="en-US" sz="1166" dirty="0">
                          <a:solidFill>
                            <a:srgbClr val="4A5568"/>
                          </a:solidFill>
                          <a:latin typeface="IBM Plex Sans" pitchFamily="34" charset="0"/>
                          <a:ea typeface="IBM Plex Sans" pitchFamily="34" charset="-122"/>
                          <a:cs typeface="IBM Plex Sans" pitchFamily="34" charset="-120"/>
                        </a:rPr>
                        <a:t>R05 foundation first, then R03 and R11 on it; R06 pages per D3; R01, R02 calculator, R04</a:t>
                      </a:r>
                      <a:endParaRPr lang="en-US" sz="1166" dirty="0">
                        <a:latin typeface="IBM Plex Sans" charset="0"/>
                        <a:ea typeface="IBM Plex Sans" charset="0"/>
                        <a:cs typeface="IBM Plex Sans" charset="0"/>
                      </a:endParaRPr>
                    </a:p>
                  </a:txBody>
                  <a:tcPr marL="88900" marR="889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3"/>
                        </a:lnSpc>
                        <a:buNone/>
                      </a:pPr>
                      <a:r>
                        <a:rPr lang="en-US" sz="1166" dirty="0">
                          <a:solidFill>
                            <a:srgbClr val="4A5568"/>
                          </a:solidFill>
                          <a:latin typeface="IBM Plex Sans" pitchFamily="34" charset="0"/>
                          <a:ea typeface="IBM Plex Sans" pitchFamily="34" charset="-122"/>
                          <a:cs typeface="IBM Plex Sans" pitchFamily="34" charset="-120"/>
                        </a:rPr>
                        <a:t>Build‑complete gate · [date]</a:t>
                      </a:r>
                      <a:endParaRPr lang="en-US" sz="1166" dirty="0">
                        <a:latin typeface="IBM Plex Sans" charset="0"/>
                        <a:ea typeface="IBM Plex Sans" charset="0"/>
                        <a:cs typeface="IBM Plex Sans" charset="0"/>
                      </a:endParaRPr>
                    </a:p>
                  </a:txBody>
                  <a:tcPr marL="88900" marR="889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3"/>
                        </a:lnSpc>
                        <a:buNone/>
                      </a:pPr>
                      <a:r>
                        <a:rPr lang="en-US" sz="1166" dirty="0">
                          <a:solidFill>
                            <a:srgbClr val="4A5568"/>
                          </a:solidFill>
                          <a:latin typeface="IBM Plex Sans" pitchFamily="34" charset="0"/>
                          <a:ea typeface="IBM Plex Sans" pitchFamily="34" charset="-122"/>
                          <a:cs typeface="IBM Plex Sans" pitchFamily="34" charset="-120"/>
                        </a:rPr>
                        <a:t>Each element passes its done‑when test in the test environment; R07 training material ready</a:t>
                      </a:r>
                      <a:endParaRPr lang="en-US" sz="1166" dirty="0">
                        <a:latin typeface="IBM Plex Sans" charset="0"/>
                        <a:ea typeface="IBM Plex Sans" charset="0"/>
                        <a:cs typeface="IBM Plex Sans" charset="0"/>
                      </a:endParaRPr>
                    </a:p>
                  </a:txBody>
                  <a:tcPr marL="88900" marR="889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94023">
                <a:tc>
                  <a:txBody>
                    <a:bodyPr/>
                    <a:lstStyle/>
                    <a:p>
                      <a:pPr indent="0" marL="0">
                        <a:lnSpc>
                          <a:spcPts val="1633"/>
                        </a:lnSpc>
                        <a:buNone/>
                      </a:pPr>
                      <a:r>
                        <a:rPr lang="en-US" sz="1166" dirty="0">
                          <a:solidFill>
                            <a:srgbClr val="1B2A41"/>
                          </a:solidFill>
                          <a:latin typeface="IBM Plex Sans" pitchFamily="34" charset="0"/>
                          <a:ea typeface="IBM Plex Sans" pitchFamily="34" charset="-122"/>
                          <a:cs typeface="IBM Plex Sans" pitchFamily="34" charset="-120"/>
                        </a:rPr>
                        <a:t>Validate and deploy · month 4</a:t>
                      </a:r>
                      <a:endParaRPr lang="en-US" sz="1166" dirty="0">
                        <a:latin typeface="IBM Plex Sans" charset="0"/>
                        <a:ea typeface="IBM Plex Sans" charset="0"/>
                        <a:cs typeface="IBM Plex Sans" charset="0"/>
                      </a:endParaRPr>
                    </a:p>
                  </a:txBody>
                  <a:tcPr marL="88900" marR="88900" marT="88900" marB="88900" anchor="t">
                    <a:lnL w="12700" cap="flat" cmpd="sng" algn="ctr">
                      <a:solidFill>
                        <a:srgbClr val="CBCBCB"/>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633"/>
                        </a:lnSpc>
                        <a:buNone/>
                      </a:pPr>
                      <a:r>
                        <a:rPr lang="en-US" sz="1166" dirty="0">
                          <a:solidFill>
                            <a:srgbClr val="4A5568"/>
                          </a:solidFill>
                          <a:latin typeface="IBM Plex Sans" pitchFamily="34" charset="0"/>
                          <a:ea typeface="IBM Plex Sans" pitchFamily="34" charset="-122"/>
                          <a:cs typeface="IBM Plex Sans" pitchFamily="34" charset="-120"/>
                        </a:rPr>
                        <a:t>Analyst UAT; one SOW implementation end to end; R07 training; staged go‑live</a:t>
                      </a:r>
                      <a:endParaRPr lang="en-US" sz="1166" dirty="0">
                        <a:latin typeface="IBM Plex Sans" charset="0"/>
                        <a:ea typeface="IBM Plex Sans" charset="0"/>
                        <a:cs typeface="IBM Plex Sans" charset="0"/>
                      </a:endParaRPr>
                    </a:p>
                  </a:txBody>
                  <a:tcPr marL="88900" marR="88900" marT="88900" marB="8890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633"/>
                        </a:lnSpc>
                        <a:buNone/>
                      </a:pPr>
                      <a:r>
                        <a:rPr lang="en-US" sz="1166" dirty="0">
                          <a:solidFill>
                            <a:srgbClr val="4A5568"/>
                          </a:solidFill>
                          <a:latin typeface="IBM Plex Sans" pitchFamily="34" charset="0"/>
                          <a:ea typeface="IBM Plex Sans" pitchFamily="34" charset="-122"/>
                          <a:cs typeface="IBM Plex Sans" pitchFamily="34" charset="-120"/>
                        </a:rPr>
                        <a:t>Go‑live gate · [date]</a:t>
                      </a:r>
                      <a:endParaRPr lang="en-US" sz="1166" dirty="0">
                        <a:latin typeface="IBM Plex Sans" charset="0"/>
                        <a:ea typeface="IBM Plex Sans" charset="0"/>
                        <a:cs typeface="IBM Plex Sans" charset="0"/>
                      </a:endParaRPr>
                    </a:p>
                  </a:txBody>
                  <a:tcPr marL="88900" marR="88900" marT="88900" marB="8890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633"/>
                        </a:lnSpc>
                        <a:buNone/>
                      </a:pPr>
                      <a:r>
                        <a:rPr lang="en-US" sz="1166" dirty="0">
                          <a:solidFill>
                            <a:srgbClr val="4A5568"/>
                          </a:solidFill>
                          <a:latin typeface="IBM Plex Sans" pitchFamily="34" charset="0"/>
                          <a:ea typeface="IBM Plex Sans" pitchFamily="34" charset="-122"/>
                          <a:cs typeface="IBM Plex Sans" pitchFamily="34" charset="-120"/>
                        </a:rPr>
                        <a:t>UAT signed off; done‑when tests pass in production for the first live implementation</a:t>
                      </a:r>
                      <a:endParaRPr lang="en-US" sz="1166" dirty="0">
                        <a:latin typeface="IBM Plex Sans" charset="0"/>
                        <a:ea typeface="IBM Plex Sans" charset="0"/>
                        <a:cs typeface="IBM Plex Sans" charset="0"/>
                      </a:endParaRPr>
                    </a:p>
                  </a:txBody>
                  <a:tcPr marL="88900" marR="88900" marT="88900" marB="8890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r>
            </a:tbl>
          </a:graphicData>
        </a:graphic>
      </p:graphicFrame>
      <p:sp>
        <p:nvSpPr>
          <p:cNvPr id="8" name="Text 5"/>
          <p:cNvSpPr/>
          <p:nvPr/>
        </p:nvSpPr>
        <p:spPr>
          <a:xfrm>
            <a:off x="812800" y="5442645"/>
            <a:ext cx="11379200" cy="424755"/>
          </a:xfrm>
          <a:prstGeom prst="rect">
            <a:avLst/>
          </a:prstGeom>
          <a:noFill/>
          <a:ln/>
        </p:spPr>
        <p:txBody>
          <a:bodyPr wrap="square" lIns="0" tIns="0" rIns="0" bIns="0" rtlCol="0" anchor="t">
            <a:normAutofit/>
          </a:bodyPr>
          <a:lstStyle/>
          <a:p>
            <a:pPr algn="l" indent="0" marL="0">
              <a:lnSpc>
                <a:spcPts val="1633"/>
              </a:lnSpc>
              <a:buNone/>
            </a:pPr>
            <a:r>
              <a:rPr lang="en-US" sz="1166" dirty="0">
                <a:solidFill>
                  <a:srgbClr val="6A7179"/>
                </a:solidFill>
                <a:latin typeface="IBM Plex Sans" pitchFamily="34" charset="0"/>
                <a:ea typeface="IBM Plex Sans" pitchFamily="34" charset="-122"/>
                <a:cs typeface="IBM Plex Sans" pitchFamily="34" charset="-120"/>
              </a:rPr>
              <a:t>Month boundaries are indicative; gate dates are set at the definition gate. Quick wins may release earlier than the build gate on the change authority’s approval.</a:t>
            </a:r>
            <a:endParaRPr lang="en-US" sz="1166" dirty="0"/>
          </a:p>
        </p:txBody>
      </p:sp>
      <p:sp>
        <p:nvSpPr>
          <p:cNvPr id="9" name="Text 6"/>
          <p:cNvSpPr/>
          <p:nvPr/>
        </p:nvSpPr>
        <p:spPr>
          <a:xfrm>
            <a:off x="11189990" y="6242050"/>
            <a:ext cx="24001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A3</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41002"/>
          </a:xfrm>
          <a:prstGeom prst="rect">
            <a:avLst/>
          </a:prstGeom>
          <a:noFill/>
          <a:ln/>
        </p:spPr>
        <p:txBody>
          <a:bodyPr wrap="square" lIns="0" tIns="0" rIns="0" bIns="0" rtlCol="0" anchor="t">
            <a:normAutofit/>
          </a:bodyPr>
          <a:lstStyle/>
          <a:p>
            <a:pPr algn="l" indent="0" marL="0">
              <a:lnSpc>
                <a:spcPts val="1746"/>
              </a:lnSpc>
              <a:buNone/>
            </a:pPr>
            <a:r>
              <a:rPr lang="en-US" sz="1247" spc="100" kern="0" dirty="0">
                <a:solidFill>
                  <a:srgbClr val="C8702A"/>
                </a:solidFill>
                <a:latin typeface="IBM Plex Sans" pitchFamily="34" charset="0"/>
                <a:ea typeface="IBM Plex Sans" pitchFamily="34" charset="-122"/>
                <a:cs typeface="IBM Plex Sans" pitchFamily="34" charset="-120"/>
              </a:rPr>
              <a:t>APPENDIX D · EFFORT BY ELEMENT</a:t>
            </a:r>
            <a:endParaRPr lang="en-US" sz="1247" dirty="0"/>
          </a:p>
        </p:txBody>
      </p:sp>
      <p:sp>
        <p:nvSpPr>
          <p:cNvPr id="3" name="Text 1"/>
          <p:cNvSpPr/>
          <p:nvPr>
            <p:ph type="title"/>
          </p:nvPr>
        </p:nvSpPr>
        <p:spPr>
          <a:xfrm>
            <a:off x="812800" y="1231602"/>
            <a:ext cx="11379200" cy="682526"/>
          </a:xfrm>
          <a:prstGeom prst="rect">
            <a:avLst/>
          </a:prstGeom>
          <a:noFill/>
          <a:ln/>
        </p:spPr>
        <p:txBody>
          <a:bodyPr wrap="square" lIns="0" tIns="0" rIns="0" bIns="0" rtlCol="0" anchor="t">
            <a:normAutofit/>
          </a:bodyPr>
          <a:lstStyle/>
          <a:p>
            <a:pPr algn="l" indent="0" marL="0">
              <a:lnSpc>
                <a:spcPts val="3009"/>
              </a:lnSpc>
              <a:buNone/>
            </a:pPr>
            <a:r>
              <a:rPr lang="en-US" sz="2616" b="0" i="0" dirty="0">
                <a:solidFill>
                  <a:srgbClr val="1B2A41"/>
                </a:solidFill>
                <a:latin typeface="Source Serif 4" pitchFamily="18" charset="0"/>
                <a:ea typeface="Source Serif 4" pitchFamily="18" charset="-122"/>
                <a:cs typeface="Source Serif 4" pitchFamily="18" charset="-120"/>
              </a:rPr>
              <a:t>Rough‑order‑of‑magnitude estimates; refined at the definition gate.</a:t>
            </a:r>
            <a:endParaRPr lang="en-US" sz="2616" dirty="0"/>
          </a:p>
        </p:txBody>
      </p:sp>
      <p:sp>
        <p:nvSpPr>
          <p:cNvPr id="4" name="Shape 2"/>
          <p:cNvSpPr/>
          <p:nvPr/>
        </p:nvSpPr>
        <p:spPr>
          <a:xfrm>
            <a:off x="812800" y="2091928"/>
            <a:ext cx="10566400" cy="3208040"/>
          </a:xfrm>
          <a:prstGeom prst="rect">
            <a:avLst/>
          </a:prstGeom>
          <a:solidFill>
            <a:srgbClr val="FFFFFF"/>
          </a:solidFill>
          <a:ln/>
        </p:spPr>
      </p:sp>
      <p:sp>
        <p:nvSpPr>
          <p:cNvPr id="5" name="Shape 3"/>
          <p:cNvSpPr/>
          <p:nvPr/>
        </p:nvSpPr>
        <p:spPr>
          <a:xfrm>
            <a:off x="11376025" y="2091928"/>
            <a:ext cx="0" cy="3208040"/>
          </a:xfrm>
          <a:prstGeom prst="line">
            <a:avLst/>
          </a:prstGeom>
          <a:noFill/>
          <a:ln w="6350">
            <a:solidFill>
              <a:srgbClr val="DCD9D0"/>
            </a:solidFill>
            <a:prstDash val="solid"/>
          </a:ln>
        </p:spPr>
      </p:sp>
      <p:sp>
        <p:nvSpPr>
          <p:cNvPr id="6" name="Shape 4"/>
          <p:cNvSpPr/>
          <p:nvPr/>
        </p:nvSpPr>
        <p:spPr>
          <a:xfrm>
            <a:off x="812800" y="5296793"/>
            <a:ext cx="10566400" cy="0"/>
          </a:xfrm>
          <a:prstGeom prst="line">
            <a:avLst/>
          </a:prstGeom>
          <a:noFill/>
          <a:ln w="6350">
            <a:solidFill>
              <a:srgbClr val="DCD9D0"/>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2104628"/>
          <a:ext cx="10547350" cy="3188494"/>
        </p:xfrm>
        <a:graphic>
          <a:graphicData uri="http://schemas.openxmlformats.org/drawingml/2006/table">
            <a:tbl>
              <a:tblPr/>
              <a:tblGrid>
                <a:gridCol w="2003997"/>
                <a:gridCol w="4113466"/>
                <a:gridCol w="3164205"/>
                <a:gridCol w="1265682"/>
              </a:tblGrid>
              <a:tr h="360759">
                <a:tc>
                  <a:txBody>
                    <a:bodyPr/>
                    <a:lstStyle/>
                    <a:p>
                      <a:pPr indent="0" marL="0">
                        <a:lnSpc>
                          <a:spcPts val="1465"/>
                        </a:lnSpc>
                        <a:buNone/>
                      </a:pPr>
                      <a:r>
                        <a:rPr lang="en-US" sz="1046" b="1" dirty="0">
                          <a:solidFill>
                            <a:srgbClr val="F7F6F2"/>
                          </a:solidFill>
                          <a:latin typeface="IBM Plex Sans" pitchFamily="34" charset="0"/>
                          <a:ea typeface="IBM Plex Sans" pitchFamily="34" charset="-122"/>
                          <a:cs typeface="IBM Plex Sans" pitchFamily="34" charset="-120"/>
                        </a:rPr>
                        <a:t>Element</a:t>
                      </a:r>
                      <a:endParaRPr lang="en-US" sz="1046" dirty="0">
                        <a:latin typeface="IBM Plex Sans" charset="0"/>
                        <a:ea typeface="IBM Plex Sans" charset="0"/>
                        <a:cs typeface="IBM Plex Sans" charset="0"/>
                      </a:endParaRPr>
                    </a:p>
                  </a:txBody>
                  <a:tcPr marL="88900" marR="88900" marT="76200" marB="76200" anchor="t">
                    <a:lnL w="12700" cap="flat" cmpd="sng" algn="ctr">
                      <a:solidFill>
                        <a:srgbClr val="CBCBCB"/>
                      </a:solidFill>
                      <a:prstDash val="solid"/>
                      <a:round/>
                      <a:headEnd type="none" w="med" len="med"/>
                      <a:tailEnd type="none" w="med" len="med"/>
                    </a:lnL>
                    <a:lnR w="12700" cap="flat" cmpd="sng" algn="ctr">
                      <a:solidFill>
                        <a:srgbClr val="19253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92537"/>
                      </a:solidFill>
                      <a:prstDash val="solid"/>
                      <a:round/>
                      <a:headEnd type="none" w="med" len="med"/>
                      <a:tailEnd type="none" w="med" len="med"/>
                    </a:lnB>
                    <a:solidFill>
                      <a:srgbClr val="1B2A41"/>
                    </a:solidFill>
                  </a:tcPr>
                </a:tc>
                <a:tc>
                  <a:txBody>
                    <a:bodyPr/>
                    <a:lstStyle/>
                    <a:p>
                      <a:pPr indent="0" marL="0">
                        <a:lnSpc>
                          <a:spcPts val="1465"/>
                        </a:lnSpc>
                        <a:buNone/>
                      </a:pPr>
                      <a:r>
                        <a:rPr lang="en-US" sz="1046" b="1" dirty="0">
                          <a:solidFill>
                            <a:srgbClr val="F7F6F2"/>
                          </a:solidFill>
                          <a:latin typeface="IBM Plex Sans" pitchFamily="34" charset="0"/>
                          <a:ea typeface="IBM Plex Sans" pitchFamily="34" charset="-122"/>
                          <a:cs typeface="IBM Plex Sans" pitchFamily="34" charset="-120"/>
                        </a:rPr>
                        <a:t>What has to be built or changed</a:t>
                      </a:r>
                      <a:endParaRPr lang="en-US" sz="1046" dirty="0">
                        <a:latin typeface="IBM Plex Sans" charset="0"/>
                        <a:ea typeface="IBM Plex Sans" charset="0"/>
                        <a:cs typeface="IBM Plex Sans" charset="0"/>
                      </a:endParaRPr>
                    </a:p>
                  </a:txBody>
                  <a:tcPr marL="88900" marR="88900" marT="76200" marB="76200" anchor="t">
                    <a:lnL w="12700" cap="flat" cmpd="sng" algn="ctr">
                      <a:solidFill>
                        <a:srgbClr val="192537"/>
                      </a:solidFill>
                      <a:prstDash val="solid"/>
                      <a:round/>
                      <a:headEnd type="none" w="med" len="med"/>
                      <a:tailEnd type="none" w="med" len="med"/>
                    </a:lnL>
                    <a:lnR w="12700" cap="flat" cmpd="sng" algn="ctr">
                      <a:solidFill>
                        <a:srgbClr val="19253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92537"/>
                      </a:solidFill>
                      <a:prstDash val="solid"/>
                      <a:round/>
                      <a:headEnd type="none" w="med" len="med"/>
                      <a:tailEnd type="none" w="med" len="med"/>
                    </a:lnB>
                    <a:solidFill>
                      <a:srgbClr val="1B2A41"/>
                    </a:solidFill>
                  </a:tcPr>
                </a:tc>
                <a:tc>
                  <a:txBody>
                    <a:bodyPr/>
                    <a:lstStyle/>
                    <a:p>
                      <a:pPr indent="0" marL="0">
                        <a:lnSpc>
                          <a:spcPts val="1465"/>
                        </a:lnSpc>
                        <a:buNone/>
                      </a:pPr>
                      <a:r>
                        <a:rPr lang="en-US" sz="1046" b="1" dirty="0">
                          <a:solidFill>
                            <a:srgbClr val="F7F6F2"/>
                          </a:solidFill>
                          <a:latin typeface="IBM Plex Sans" pitchFamily="34" charset="0"/>
                          <a:ea typeface="IBM Plex Sans" pitchFamily="34" charset="-122"/>
                          <a:cs typeface="IBM Plex Sans" pitchFamily="34" charset="-120"/>
                        </a:rPr>
                        <a:t>What makes it this size</a:t>
                      </a:r>
                      <a:endParaRPr lang="en-US" sz="1046" dirty="0">
                        <a:latin typeface="IBM Plex Sans" charset="0"/>
                        <a:ea typeface="IBM Plex Sans" charset="0"/>
                        <a:cs typeface="IBM Plex Sans" charset="0"/>
                      </a:endParaRPr>
                    </a:p>
                  </a:txBody>
                  <a:tcPr marL="88900" marR="88900" marT="76200" marB="76200" anchor="t">
                    <a:lnL w="12700" cap="flat" cmpd="sng" algn="ctr">
                      <a:solidFill>
                        <a:srgbClr val="192537"/>
                      </a:solidFill>
                      <a:prstDash val="solid"/>
                      <a:round/>
                      <a:headEnd type="none" w="med" len="med"/>
                      <a:tailEnd type="none" w="med" len="med"/>
                    </a:lnL>
                    <a:lnR w="12700" cap="flat" cmpd="sng" algn="ctr">
                      <a:solidFill>
                        <a:srgbClr val="19253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92537"/>
                      </a:solidFill>
                      <a:prstDash val="solid"/>
                      <a:round/>
                      <a:headEnd type="none" w="med" len="med"/>
                      <a:tailEnd type="none" w="med" len="med"/>
                    </a:lnB>
                    <a:solidFill>
                      <a:srgbClr val="1B2A41"/>
                    </a:solidFill>
                  </a:tcPr>
                </a:tc>
                <a:tc>
                  <a:txBody>
                    <a:bodyPr/>
                    <a:lstStyle/>
                    <a:p>
                      <a:pPr indent="0" marL="0">
                        <a:lnSpc>
                          <a:spcPts val="1465"/>
                        </a:lnSpc>
                        <a:buNone/>
                      </a:pPr>
                      <a:r>
                        <a:rPr lang="en-US" sz="1046" b="1" dirty="0">
                          <a:solidFill>
                            <a:srgbClr val="F7F6F2"/>
                          </a:solidFill>
                          <a:latin typeface="IBM Plex Sans" pitchFamily="34" charset="0"/>
                          <a:ea typeface="IBM Plex Sans" pitchFamily="34" charset="-122"/>
                          <a:cs typeface="IBM Plex Sans" pitchFamily="34" charset="-120"/>
                        </a:rPr>
                        <a:t>ROM</a:t>
                      </a:r>
                      <a:endParaRPr lang="en-US" sz="1046" dirty="0">
                        <a:latin typeface="IBM Plex Sans" charset="0"/>
                        <a:ea typeface="IBM Plex Sans" charset="0"/>
                        <a:cs typeface="IBM Plex Sans" charset="0"/>
                      </a:endParaRPr>
                    </a:p>
                  </a:txBody>
                  <a:tcPr marL="88900" marR="88900" marT="76200" marB="76200" anchor="t">
                    <a:lnL w="12700" cap="flat" cmpd="sng" algn="ctr">
                      <a:solidFill>
                        <a:srgbClr val="192537"/>
                      </a:solidFill>
                      <a:prstDash val="solid"/>
                      <a:round/>
                      <a:headEnd type="none" w="med" len="med"/>
                      <a:tailEnd type="none" w="med" len="med"/>
                    </a:lnL>
                    <a:lnR w="12700" cap="flat" cmpd="sng" algn="ctr">
                      <a:solidFill>
                        <a:srgbClr val="19253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92537"/>
                      </a:solidFill>
                      <a:prstDash val="solid"/>
                      <a:round/>
                      <a:headEnd type="none" w="med" len="med"/>
                      <a:tailEnd type="none" w="med" len="med"/>
                    </a:lnB>
                    <a:solidFill>
                      <a:srgbClr val="1B2A41"/>
                    </a:solidFill>
                  </a:tcPr>
                </a:tc>
              </a:tr>
              <a:tr h="873919">
                <a:tc>
                  <a:txBody>
                    <a:bodyPr/>
                    <a:lstStyle/>
                    <a:p>
                      <a:pPr indent="0" marL="0">
                        <a:lnSpc>
                          <a:spcPts val="1465"/>
                        </a:lnSpc>
                        <a:buNone/>
                      </a:pPr>
                      <a:r>
                        <a:rPr lang="en-US" sz="1046" dirty="0">
                          <a:solidFill>
                            <a:srgbClr val="1B2A41"/>
                          </a:solidFill>
                          <a:latin typeface="IBM Plex Sans" pitchFamily="34" charset="0"/>
                          <a:ea typeface="IBM Plex Sans" pitchFamily="34" charset="-122"/>
                          <a:cs typeface="IBM Plex Sans" pitchFamily="34" charset="-120"/>
                        </a:rPr>
                        <a:t>R05 Template modifications · L</a:t>
                      </a:r>
                      <a:endParaRPr lang="en-US" sz="1046" dirty="0">
                        <a:latin typeface="IBM Plex Sans" charset="0"/>
                        <a:ea typeface="IBM Plex Sans" charset="0"/>
                        <a:cs typeface="IBM Plex Sans" charset="0"/>
                      </a:endParaRPr>
                    </a:p>
                  </a:txBody>
                  <a:tcPr marL="88900" marR="889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9253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465"/>
                        </a:lnSpc>
                        <a:buNone/>
                      </a:pPr>
                      <a:r>
                        <a:rPr lang="en-US" sz="1046" dirty="0">
                          <a:solidFill>
                            <a:srgbClr val="4A5568"/>
                          </a:solidFill>
                          <a:latin typeface="IBM Plex Sans" pitchFamily="34" charset="0"/>
                          <a:ea typeface="IBM Plex Sans" pitchFamily="34" charset="-122"/>
                          <a:cs typeface="IBM Plex Sans" pitchFamily="34" charset="-120"/>
                        </a:rPr>
                        <a:t>A task record that carries versions and ownership, so every process that reads “the supplier’s task” reads “one of the supplier’s tasks”; then notification, reassignment on the new version, and a view of what changed</a:t>
                      </a:r>
                      <a:endParaRPr lang="en-US" sz="1046" dirty="0">
                        <a:latin typeface="IBM Plex Sans" charset="0"/>
                        <a:ea typeface="IBM Plex Sans" charset="0"/>
                        <a:cs typeface="IBM Plex Sans" charset="0"/>
                      </a:endParaRPr>
                    </a:p>
                  </a:txBody>
                  <a:tcPr marL="88900" marR="889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9253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465"/>
                        </a:lnSpc>
                        <a:buNone/>
                      </a:pPr>
                      <a:r>
                        <a:rPr lang="en-US" sz="1046" dirty="0">
                          <a:solidFill>
                            <a:srgbClr val="4A5568"/>
                          </a:solidFill>
                          <a:latin typeface="IBM Plex Sans" pitchFamily="34" charset="0"/>
                          <a:ea typeface="IBM Plex Sans" pitchFamily="34" charset="-122"/>
                          <a:cs typeface="IBM Plex Sans" pitchFamily="34" charset="-120"/>
                        </a:rPr>
                        <a:t>Changes the estate rather than adding to it; [__] processes touched. R03 and R11 reuse this, which keeps them small</a:t>
                      </a:r>
                      <a:endParaRPr lang="en-US" sz="1046" dirty="0">
                        <a:latin typeface="IBM Plex Sans" charset="0"/>
                        <a:ea typeface="IBM Plex Sans" charset="0"/>
                        <a:cs typeface="IBM Plex Sans" charset="0"/>
                      </a:endParaRPr>
                    </a:p>
                  </a:txBody>
                  <a:tcPr marL="88900" marR="889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9253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465"/>
                        </a:lnSpc>
                        <a:buNone/>
                      </a:pPr>
                      <a:r>
                        <a:rPr lang="en-US" sz="1046" dirty="0">
                          <a:solidFill>
                            <a:srgbClr val="1B2A41"/>
                          </a:solidFill>
                          <a:latin typeface="IBM Plex Sans" pitchFamily="34" charset="0"/>
                          <a:ea typeface="IBM Plex Sans" pitchFamily="34" charset="-122"/>
                          <a:cs typeface="IBM Plex Sans" pitchFamily="34" charset="-120"/>
                        </a:rPr>
                        <a:t>[__–__] wks</a:t>
                      </a:r>
                      <a:endParaRPr lang="en-US" sz="1046" dirty="0">
                        <a:latin typeface="IBM Plex Sans" charset="0"/>
                        <a:ea typeface="IBM Plex Sans" charset="0"/>
                        <a:cs typeface="IBM Plex Sans" charset="0"/>
                      </a:endParaRPr>
                    </a:p>
                  </a:txBody>
                  <a:tcPr marL="88900" marR="889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9253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31019">
                <a:tc>
                  <a:txBody>
                    <a:bodyPr/>
                    <a:lstStyle/>
                    <a:p>
                      <a:pPr indent="0" marL="0">
                        <a:lnSpc>
                          <a:spcPts val="1465"/>
                        </a:lnSpc>
                        <a:buNone/>
                      </a:pPr>
                      <a:r>
                        <a:rPr lang="en-US" sz="1046" dirty="0">
                          <a:solidFill>
                            <a:srgbClr val="1B2A41"/>
                          </a:solidFill>
                          <a:latin typeface="IBM Plex Sans" pitchFamily="34" charset="0"/>
                          <a:ea typeface="IBM Plex Sans" pitchFamily="34" charset="-122"/>
                          <a:cs typeface="IBM Plex Sans" pitchFamily="34" charset="-120"/>
                        </a:rPr>
                        <a:t>R06 Configuration web app · L</a:t>
                      </a:r>
                      <a:endParaRPr lang="en-US" sz="1046" dirty="0">
                        <a:latin typeface="IBM Plex Sans" charset="0"/>
                        <a:ea typeface="IBM Plex Sans" charset="0"/>
                        <a:cs typeface="IBM Plex Sans" charset="0"/>
                      </a:endParaRPr>
                    </a:p>
                  </a:txBody>
                  <a:tcPr marL="88900" marR="88900" marT="76200" marB="76200" anchor="t">
                    <a:lnL w="12700" cap="flat" cmpd="sng" algn="ctr">
                      <a:solidFill>
                        <a:srgbClr val="CBCBCB"/>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465"/>
                        </a:lnSpc>
                        <a:buNone/>
                      </a:pPr>
                      <a:r>
                        <a:rPr lang="en-US" sz="1046" dirty="0">
                          <a:solidFill>
                            <a:srgbClr val="4A5568"/>
                          </a:solidFill>
                          <a:latin typeface="IBM Plex Sans" pitchFamily="34" charset="0"/>
                          <a:ea typeface="IBM Plex Sans" pitchFamily="34" charset="-122"/>
                          <a:cs typeface="IBM Plex Sans" pitchFamily="34" charset="-120"/>
                        </a:rPr>
                        <a:t>One analyst page per configuration step that leaves the workbook; the same checks the workbook applies today</a:t>
                      </a:r>
                      <a:endParaRPr lang="en-US" sz="1046" dirty="0">
                        <a:latin typeface="IBM Plex Sans" charset="0"/>
                        <a:ea typeface="IBM Plex Sans" charset="0"/>
                        <a:cs typeface="IBM Plex Sans" charset="0"/>
                      </a:endParaRPr>
                    </a:p>
                  </a:txBody>
                  <a:tcPr marL="88900" marR="88900" marT="76200" marB="7620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465"/>
                        </a:lnSpc>
                        <a:buNone/>
                      </a:pPr>
                      <a:r>
                        <a:rPr lang="en-US" sz="1046" dirty="0">
                          <a:solidFill>
                            <a:srgbClr val="4A5568"/>
                          </a:solidFill>
                          <a:latin typeface="IBM Plex Sans" pitchFamily="34" charset="0"/>
                          <a:ea typeface="IBM Plex Sans" pitchFamily="34" charset="-122"/>
                          <a:cs typeface="IBM Plex Sans" pitchFamily="34" charset="-120"/>
                        </a:rPr>
                        <a:t>The workbook’s rules exist only as spreadsheet logic and must be rewritten; range depends on D3</a:t>
                      </a:r>
                      <a:endParaRPr lang="en-US" sz="1046" dirty="0">
                        <a:latin typeface="IBM Plex Sans" charset="0"/>
                        <a:ea typeface="IBM Plex Sans" charset="0"/>
                        <a:cs typeface="IBM Plex Sans" charset="0"/>
                      </a:endParaRPr>
                    </a:p>
                  </a:txBody>
                  <a:tcPr marL="88900" marR="88900" marT="76200" marB="7620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465"/>
                        </a:lnSpc>
                        <a:buNone/>
                      </a:pPr>
                      <a:r>
                        <a:rPr lang="en-US" sz="1046" dirty="0">
                          <a:solidFill>
                            <a:srgbClr val="1B2A41"/>
                          </a:solidFill>
                          <a:latin typeface="IBM Plex Sans" pitchFamily="34" charset="0"/>
                          <a:ea typeface="IBM Plex Sans" pitchFamily="34" charset="-122"/>
                          <a:cs typeface="IBM Plex Sans" pitchFamily="34" charset="-120"/>
                        </a:rPr>
                        <a:t>[__–__] wks</a:t>
                      </a:r>
                      <a:endParaRPr lang="en-US" sz="1046" dirty="0">
                        <a:latin typeface="IBM Plex Sans" charset="0"/>
                        <a:ea typeface="IBM Plex Sans" charset="0"/>
                        <a:cs typeface="IBM Plex Sans" charset="0"/>
                      </a:endParaRPr>
                    </a:p>
                  </a:txBody>
                  <a:tcPr marL="88900" marR="88900" marT="76200" marB="7620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r>
              <a:tr h="531019">
                <a:tc>
                  <a:txBody>
                    <a:bodyPr/>
                    <a:lstStyle/>
                    <a:p>
                      <a:pPr indent="0" marL="0">
                        <a:lnSpc>
                          <a:spcPts val="1465"/>
                        </a:lnSpc>
                        <a:buNone/>
                      </a:pPr>
                      <a:r>
                        <a:rPr lang="en-US" sz="1046" dirty="0">
                          <a:solidFill>
                            <a:srgbClr val="1B2A41"/>
                          </a:solidFill>
                          <a:latin typeface="IBM Plex Sans" pitchFamily="34" charset="0"/>
                          <a:ea typeface="IBM Plex Sans" pitchFamily="34" charset="-122"/>
                          <a:cs typeface="IBM Plex Sans" pitchFamily="34" charset="-120"/>
                        </a:rPr>
                        <a:t>R03 In‑flight changes · M</a:t>
                      </a:r>
                      <a:endParaRPr lang="en-US" sz="1046" dirty="0">
                        <a:latin typeface="IBM Plex Sans" charset="0"/>
                        <a:ea typeface="IBM Plex Sans" charset="0"/>
                        <a:cs typeface="IBM Plex Sans" charset="0"/>
                      </a:endParaRPr>
                    </a:p>
                  </a:txBody>
                  <a:tcPr marL="88900" marR="889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465"/>
                        </a:lnSpc>
                        <a:buNone/>
                      </a:pPr>
                      <a:r>
                        <a:rPr lang="en-US" sz="1046" dirty="0">
                          <a:solidFill>
                            <a:srgbClr val="4A5568"/>
                          </a:solidFill>
                          <a:latin typeface="IBM Plex Sans" pitchFamily="34" charset="0"/>
                          <a:ea typeface="IBM Plex Sans" pitchFamily="34" charset="-122"/>
                          <a:cs typeface="IBM Plex Sans" pitchFamily="34" charset="-120"/>
                        </a:rPr>
                        <a:t>A supplier‑side “request an edit” action, an edit history, and an analyst notification</a:t>
                      </a:r>
                      <a:endParaRPr lang="en-US" sz="1046" dirty="0">
                        <a:latin typeface="IBM Plex Sans" charset="0"/>
                        <a:ea typeface="IBM Plex Sans" charset="0"/>
                        <a:cs typeface="IBM Plex Sans" charset="0"/>
                      </a:endParaRPr>
                    </a:p>
                  </a:txBody>
                  <a:tcPr marL="88900" marR="889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465"/>
                        </a:lnSpc>
                        <a:buNone/>
                      </a:pPr>
                      <a:r>
                        <a:rPr lang="en-US" sz="1046" dirty="0">
                          <a:solidFill>
                            <a:srgbClr val="4A5568"/>
                          </a:solidFill>
                          <a:latin typeface="IBM Plex Sans" pitchFamily="34" charset="0"/>
                          <a:ea typeface="IBM Plex Sans" pitchFamily="34" charset="-122"/>
                          <a:cs typeface="IBM Plex Sans" pitchFamily="34" charset="-120"/>
                        </a:rPr>
                        <a:t>Rides on R05’s task model; grows if edits are allowed after approval (D2)</a:t>
                      </a:r>
                      <a:endParaRPr lang="en-US" sz="1046" dirty="0">
                        <a:latin typeface="IBM Plex Sans" charset="0"/>
                        <a:ea typeface="IBM Plex Sans" charset="0"/>
                        <a:cs typeface="IBM Plex Sans" charset="0"/>
                      </a:endParaRPr>
                    </a:p>
                  </a:txBody>
                  <a:tcPr marL="88900" marR="889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465"/>
                        </a:lnSpc>
                        <a:buNone/>
                      </a:pPr>
                      <a:r>
                        <a:rPr lang="en-US" sz="1046" dirty="0">
                          <a:solidFill>
                            <a:srgbClr val="1B2A41"/>
                          </a:solidFill>
                          <a:latin typeface="IBM Plex Sans" pitchFamily="34" charset="0"/>
                          <a:ea typeface="IBM Plex Sans" pitchFamily="34" charset="-122"/>
                          <a:cs typeface="IBM Plex Sans" pitchFamily="34" charset="-120"/>
                        </a:rPr>
                        <a:t>[__–__] wks</a:t>
                      </a:r>
                      <a:endParaRPr lang="en-US" sz="1046" dirty="0">
                        <a:latin typeface="IBM Plex Sans" charset="0"/>
                        <a:ea typeface="IBM Plex Sans" charset="0"/>
                        <a:cs typeface="IBM Plex Sans" charset="0"/>
                      </a:endParaRPr>
                    </a:p>
                  </a:txBody>
                  <a:tcPr marL="88900" marR="889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31019">
                <a:tc>
                  <a:txBody>
                    <a:bodyPr/>
                    <a:lstStyle/>
                    <a:p>
                      <a:pPr indent="0" marL="0">
                        <a:lnSpc>
                          <a:spcPts val="1465"/>
                        </a:lnSpc>
                        <a:buNone/>
                      </a:pPr>
                      <a:r>
                        <a:rPr lang="en-US" sz="1046" dirty="0">
                          <a:solidFill>
                            <a:srgbClr val="1B2A41"/>
                          </a:solidFill>
                          <a:latin typeface="IBM Plex Sans" pitchFamily="34" charset="0"/>
                          <a:ea typeface="IBM Plex Sans" pitchFamily="34" charset="-122"/>
                          <a:cs typeface="IBM Plex Sans" pitchFamily="34" charset="-120"/>
                        </a:rPr>
                        <a:t>R02 Rate calculator · M</a:t>
                      </a:r>
                      <a:endParaRPr lang="en-US" sz="1046" dirty="0">
                        <a:latin typeface="IBM Plex Sans" charset="0"/>
                        <a:ea typeface="IBM Plex Sans" charset="0"/>
                        <a:cs typeface="IBM Plex Sans" charset="0"/>
                      </a:endParaRPr>
                    </a:p>
                  </a:txBody>
                  <a:tcPr marL="88900" marR="88900" marT="76200" marB="76200" anchor="t">
                    <a:lnL w="12700" cap="flat" cmpd="sng" algn="ctr">
                      <a:solidFill>
                        <a:srgbClr val="CBCBCB"/>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465"/>
                        </a:lnSpc>
                        <a:buNone/>
                      </a:pPr>
                      <a:r>
                        <a:rPr lang="en-US" sz="1046" dirty="0">
                          <a:solidFill>
                            <a:srgbClr val="4A5568"/>
                          </a:solidFill>
                          <a:latin typeface="IBM Plex Sans" pitchFamily="34" charset="0"/>
                          <a:ea typeface="IBM Plex Sans" pitchFamily="34" charset="-122"/>
                          <a:cs typeface="IBM Plex Sans" pitchFamily="34" charset="-120"/>
                        </a:rPr>
                        <a:t>A calculator in the supplier form, and the rate rules captured as configuration</a:t>
                      </a:r>
                      <a:endParaRPr lang="en-US" sz="1046" dirty="0">
                        <a:latin typeface="IBM Plex Sans" charset="0"/>
                        <a:ea typeface="IBM Plex Sans" charset="0"/>
                        <a:cs typeface="IBM Plex Sans" charset="0"/>
                      </a:endParaRPr>
                    </a:p>
                  </a:txBody>
                  <a:tcPr marL="88900" marR="88900" marT="76200" marB="7620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465"/>
                        </a:lnSpc>
                        <a:buNone/>
                      </a:pPr>
                      <a:r>
                        <a:rPr lang="en-US" sz="1046" dirty="0">
                          <a:solidFill>
                            <a:srgbClr val="4A5568"/>
                          </a:solidFill>
                          <a:latin typeface="IBM Plex Sans" pitchFamily="34" charset="0"/>
                          <a:ea typeface="IBM Plex Sans" pitchFamily="34" charset="-122"/>
                          <a:cs typeface="IBM Plex Sans" pitchFamily="34" charset="-120"/>
                        </a:rPr>
                        <a:t>The build is small; capturing the rules is definition‑stage work and not sized until then</a:t>
                      </a:r>
                      <a:endParaRPr lang="en-US" sz="1046" dirty="0">
                        <a:latin typeface="IBM Plex Sans" charset="0"/>
                        <a:ea typeface="IBM Plex Sans" charset="0"/>
                        <a:cs typeface="IBM Plex Sans" charset="0"/>
                      </a:endParaRPr>
                    </a:p>
                  </a:txBody>
                  <a:tcPr marL="88900" marR="88900" marT="76200" marB="7620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465"/>
                        </a:lnSpc>
                        <a:buNone/>
                      </a:pPr>
                      <a:r>
                        <a:rPr lang="en-US" sz="1046" dirty="0">
                          <a:solidFill>
                            <a:srgbClr val="1B2A41"/>
                          </a:solidFill>
                          <a:latin typeface="IBM Plex Sans" pitchFamily="34" charset="0"/>
                          <a:ea typeface="IBM Plex Sans" pitchFamily="34" charset="-122"/>
                          <a:cs typeface="IBM Plex Sans" pitchFamily="34" charset="-120"/>
                        </a:rPr>
                        <a:t>[__–__] wks</a:t>
                      </a:r>
                      <a:endParaRPr lang="en-US" sz="1046" dirty="0">
                        <a:latin typeface="IBM Plex Sans" charset="0"/>
                        <a:ea typeface="IBM Plex Sans" charset="0"/>
                        <a:cs typeface="IBM Plex Sans" charset="0"/>
                      </a:endParaRPr>
                    </a:p>
                  </a:txBody>
                  <a:tcPr marL="88900" marR="88900" marT="76200" marB="7620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r>
              <a:tr h="360759">
                <a:tc>
                  <a:txBody>
                    <a:bodyPr/>
                    <a:lstStyle/>
                    <a:p>
                      <a:pPr indent="0" marL="0">
                        <a:lnSpc>
                          <a:spcPts val="1465"/>
                        </a:lnSpc>
                        <a:buNone/>
                      </a:pPr>
                      <a:r>
                        <a:rPr lang="en-US" sz="1046" dirty="0">
                          <a:solidFill>
                            <a:srgbClr val="1B2A41"/>
                          </a:solidFill>
                          <a:latin typeface="IBM Plex Sans" pitchFamily="34" charset="0"/>
                          <a:ea typeface="IBM Plex Sans" pitchFamily="34" charset="-122"/>
                          <a:cs typeface="IBM Plex Sans" pitchFamily="34" charset="-120"/>
                        </a:rPr>
                        <a:t>R11 SOW support · not sized</a:t>
                      </a:r>
                      <a:endParaRPr lang="en-US" sz="1046" dirty="0">
                        <a:latin typeface="IBM Plex Sans" charset="0"/>
                        <a:ea typeface="IBM Plex Sans" charset="0"/>
                        <a:cs typeface="IBM Plex Sans" charset="0"/>
                      </a:endParaRPr>
                    </a:p>
                  </a:txBody>
                  <a:tcPr marL="88900" marR="889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465"/>
                        </a:lnSpc>
                        <a:buNone/>
                      </a:pPr>
                      <a:r>
                        <a:rPr lang="en-US" sz="1046" dirty="0">
                          <a:solidFill>
                            <a:srgbClr val="4A5568"/>
                          </a:solidFill>
                          <a:latin typeface="IBM Plex Sans" pitchFamily="34" charset="0"/>
                          <a:ea typeface="IBM Plex Sans" pitchFamily="34" charset="-122"/>
                          <a:cs typeface="IBM Plex Sans" pitchFamily="34" charset="-120"/>
                        </a:rPr>
                        <a:t>Subject to definition</a:t>
                      </a:r>
                      <a:endParaRPr lang="en-US" sz="1046" dirty="0">
                        <a:latin typeface="IBM Plex Sans" charset="0"/>
                        <a:ea typeface="IBM Plex Sans" charset="0"/>
                        <a:cs typeface="IBM Plex Sans" charset="0"/>
                      </a:endParaRPr>
                    </a:p>
                  </a:txBody>
                  <a:tcPr marL="88900" marR="889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465"/>
                        </a:lnSpc>
                        <a:buNone/>
                      </a:pPr>
                      <a:r>
                        <a:rPr lang="en-US" sz="1046" dirty="0">
                          <a:solidFill>
                            <a:srgbClr val="4A5568"/>
                          </a:solidFill>
                          <a:latin typeface="IBM Plex Sans" pitchFamily="34" charset="0"/>
                          <a:ea typeface="IBM Plex Sans" pitchFamily="34" charset="-122"/>
                          <a:cs typeface="IBM Plex Sans" pitchFamily="34" charset="-120"/>
                        </a:rPr>
                        <a:t>Estimate is a deliverable of the definition gate</a:t>
                      </a:r>
                      <a:endParaRPr lang="en-US" sz="1046" dirty="0">
                        <a:latin typeface="IBM Plex Sans" charset="0"/>
                        <a:ea typeface="IBM Plex Sans" charset="0"/>
                        <a:cs typeface="IBM Plex Sans" charset="0"/>
                      </a:endParaRPr>
                    </a:p>
                  </a:txBody>
                  <a:tcPr marL="88900" marR="889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465"/>
                        </a:lnSpc>
                        <a:buNone/>
                      </a:pPr>
                      <a:r>
                        <a:rPr lang="en-US" sz="1046" dirty="0">
                          <a:solidFill>
                            <a:srgbClr val="1B2A41"/>
                          </a:solidFill>
                          <a:latin typeface="IBM Plex Sans" pitchFamily="34" charset="0"/>
                          <a:ea typeface="IBM Plex Sans" pitchFamily="34" charset="-122"/>
                          <a:cs typeface="IBM Plex Sans" pitchFamily="34" charset="-120"/>
                        </a:rPr>
                        <a:t>—</a:t>
                      </a:r>
                      <a:endParaRPr lang="en-US" sz="1046" dirty="0">
                        <a:latin typeface="IBM Plex Sans" charset="0"/>
                        <a:ea typeface="IBM Plex Sans" charset="0"/>
                        <a:cs typeface="IBM Plex Sans" charset="0"/>
                      </a:endParaRPr>
                    </a:p>
                  </a:txBody>
                  <a:tcPr marL="88900" marR="889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8" name="Text 5"/>
          <p:cNvSpPr/>
          <p:nvPr/>
        </p:nvSpPr>
        <p:spPr>
          <a:xfrm>
            <a:off x="812800" y="5503168"/>
            <a:ext cx="11379200" cy="364232"/>
          </a:xfrm>
          <a:prstGeom prst="rect">
            <a:avLst/>
          </a:prstGeom>
          <a:noFill/>
          <a:ln/>
        </p:spPr>
        <p:txBody>
          <a:bodyPr wrap="square" lIns="0" tIns="0" rIns="0" bIns="0" rtlCol="0" anchor="t">
            <a:normAutofit/>
          </a:bodyPr>
          <a:lstStyle/>
          <a:p>
            <a:pPr algn="l" indent="0" marL="0">
              <a:lnSpc>
                <a:spcPts val="1633"/>
              </a:lnSpc>
              <a:buNone/>
            </a:pPr>
            <a:r>
              <a:rPr lang="en-US" sz="1166" b="1" dirty="0">
                <a:solidFill>
                  <a:srgbClr val="4A5568"/>
                </a:solidFill>
                <a:latin typeface="IBM Plex Sans" pitchFamily="34" charset="0"/>
                <a:ea typeface="IBM Plex Sans" pitchFamily="34" charset="-122"/>
                <a:cs typeface="IBM Plex Sans" pitchFamily="34" charset="-120"/>
              </a:rPr>
              <a:t>Quick wins · R04, R08, R09, R10:</a:t>
            </a:r>
            <a:r>
              <a:rPr lang="en-US" sz="1166" dirty="0">
                <a:solidFill>
                  <a:srgbClr val="4A5568"/>
                </a:solidFill>
                <a:latin typeface="IBM Plex Sans" pitchFamily="34" charset="0"/>
                <a:ea typeface="IBM Plex Sans" pitchFamily="34" charset="-122"/>
                <a:cs typeface="IBM Plex Sans" pitchFamily="34" charset="-120"/>
              </a:rPr>
              <a:t> one page or one step each, no dependency on the above · [__] weeks total. </a:t>
            </a:r>
            <a:r>
              <a:rPr lang="en-US" sz="1166" b="1" dirty="0">
                <a:solidFill>
                  <a:srgbClr val="4A5568"/>
                </a:solidFill>
                <a:latin typeface="IBM Plex Sans" pitchFamily="34" charset="0"/>
                <a:ea typeface="IBM Plex Sans" pitchFamily="34" charset="-122"/>
                <a:cs typeface="IBM Plex Sans" pitchFamily="34" charset="-120"/>
              </a:rPr>
              <a:t>R01</a:t>
            </a:r>
            <a:r>
              <a:rPr lang="en-US" sz="1166" dirty="0">
                <a:solidFill>
                  <a:srgbClr val="4A5568"/>
                </a:solidFill>
                <a:latin typeface="IBM Plex Sans" pitchFamily="34" charset="0"/>
                <a:ea typeface="IBM Plex Sans" pitchFamily="34" charset="-122"/>
                <a:cs typeface="IBM Plex Sans" pitchFamily="34" charset="-120"/>
              </a:rPr>
              <a:t> is one upload page unless D1 makes it more.</a:t>
            </a:r>
            <a:endParaRPr lang="en-US" sz="1166" dirty="0"/>
          </a:p>
        </p:txBody>
      </p:sp>
      <p:sp>
        <p:nvSpPr>
          <p:cNvPr id="9" name="Text 6"/>
          <p:cNvSpPr/>
          <p:nvPr/>
        </p:nvSpPr>
        <p:spPr>
          <a:xfrm>
            <a:off x="11189990" y="6242050"/>
            <a:ext cx="24001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A4</a:t>
            </a:r>
            <a:endParaRPr lang="en-US" sz="1200" dirty="0"/>
          </a:p>
        </p:txBody>
      </p:sp>
    </p:spTree>
  </p:cSld>
  <p:clrMapOvr>
    <a:masterClrMapping/>
  </p:clrMapOvr>
</p:sld>
</file>

<file path=ppt/theme/theme1.xml><?xml version="1.0" encoding="utf-8"?>
<a:theme xmlns:a="http://schemas.openxmlformats.org/drawingml/2006/main" name="SDC Phase 2 — Scope Baseline Gate">
  <a:themeElements>
    <a:clrScheme name="SDC Phase 2 — Scope Baseline Gate">
      <a:dk1>
        <a:srgbClr val="1B2A41"/>
      </a:dk1>
      <a:lt1>
        <a:srgbClr val="F7F6F2"/>
      </a:lt1>
      <a:dk2>
        <a:srgbClr val="525D6D"/>
      </a:dk2>
      <a:lt2>
        <a:srgbClr val="E1E2E0"/>
      </a:lt2>
      <a:accent1>
        <a:srgbClr val="C8702A"/>
      </a:accent1>
      <a:accent2>
        <a:srgbClr val="E39A5B"/>
      </a:accent2>
      <a:accent3>
        <a:srgbClr val="4A5568"/>
      </a:accent3>
      <a:accent4>
        <a:srgbClr val="6A7179"/>
      </a:accent4>
      <a:accent5>
        <a:srgbClr val="C9D1DC"/>
      </a:accent5>
      <a:accent6>
        <a:srgbClr val="9AA3AF"/>
      </a:accent6>
      <a:hlink>
        <a:srgbClr val="0563C1"/>
      </a:hlink>
      <a:folHlink>
        <a:srgbClr val="954F72"/>
      </a:folHlink>
    </a:clrScheme>
    <a:fontScheme name="SDC Phase 2 — Scope Baseline Gate">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SDC Phase 2 — Scope Baseline Gate</dc:title>
  <dc:subject/>
  <dc:creator/>
  <cp:lastModifiedBy/>
  <cp:revision>1</cp:revision>
  <dcterms:created xsi:type="dcterms:W3CDTF">2026-10-29T10:16:14Z</dcterms:created>
  <dcterms:modified xsi:type="dcterms:W3CDTF">2026-10-29T10:16:14Z</dcterms:modified>
</cp:coreProperties>
</file>